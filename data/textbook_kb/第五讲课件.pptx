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267" r:id="rId2"/>
    <p:sldId id="270" r:id="rId3"/>
    <p:sldId id="269" r:id="rId4"/>
    <p:sldId id="272" r:id="rId5"/>
    <p:sldId id="273" r:id="rId6"/>
    <p:sldId id="271" r:id="rId7"/>
    <p:sldId id="274" r:id="rId8"/>
    <p:sldId id="275" r:id="rId9"/>
    <p:sldId id="276" r:id="rId10"/>
    <p:sldId id="277" r:id="rId11"/>
    <p:sldId id="278" r:id="rId12"/>
    <p:sldId id="279" r:id="rId13"/>
    <p:sldId id="280" r:id="rId14"/>
    <p:sldId id="281" r:id="rId15"/>
    <p:sldId id="282" r:id="rId16"/>
    <p:sldId id="289" r:id="rId17"/>
    <p:sldId id="283" r:id="rId18"/>
    <p:sldId id="290" r:id="rId19"/>
    <p:sldId id="284" r:id="rId20"/>
    <p:sldId id="294" r:id="rId21"/>
    <p:sldId id="295" r:id="rId22"/>
    <p:sldId id="291" r:id="rId23"/>
    <p:sldId id="285" r:id="rId24"/>
    <p:sldId id="286" r:id="rId25"/>
    <p:sldId id="292" r:id="rId26"/>
    <p:sldId id="287" r:id="rId27"/>
    <p:sldId id="288" r:id="rId28"/>
    <p:sldId id="293"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33"/>
    <p:restoredTop sz="75393"/>
  </p:normalViewPr>
  <p:slideViewPr>
    <p:cSldViewPr snapToGrid="0" snapToObjects="1">
      <p:cViewPr>
        <p:scale>
          <a:sx n="70" d="100"/>
          <a:sy n="70" d="100"/>
        </p:scale>
        <p:origin x="2008" y="60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5035EB-A73F-8248-AE63-E4EF3387DA07}" type="datetimeFigureOut">
              <a:rPr kumimoji="1" lang="zh-TW" altLang="en-US" smtClean="0"/>
              <a:t>2026/7/2</a:t>
            </a:fld>
            <a:endParaRPr kumimoji="1"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F2D149-660E-DB4C-85B3-052C72DEFE4D}" type="slidenum">
              <a:rPr kumimoji="1" lang="zh-TW" altLang="en-US" smtClean="0"/>
              <a:t>‹#›</a:t>
            </a:fld>
            <a:endParaRPr kumimoji="1" lang="zh-TW" altLang="en-US"/>
          </a:p>
        </p:txBody>
      </p:sp>
    </p:spTree>
    <p:extLst>
      <p:ext uri="{BB962C8B-B14F-4D97-AF65-F5344CB8AC3E}">
        <p14:creationId xmlns:p14="http://schemas.microsoft.com/office/powerpoint/2010/main" val="3236747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dirty="0"/>
              <a:t>开录屏</a:t>
            </a:r>
            <a:endParaRPr lang="en-US" altLang="zh-CN" dirty="0"/>
          </a:p>
          <a:p>
            <a:endParaRPr lang="en-US" altLang="zh-CN" dirty="0"/>
          </a:p>
          <a:p>
            <a:r>
              <a:rPr lang="en-US" altLang="zh-CN" dirty="0"/>
              <a:t>1</a:t>
            </a:r>
            <a:r>
              <a:rPr lang="zh-CN" altLang="en-US" dirty="0"/>
              <a:t>、</a:t>
            </a:r>
            <a:r>
              <a:rPr lang="zh-TW" altLang="zh-TW" dirty="0"/>
              <a:t>看懂 PCB 设计流程</a:t>
            </a:r>
          </a:p>
          <a:p>
            <a:r>
              <a:rPr lang="en-US" altLang="zh-CN" dirty="0"/>
              <a:t>2</a:t>
            </a:r>
            <a:r>
              <a:rPr lang="zh-CN" altLang="en-US" dirty="0"/>
              <a:t>、</a:t>
            </a:r>
            <a:r>
              <a:rPr lang="zh-TW" altLang="zh-TW" dirty="0"/>
              <a:t>理解原理图、封装、网络、布线的关系</a:t>
            </a:r>
          </a:p>
          <a:p>
            <a:r>
              <a:rPr lang="en-US" altLang="zh-CN" dirty="0"/>
              <a:t>3</a:t>
            </a:r>
            <a:r>
              <a:rPr lang="zh-CN" altLang="en-US" dirty="0"/>
              <a:t>、</a:t>
            </a:r>
            <a:r>
              <a:rPr lang="zh-TW" altLang="zh-TW" dirty="0"/>
              <a:t>知道常见 PCB 规则为什么存在</a:t>
            </a:r>
          </a:p>
          <a:p>
            <a:r>
              <a:rPr lang="en-US" altLang="zh-CN" dirty="0"/>
              <a:t>4</a:t>
            </a:r>
            <a:r>
              <a:rPr lang="zh-CN" altLang="en-US" dirty="0"/>
              <a:t>、</a:t>
            </a:r>
            <a:r>
              <a:rPr lang="zh-TW" altLang="zh-TW" dirty="0"/>
              <a:t>能用 EDA 完成一个简单板子的基本流程</a:t>
            </a:r>
            <a:endParaRPr lang="en-US" altLang="zh-TW" dirty="0"/>
          </a:p>
          <a:p>
            <a:endParaRPr kumimoji="1" lang="zh-TW" altLang="en-US" dirty="0"/>
          </a:p>
        </p:txBody>
      </p:sp>
      <p:sp>
        <p:nvSpPr>
          <p:cNvPr id="4" name="投影片編號版面配置區 3"/>
          <p:cNvSpPr>
            <a:spLocks noGrp="1"/>
          </p:cNvSpPr>
          <p:nvPr>
            <p:ph type="sldNum" sz="quarter" idx="5"/>
          </p:nvPr>
        </p:nvSpPr>
        <p:spPr/>
        <p:txBody>
          <a:bodyPr/>
          <a:lstStyle/>
          <a:p>
            <a:fld id="{CBF2D149-660E-DB4C-85B3-052C72DEFE4D}" type="slidenum">
              <a:rPr kumimoji="1" lang="zh-TW" altLang="en-US" smtClean="0"/>
              <a:t>1</a:t>
            </a:fld>
            <a:endParaRPr kumimoji="1" lang="zh-TW" altLang="en-US"/>
          </a:p>
        </p:txBody>
      </p:sp>
    </p:spTree>
    <p:extLst>
      <p:ext uri="{BB962C8B-B14F-4D97-AF65-F5344CB8AC3E}">
        <p14:creationId xmlns:p14="http://schemas.microsoft.com/office/powerpoint/2010/main" val="3428868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a:p>
            <a:r>
              <a:rPr lang="zh-TW" altLang="zh-TW" dirty="0"/>
              <a:t>面包板适合验证</a:t>
            </a:r>
          </a:p>
          <a:p>
            <a:r>
              <a:rPr lang="zh-TW" altLang="zh-TW" dirty="0"/>
              <a:t>PCB 适合稳定、批量、可维护</a:t>
            </a:r>
          </a:p>
          <a:p>
            <a:r>
              <a:rPr lang="zh-TW" altLang="zh-TW" dirty="0"/>
              <a:t>PCB 本质是“把电路连接关系固化到板子上”</a:t>
            </a:r>
          </a:p>
          <a:p>
            <a:endParaRPr lang="zh-TW" altLang="zh-TW" dirty="0"/>
          </a:p>
          <a:p>
            <a:endParaRPr kumimoji="1" lang="zh-TW" altLang="en-US" dirty="0"/>
          </a:p>
        </p:txBody>
      </p:sp>
      <p:sp>
        <p:nvSpPr>
          <p:cNvPr id="4" name="投影片編號版面配置區 3"/>
          <p:cNvSpPr>
            <a:spLocks noGrp="1"/>
          </p:cNvSpPr>
          <p:nvPr>
            <p:ph type="sldNum" sz="quarter" idx="5"/>
          </p:nvPr>
        </p:nvSpPr>
        <p:spPr/>
        <p:txBody>
          <a:bodyPr/>
          <a:lstStyle/>
          <a:p>
            <a:fld id="{CBF2D149-660E-DB4C-85B3-052C72DEFE4D}" type="slidenum">
              <a:rPr kumimoji="1" lang="zh-TW" altLang="en-US" smtClean="0"/>
              <a:t>3</a:t>
            </a:fld>
            <a:endParaRPr kumimoji="1" lang="zh-TW" altLang="en-US"/>
          </a:p>
        </p:txBody>
      </p:sp>
    </p:spTree>
    <p:extLst>
      <p:ext uri="{BB962C8B-B14F-4D97-AF65-F5344CB8AC3E}">
        <p14:creationId xmlns:p14="http://schemas.microsoft.com/office/powerpoint/2010/main" val="830306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1E378-3050-5A64-3AC2-B8A9F7AEDC2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4A6BBD-EDC9-B684-E36F-759859A2629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9E9070D-B97F-C281-8266-9FFB1E3C99C9}"/>
              </a:ext>
            </a:extLst>
          </p:cNvPr>
          <p:cNvSpPr>
            <a:spLocks noGrp="1"/>
          </p:cNvSpPr>
          <p:nvPr>
            <p:ph type="body" idx="1"/>
          </p:nvPr>
        </p:nvSpPr>
        <p:spPr/>
        <p:txBody>
          <a:bodyPr/>
          <a:lstStyle/>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这张图展示的是多层 PCB 的典型结构，可以近似理解为 6 层板示意图。实际工程中的层数和叠层顺序会根据电源完整性、信号完整性、成本和制造工艺来设计，不一定完全按照图中这样排列。</a:t>
            </a:r>
          </a:p>
          <a:p>
            <a:endParaRPr lang="zh-TW" altLang="zh-TW" dirty="0"/>
          </a:p>
          <a:p>
            <a:r>
              <a:rPr lang="zh-TW" altLang="zh-TW" dirty="0"/>
              <a:t>基板</a:t>
            </a:r>
          </a:p>
          <a:p>
            <a:r>
              <a:rPr lang="zh-TW" altLang="zh-TW" dirty="0"/>
              <a:t>铜层</a:t>
            </a:r>
          </a:p>
          <a:p>
            <a:r>
              <a:rPr lang="zh-TW" altLang="zh-TW" dirty="0"/>
              <a:t>焊盘</a:t>
            </a:r>
          </a:p>
          <a:p>
            <a:r>
              <a:rPr lang="zh-TW" altLang="zh-TW" dirty="0"/>
              <a:t>过孔</a:t>
            </a:r>
          </a:p>
          <a:p>
            <a:r>
              <a:rPr lang="zh-TW" altLang="zh-TW" dirty="0"/>
              <a:t>阻焊层</a:t>
            </a:r>
          </a:p>
          <a:p>
            <a:r>
              <a:rPr lang="zh-TW" altLang="zh-TW" dirty="0"/>
              <a:t>丝印</a:t>
            </a:r>
          </a:p>
          <a:p>
            <a:r>
              <a:rPr lang="zh-TW" altLang="zh-TW" dirty="0"/>
              <a:t>元件封装</a:t>
            </a:r>
          </a:p>
          <a:p>
            <a:endParaRPr kumimoji="1" lang="zh-TW" altLang="en-US" dirty="0"/>
          </a:p>
        </p:txBody>
      </p:sp>
      <p:sp>
        <p:nvSpPr>
          <p:cNvPr id="4" name="投影片編號版面配置區 3">
            <a:extLst>
              <a:ext uri="{FF2B5EF4-FFF2-40B4-BE49-F238E27FC236}">
                <a16:creationId xmlns:a16="http://schemas.microsoft.com/office/drawing/2014/main" id="{4508269B-7B17-EF60-3C20-4D9B797B79C3}"/>
              </a:ext>
            </a:extLst>
          </p:cNvPr>
          <p:cNvSpPr>
            <a:spLocks noGrp="1"/>
          </p:cNvSpPr>
          <p:nvPr>
            <p:ph type="sldNum" sz="quarter" idx="5"/>
          </p:nvPr>
        </p:nvSpPr>
        <p:spPr/>
        <p:txBody>
          <a:bodyPr/>
          <a:lstStyle/>
          <a:p>
            <a:fld id="{CBF2D149-660E-DB4C-85B3-052C72DEFE4D}" type="slidenum">
              <a:rPr kumimoji="1" lang="zh-TW" altLang="en-US" smtClean="0"/>
              <a:t>4</a:t>
            </a:fld>
            <a:endParaRPr kumimoji="1" lang="zh-TW" altLang="en-US"/>
          </a:p>
        </p:txBody>
      </p:sp>
    </p:spTree>
    <p:extLst>
      <p:ext uri="{BB962C8B-B14F-4D97-AF65-F5344CB8AC3E}">
        <p14:creationId xmlns:p14="http://schemas.microsoft.com/office/powerpoint/2010/main" val="4077992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B2AE-6062-A960-4FBF-8E3B7990CC1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8E5430-0683-BA3A-3F9E-8FEE870016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56223B4-DD49-4C30-0546-34B430AB397D}"/>
              </a:ext>
            </a:extLst>
          </p:cNvPr>
          <p:cNvSpPr>
            <a:spLocks noGrp="1"/>
          </p:cNvSpPr>
          <p:nvPr>
            <p:ph type="body" idx="1"/>
          </p:nvPr>
        </p:nvSpPr>
        <p:spPr/>
        <p:txBody>
          <a:bodyPr/>
          <a:lstStyle/>
          <a:p>
            <a:endParaRPr lang="zh-TW" altLang="zh-TW" dirty="0"/>
          </a:p>
          <a:p>
            <a:r>
              <a:rPr lang="zh-TW" altLang="zh-TW" b="1" dirty="0"/>
              <a:t>常见 PCB 层数：</a:t>
            </a:r>
            <a:endParaRPr lang="zh-TW" altLang="zh-TW" dirty="0"/>
          </a:p>
          <a:p>
            <a:r>
              <a:rPr lang="zh-TW" altLang="zh-TW" b="1" dirty="0"/>
              <a:t>2 层板</a:t>
            </a:r>
            <a:r>
              <a:rPr lang="zh-TW" altLang="zh-TW" dirty="0"/>
              <a:t>：入门、小功率、低速电路最常见。</a:t>
            </a:r>
          </a:p>
          <a:p>
            <a:r>
              <a:rPr lang="zh-TW" altLang="zh-TW" b="1" dirty="0"/>
              <a:t>4 层板</a:t>
            </a:r>
            <a:r>
              <a:rPr lang="zh-TW" altLang="zh-TW" dirty="0"/>
              <a:t>：比较常见的工程板，通常有完整电源层和地层。</a:t>
            </a:r>
          </a:p>
          <a:p>
            <a:r>
              <a:rPr lang="zh-TW" altLang="zh-TW" b="1" dirty="0"/>
              <a:t>6 层板及以上</a:t>
            </a:r>
            <a:r>
              <a:rPr lang="zh-TW" altLang="zh-TW" dirty="0"/>
              <a:t>：用于更复杂、更高速、更高密度的系统。</a:t>
            </a:r>
          </a:p>
          <a:p>
            <a:endParaRPr kumimoji="1" lang="zh-TW" altLang="en-US" dirty="0"/>
          </a:p>
        </p:txBody>
      </p:sp>
      <p:sp>
        <p:nvSpPr>
          <p:cNvPr id="4" name="投影片編號版面配置區 3">
            <a:extLst>
              <a:ext uri="{FF2B5EF4-FFF2-40B4-BE49-F238E27FC236}">
                <a16:creationId xmlns:a16="http://schemas.microsoft.com/office/drawing/2014/main" id="{1095564E-E180-1059-19AA-997616E7D125}"/>
              </a:ext>
            </a:extLst>
          </p:cNvPr>
          <p:cNvSpPr>
            <a:spLocks noGrp="1"/>
          </p:cNvSpPr>
          <p:nvPr>
            <p:ph type="sldNum" sz="quarter" idx="5"/>
          </p:nvPr>
        </p:nvSpPr>
        <p:spPr/>
        <p:txBody>
          <a:bodyPr/>
          <a:lstStyle/>
          <a:p>
            <a:fld id="{CBF2D149-660E-DB4C-85B3-052C72DEFE4D}" type="slidenum">
              <a:rPr kumimoji="1" lang="zh-TW" altLang="en-US" smtClean="0"/>
              <a:t>5</a:t>
            </a:fld>
            <a:endParaRPr kumimoji="1" lang="zh-TW" altLang="en-US"/>
          </a:p>
        </p:txBody>
      </p:sp>
    </p:spTree>
    <p:extLst>
      <p:ext uri="{BB962C8B-B14F-4D97-AF65-F5344CB8AC3E}">
        <p14:creationId xmlns:p14="http://schemas.microsoft.com/office/powerpoint/2010/main" val="2660935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5EACB-6C4E-9C38-A527-2454F3EDDC8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C10D9F1-A656-C410-755A-F8D85933409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B9603F1-B422-0F1B-17D7-74A83D8EFB5C}"/>
              </a:ext>
            </a:extLst>
          </p:cNvPr>
          <p:cNvSpPr>
            <a:spLocks noGrp="1"/>
          </p:cNvSpPr>
          <p:nvPr>
            <p:ph type="body" idx="1"/>
          </p:nvPr>
        </p:nvSpPr>
        <p:spPr/>
        <p:txBody>
          <a:bodyPr/>
          <a:lstStyle/>
          <a:p>
            <a:endParaRPr lang="zh-TW" altLang="zh-TW" dirty="0"/>
          </a:p>
          <a:p>
            <a:endParaRPr kumimoji="1" lang="zh-TW" altLang="en-US" dirty="0"/>
          </a:p>
        </p:txBody>
      </p:sp>
      <p:sp>
        <p:nvSpPr>
          <p:cNvPr id="4" name="投影片編號版面配置區 3">
            <a:extLst>
              <a:ext uri="{FF2B5EF4-FFF2-40B4-BE49-F238E27FC236}">
                <a16:creationId xmlns:a16="http://schemas.microsoft.com/office/drawing/2014/main" id="{C93388AA-3D9E-47D8-DF5E-49C7FFDA167F}"/>
              </a:ext>
            </a:extLst>
          </p:cNvPr>
          <p:cNvSpPr>
            <a:spLocks noGrp="1"/>
          </p:cNvSpPr>
          <p:nvPr>
            <p:ph type="sldNum" sz="quarter" idx="5"/>
          </p:nvPr>
        </p:nvSpPr>
        <p:spPr/>
        <p:txBody>
          <a:bodyPr/>
          <a:lstStyle/>
          <a:p>
            <a:fld id="{CBF2D149-660E-DB4C-85B3-052C72DEFE4D}" type="slidenum">
              <a:rPr kumimoji="1" lang="zh-TW" altLang="en-US" smtClean="0"/>
              <a:t>7</a:t>
            </a:fld>
            <a:endParaRPr kumimoji="1" lang="zh-TW" altLang="en-US"/>
          </a:p>
        </p:txBody>
      </p:sp>
    </p:spTree>
    <p:extLst>
      <p:ext uri="{BB962C8B-B14F-4D97-AF65-F5344CB8AC3E}">
        <p14:creationId xmlns:p14="http://schemas.microsoft.com/office/powerpoint/2010/main" val="1677604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EB3E-7C89-5F42-0357-E15A1A41FE1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B67954F-9642-0202-B962-DC7E6001278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D380FEC-5874-14F5-619C-32EED0949867}"/>
              </a:ext>
            </a:extLst>
          </p:cNvPr>
          <p:cNvSpPr>
            <a:spLocks noGrp="1"/>
          </p:cNvSpPr>
          <p:nvPr>
            <p:ph type="body" idx="1"/>
          </p:nvPr>
        </p:nvSpPr>
        <p:spPr/>
        <p:txBody>
          <a:bodyPr/>
          <a:lstStyle/>
          <a:p>
            <a:endParaRPr lang="zh-TW" altLang="zh-TW" dirty="0"/>
          </a:p>
          <a:p>
            <a:r>
              <a:rPr lang="zh-TW" altLang="zh-TW" b="1" dirty="0"/>
              <a:t>同一个元件，在原理图里只是一个电气符号；到了 PCB 上，它必须变成一个真实可焊接的物理形状。这个物理形状就叫封装。</a:t>
            </a:r>
            <a:endParaRPr lang="zh-TW" altLang="zh-TW" dirty="0"/>
          </a:p>
          <a:p>
            <a:endParaRPr kumimoji="1" lang="en-US" altLang="zh-TW" dirty="0"/>
          </a:p>
          <a:p>
            <a:r>
              <a:rPr kumimoji="1" lang="zh-TW" altLang="en-US" dirty="0"/>
              <a:t>对于电阻封装尺寸和功率有关</a:t>
            </a:r>
            <a:r>
              <a:rPr kumimoji="1" lang="zh-CN" altLang="en-US" dirty="0"/>
              <a:t>，同时也要注意自己的焊接功力</a:t>
            </a:r>
            <a:endParaRPr kumimoji="1" lang="en-US" altLang="zh-TW" dirty="0"/>
          </a:p>
          <a:p>
            <a:endParaRPr kumimoji="1" lang="zh-TW" altLang="en-US" dirty="0"/>
          </a:p>
        </p:txBody>
      </p:sp>
      <p:sp>
        <p:nvSpPr>
          <p:cNvPr id="4" name="投影片編號版面配置區 3">
            <a:extLst>
              <a:ext uri="{FF2B5EF4-FFF2-40B4-BE49-F238E27FC236}">
                <a16:creationId xmlns:a16="http://schemas.microsoft.com/office/drawing/2014/main" id="{37FB23AA-54B2-C8CB-8E3A-6C33EC2FBA93}"/>
              </a:ext>
            </a:extLst>
          </p:cNvPr>
          <p:cNvSpPr>
            <a:spLocks noGrp="1"/>
          </p:cNvSpPr>
          <p:nvPr>
            <p:ph type="sldNum" sz="quarter" idx="5"/>
          </p:nvPr>
        </p:nvSpPr>
        <p:spPr/>
        <p:txBody>
          <a:bodyPr/>
          <a:lstStyle/>
          <a:p>
            <a:fld id="{CBF2D149-660E-DB4C-85B3-052C72DEFE4D}" type="slidenum">
              <a:rPr kumimoji="1" lang="zh-TW" altLang="en-US" smtClean="0"/>
              <a:t>8</a:t>
            </a:fld>
            <a:endParaRPr kumimoji="1" lang="zh-TW" altLang="en-US"/>
          </a:p>
        </p:txBody>
      </p:sp>
    </p:spTree>
    <p:extLst>
      <p:ext uri="{BB962C8B-B14F-4D97-AF65-F5344CB8AC3E}">
        <p14:creationId xmlns:p14="http://schemas.microsoft.com/office/powerpoint/2010/main" val="1731399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7860-95D0-2F11-098F-FD90ACFE51B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A8398D-3AA6-7C3D-56E9-184E4A2CC6C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8AD9ED9-1F68-0B1D-93F2-484D4148CD2E}"/>
              </a:ext>
            </a:extLst>
          </p:cNvPr>
          <p:cNvSpPr>
            <a:spLocks noGrp="1"/>
          </p:cNvSpPr>
          <p:nvPr>
            <p:ph type="body" idx="1"/>
          </p:nvPr>
        </p:nvSpPr>
        <p:spPr/>
        <p:txBody>
          <a:bodyPr/>
          <a:lstStyle/>
          <a:p>
            <a:endParaRPr lang="zh-TW" altLang="zh-TW" dirty="0"/>
          </a:p>
          <a:p>
            <a:r>
              <a:rPr lang="zh-TW" altLang="zh-TW" b="1" dirty="0"/>
              <a:t>同一个元件，在原理图里只是一个电气符号；到了 PCB 上，它必须变成一个真实可焊接的物理形状。这个物理形状就叫封装。</a:t>
            </a:r>
            <a:endParaRPr lang="en-US" altLang="zh-TW" b="1" dirty="0"/>
          </a:p>
          <a:p>
            <a:endParaRPr lang="en-US" altLang="zh-TW"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b="1" dirty="0"/>
              <a:t>原理图连线错，软件通常能检查出来；封装选错，软件不一定知道，但板子做出来可能直接不能用。</a:t>
            </a:r>
            <a:endParaRPr lang="zh-TW" altLang="zh-TW" dirty="0"/>
          </a:p>
          <a:p>
            <a:endParaRPr lang="zh-TW" altLang="zh-TW" dirty="0"/>
          </a:p>
          <a:p>
            <a:endParaRPr kumimoji="1" lang="en-US" altLang="zh-TW" dirty="0"/>
          </a:p>
          <a:p>
            <a:endParaRPr kumimoji="1" lang="zh-TW" altLang="en-US" dirty="0"/>
          </a:p>
        </p:txBody>
      </p:sp>
      <p:sp>
        <p:nvSpPr>
          <p:cNvPr id="4" name="投影片編號版面配置區 3">
            <a:extLst>
              <a:ext uri="{FF2B5EF4-FFF2-40B4-BE49-F238E27FC236}">
                <a16:creationId xmlns:a16="http://schemas.microsoft.com/office/drawing/2014/main" id="{74B68B5F-42AE-43B6-7408-2496411AEF9F}"/>
              </a:ext>
            </a:extLst>
          </p:cNvPr>
          <p:cNvSpPr>
            <a:spLocks noGrp="1"/>
          </p:cNvSpPr>
          <p:nvPr>
            <p:ph type="sldNum" sz="quarter" idx="5"/>
          </p:nvPr>
        </p:nvSpPr>
        <p:spPr/>
        <p:txBody>
          <a:bodyPr/>
          <a:lstStyle/>
          <a:p>
            <a:fld id="{CBF2D149-660E-DB4C-85B3-052C72DEFE4D}" type="slidenum">
              <a:rPr kumimoji="1" lang="zh-TW" altLang="en-US" smtClean="0"/>
              <a:t>9</a:t>
            </a:fld>
            <a:endParaRPr kumimoji="1" lang="zh-TW" altLang="en-US"/>
          </a:p>
        </p:txBody>
      </p:sp>
    </p:spTree>
    <p:extLst>
      <p:ext uri="{BB962C8B-B14F-4D97-AF65-F5344CB8AC3E}">
        <p14:creationId xmlns:p14="http://schemas.microsoft.com/office/powerpoint/2010/main" val="2442181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9D1FC-2E80-1E0D-ACBE-085C41F7C07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94AE579-F1DB-C777-5D30-13E6897D66C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AB3DA2F-BD62-74C7-A21C-DB931C131A05}"/>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75CAD9BC-9035-3922-E95B-4E06AC25D596}"/>
              </a:ext>
            </a:extLst>
          </p:cNvPr>
          <p:cNvSpPr>
            <a:spLocks noGrp="1"/>
          </p:cNvSpPr>
          <p:nvPr>
            <p:ph type="sldNum" sz="quarter" idx="5"/>
          </p:nvPr>
        </p:nvSpPr>
        <p:spPr/>
        <p:txBody>
          <a:bodyPr/>
          <a:lstStyle/>
          <a:p>
            <a:fld id="{CBF2D149-660E-DB4C-85B3-052C72DEFE4D}" type="slidenum">
              <a:rPr kumimoji="1" lang="zh-TW" altLang="en-US" smtClean="0"/>
              <a:t>11</a:t>
            </a:fld>
            <a:endParaRPr kumimoji="1" lang="zh-TW" altLang="en-US"/>
          </a:p>
        </p:txBody>
      </p:sp>
    </p:spTree>
    <p:extLst>
      <p:ext uri="{BB962C8B-B14F-4D97-AF65-F5344CB8AC3E}">
        <p14:creationId xmlns:p14="http://schemas.microsoft.com/office/powerpoint/2010/main" val="2312132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2336-B0A4-4A00-9A62-30FB6F7975E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C8DB062-9477-033B-5064-6167E2D948F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EB2994B-AC51-51C5-9B39-387052984D02}"/>
              </a:ext>
            </a:extLst>
          </p:cNvPr>
          <p:cNvSpPr>
            <a:spLocks noGrp="1"/>
          </p:cNvSpPr>
          <p:nvPr>
            <p:ph type="body" idx="1"/>
          </p:nvPr>
        </p:nvSpPr>
        <p:spPr/>
        <p:txBody>
          <a:bodyPr/>
          <a:lstStyle/>
          <a:p>
            <a:endParaRPr lang="zh-TW" altLang="zh-TW" dirty="0"/>
          </a:p>
          <a:p>
            <a:r>
              <a:rPr kumimoji="1" lang="zh-CN" altLang="en-US" dirty="0"/>
              <a:t> 启发同学思考这样有什么问题</a:t>
            </a:r>
            <a:endParaRPr kumimoji="1" lang="zh-TW" altLang="en-US" dirty="0"/>
          </a:p>
        </p:txBody>
      </p:sp>
      <p:sp>
        <p:nvSpPr>
          <p:cNvPr id="4" name="投影片編號版面配置區 3">
            <a:extLst>
              <a:ext uri="{FF2B5EF4-FFF2-40B4-BE49-F238E27FC236}">
                <a16:creationId xmlns:a16="http://schemas.microsoft.com/office/drawing/2014/main" id="{D84CE696-AADC-DBBB-DED6-3C01007A8B0E}"/>
              </a:ext>
            </a:extLst>
          </p:cNvPr>
          <p:cNvSpPr>
            <a:spLocks noGrp="1"/>
          </p:cNvSpPr>
          <p:nvPr>
            <p:ph type="sldNum" sz="quarter" idx="5"/>
          </p:nvPr>
        </p:nvSpPr>
        <p:spPr/>
        <p:txBody>
          <a:bodyPr/>
          <a:lstStyle/>
          <a:p>
            <a:fld id="{CBF2D149-660E-DB4C-85B3-052C72DEFE4D}" type="slidenum">
              <a:rPr kumimoji="1" lang="zh-TW" altLang="en-US" smtClean="0"/>
              <a:t>12</a:t>
            </a:fld>
            <a:endParaRPr kumimoji="1" lang="zh-TW" altLang="en-US"/>
          </a:p>
        </p:txBody>
      </p:sp>
    </p:spTree>
    <p:extLst>
      <p:ext uri="{BB962C8B-B14F-4D97-AF65-F5344CB8AC3E}">
        <p14:creationId xmlns:p14="http://schemas.microsoft.com/office/powerpoint/2010/main" val="3696980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766A-D135-5364-936E-921258DA613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78241D1-78F1-FF6B-B5F9-80D1B5ED504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F546804-6399-8947-D94D-0F4F7DE948C0}"/>
              </a:ext>
            </a:extLst>
          </p:cNvPr>
          <p:cNvSpPr>
            <a:spLocks noGrp="1"/>
          </p:cNvSpPr>
          <p:nvPr>
            <p:ph type="body" idx="1"/>
          </p:nvPr>
        </p:nvSpPr>
        <p:spPr/>
        <p:txBody>
          <a:bodyPr/>
          <a:lstStyle/>
          <a:p>
            <a:r>
              <a:rPr kumimoji="1" lang="zh-TW" altLang="en-US" dirty="0"/>
              <a:t>还要注意应用功率</a:t>
            </a:r>
            <a:endParaRPr lang="zh-TW" altLang="zh-TW" dirty="0"/>
          </a:p>
        </p:txBody>
      </p:sp>
      <p:sp>
        <p:nvSpPr>
          <p:cNvPr id="4" name="投影片編號版面配置區 3">
            <a:extLst>
              <a:ext uri="{FF2B5EF4-FFF2-40B4-BE49-F238E27FC236}">
                <a16:creationId xmlns:a16="http://schemas.microsoft.com/office/drawing/2014/main" id="{B3173958-212F-ABA1-57F3-9F71F722BC42}"/>
              </a:ext>
            </a:extLst>
          </p:cNvPr>
          <p:cNvSpPr>
            <a:spLocks noGrp="1"/>
          </p:cNvSpPr>
          <p:nvPr>
            <p:ph type="sldNum" sz="quarter" idx="5"/>
          </p:nvPr>
        </p:nvSpPr>
        <p:spPr/>
        <p:txBody>
          <a:bodyPr/>
          <a:lstStyle/>
          <a:p>
            <a:fld id="{CBF2D149-660E-DB4C-85B3-052C72DEFE4D}" type="slidenum">
              <a:rPr kumimoji="1" lang="zh-TW" altLang="en-US" smtClean="0"/>
              <a:t>13</a:t>
            </a:fld>
            <a:endParaRPr kumimoji="1" lang="zh-TW" altLang="en-US"/>
          </a:p>
        </p:txBody>
      </p:sp>
    </p:spTree>
    <p:extLst>
      <p:ext uri="{BB962C8B-B14F-4D97-AF65-F5344CB8AC3E}">
        <p14:creationId xmlns:p14="http://schemas.microsoft.com/office/powerpoint/2010/main" val="3714144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5FED3-F9E5-D01D-2D46-7D2A544202B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7AE3A32-AE04-C223-92DF-DFD35D4E302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DCFCD51-22D9-E6F5-6214-D7272B0B338C}"/>
              </a:ext>
            </a:extLst>
          </p:cNvPr>
          <p:cNvSpPr>
            <a:spLocks noGrp="1"/>
          </p:cNvSpPr>
          <p:nvPr>
            <p:ph type="body" idx="1"/>
          </p:nvPr>
        </p:nvSpPr>
        <p:spPr/>
        <p:txBody>
          <a:bodyPr/>
          <a:lstStyle/>
          <a:p>
            <a:r>
              <a:rPr kumimoji="1" lang="zh-TW" altLang="en-US" dirty="0"/>
              <a:t>带大家看</a:t>
            </a:r>
            <a:r>
              <a:rPr kumimoji="1" lang="en-US" altLang="zh-TW" dirty="0"/>
              <a:t>datasheet</a:t>
            </a:r>
          </a:p>
          <a:p>
            <a:endParaRPr kumimoji="1" lang="zh-TW" altLang="en-US" dirty="0"/>
          </a:p>
        </p:txBody>
      </p:sp>
      <p:sp>
        <p:nvSpPr>
          <p:cNvPr id="4" name="投影片編號版面配置區 3">
            <a:extLst>
              <a:ext uri="{FF2B5EF4-FFF2-40B4-BE49-F238E27FC236}">
                <a16:creationId xmlns:a16="http://schemas.microsoft.com/office/drawing/2014/main" id="{7CAAA913-9C0E-8FCA-971A-04E0652B6299}"/>
              </a:ext>
            </a:extLst>
          </p:cNvPr>
          <p:cNvSpPr>
            <a:spLocks noGrp="1"/>
          </p:cNvSpPr>
          <p:nvPr>
            <p:ph type="sldNum" sz="quarter" idx="5"/>
          </p:nvPr>
        </p:nvSpPr>
        <p:spPr/>
        <p:txBody>
          <a:bodyPr/>
          <a:lstStyle/>
          <a:p>
            <a:fld id="{CBF2D149-660E-DB4C-85B3-052C72DEFE4D}" type="slidenum">
              <a:rPr kumimoji="1" lang="zh-TW" altLang="en-US" smtClean="0"/>
              <a:t>14</a:t>
            </a:fld>
            <a:endParaRPr kumimoji="1" lang="zh-TW" altLang="en-US"/>
          </a:p>
        </p:txBody>
      </p:sp>
    </p:spTree>
    <p:extLst>
      <p:ext uri="{BB962C8B-B14F-4D97-AF65-F5344CB8AC3E}">
        <p14:creationId xmlns:p14="http://schemas.microsoft.com/office/powerpoint/2010/main" val="1371532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B170-FD50-B5FC-0386-F2A7F1A5A5A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CC36095-A5A2-33D2-C7D7-02F51925440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8C835DA-0D23-C085-EB1F-53FD38AC4F89}"/>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08164143-FEDD-EFBE-5C2F-B68F89817E5C}"/>
              </a:ext>
            </a:extLst>
          </p:cNvPr>
          <p:cNvSpPr>
            <a:spLocks noGrp="1"/>
          </p:cNvSpPr>
          <p:nvPr>
            <p:ph type="sldNum" sz="quarter" idx="5"/>
          </p:nvPr>
        </p:nvSpPr>
        <p:spPr/>
        <p:txBody>
          <a:bodyPr/>
          <a:lstStyle/>
          <a:p>
            <a:fld id="{CBF2D149-660E-DB4C-85B3-052C72DEFE4D}" type="slidenum">
              <a:rPr kumimoji="1" lang="zh-TW" altLang="en-US" smtClean="0"/>
              <a:t>15</a:t>
            </a:fld>
            <a:endParaRPr kumimoji="1" lang="zh-TW" altLang="en-US"/>
          </a:p>
        </p:txBody>
      </p:sp>
    </p:spTree>
    <p:extLst>
      <p:ext uri="{BB962C8B-B14F-4D97-AF65-F5344CB8AC3E}">
        <p14:creationId xmlns:p14="http://schemas.microsoft.com/office/powerpoint/2010/main" val="340678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BAEE8-5F3C-58DD-1D88-07EE72F1A49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7DCD0DE-AACD-8E34-3772-43C4424172A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1C963BD-EB7A-2C67-A4E2-9462B9D729CB}"/>
              </a:ext>
            </a:extLst>
          </p:cNvPr>
          <p:cNvSpPr>
            <a:spLocks noGrp="1"/>
          </p:cNvSpPr>
          <p:nvPr>
            <p:ph type="body" idx="1"/>
          </p:nvPr>
        </p:nvSpPr>
        <p:spPr/>
        <p:txBody>
          <a:bodyPr/>
          <a:lstStyle/>
          <a:p>
            <a:endParaRPr lang="zh-TW" altLang="zh-TW" dirty="0"/>
          </a:p>
          <a:p>
            <a:r>
              <a:rPr lang="zh-TW" altLang="zh-TW" b="1" dirty="0"/>
              <a:t>PCB 布局原则</a:t>
            </a:r>
          </a:p>
          <a:p>
            <a:r>
              <a:rPr lang="zh-TW" altLang="zh-TW" b="1" dirty="0"/>
              <a:t>先分区，再摆元件</a:t>
            </a:r>
            <a:br>
              <a:rPr lang="zh-TW" altLang="zh-TW" dirty="0"/>
            </a:br>
            <a:r>
              <a:rPr lang="zh-TW" altLang="zh-TW" dirty="0"/>
              <a:t>将电源、主控、传感器、显示、按键、接口等模块分区放置，避免布局混乱。</a:t>
            </a:r>
          </a:p>
          <a:p>
            <a:r>
              <a:rPr lang="zh-TW" altLang="zh-TW" b="1" dirty="0"/>
              <a:t>接口靠边，方便使用</a:t>
            </a:r>
            <a:br>
              <a:rPr lang="zh-TW" altLang="zh-TW" dirty="0"/>
            </a:br>
            <a:r>
              <a:rPr lang="zh-TW" altLang="zh-TW" dirty="0"/>
              <a:t>USB、排针、接线端子、按键、显示屏等需要外部连接或操作的器件应尽量靠近板边。</a:t>
            </a:r>
          </a:p>
          <a:p>
            <a:r>
              <a:rPr lang="zh-TW" altLang="zh-TW" b="1" dirty="0"/>
              <a:t>主控位置居中，信号路径尽量短</a:t>
            </a:r>
            <a:br>
              <a:rPr lang="zh-TW" altLang="zh-TW" dirty="0"/>
            </a:br>
            <a:r>
              <a:rPr lang="zh-TW" altLang="zh-TW" dirty="0"/>
              <a:t>ESP32 开发板应放在便于连接各外设的位置，同时注意 USB 插拔方向和天线区域不要被遮挡。</a:t>
            </a:r>
          </a:p>
          <a:p>
            <a:r>
              <a:rPr lang="zh-TW" altLang="zh-TW" b="1" dirty="0"/>
              <a:t>电源路径优先考虑</a:t>
            </a:r>
            <a:br>
              <a:rPr lang="zh-TW" altLang="zh-TW" dirty="0"/>
            </a:br>
            <a:r>
              <a:rPr lang="zh-TW" altLang="zh-TW" dirty="0"/>
              <a:t>电源入口、充电芯片、升压模块和大电流负载应尽量靠近，电源线和地线要短而粗。</a:t>
            </a:r>
          </a:p>
          <a:p>
            <a:r>
              <a:rPr lang="zh-TW" altLang="zh-TW" b="1" dirty="0"/>
              <a:t>去耦电容靠近芯片电源脚</a:t>
            </a:r>
            <a:br>
              <a:rPr lang="zh-TW" altLang="zh-TW" dirty="0"/>
            </a:br>
            <a:r>
              <a:rPr lang="zh-TW" altLang="zh-TW" dirty="0"/>
              <a:t>去耦电容不是随便放置的元件，应靠近被供电芯片，减小电源噪声和瞬态电压波动。</a:t>
            </a:r>
          </a:p>
          <a:p>
            <a:r>
              <a:rPr lang="zh-TW" altLang="zh-TW" b="1" dirty="0"/>
              <a:t>为焊接和调试留空间</a:t>
            </a:r>
            <a:br>
              <a:rPr lang="zh-TW" altLang="zh-TW" dirty="0"/>
            </a:br>
            <a:r>
              <a:rPr lang="zh-TW" altLang="zh-TW" dirty="0"/>
              <a:t>元件之间不要过于拥挤，接口方向要清晰，关键电源和信号可预留测试点。</a:t>
            </a:r>
          </a:p>
          <a:p>
            <a:endParaRPr kumimoji="1" lang="zh-TW" altLang="en-US" dirty="0"/>
          </a:p>
        </p:txBody>
      </p:sp>
      <p:sp>
        <p:nvSpPr>
          <p:cNvPr id="4" name="投影片編號版面配置區 3">
            <a:extLst>
              <a:ext uri="{FF2B5EF4-FFF2-40B4-BE49-F238E27FC236}">
                <a16:creationId xmlns:a16="http://schemas.microsoft.com/office/drawing/2014/main" id="{D5C86E91-BDE0-833F-A7B6-A45BCB1BCFAE}"/>
              </a:ext>
            </a:extLst>
          </p:cNvPr>
          <p:cNvSpPr>
            <a:spLocks noGrp="1"/>
          </p:cNvSpPr>
          <p:nvPr>
            <p:ph type="sldNum" sz="quarter" idx="5"/>
          </p:nvPr>
        </p:nvSpPr>
        <p:spPr/>
        <p:txBody>
          <a:bodyPr/>
          <a:lstStyle/>
          <a:p>
            <a:fld id="{CBF2D149-660E-DB4C-85B3-052C72DEFE4D}" type="slidenum">
              <a:rPr kumimoji="1" lang="zh-TW" altLang="en-US" smtClean="0"/>
              <a:t>17</a:t>
            </a:fld>
            <a:endParaRPr kumimoji="1" lang="zh-TW" altLang="en-US"/>
          </a:p>
        </p:txBody>
      </p:sp>
    </p:spTree>
    <p:extLst>
      <p:ext uri="{BB962C8B-B14F-4D97-AF65-F5344CB8AC3E}">
        <p14:creationId xmlns:p14="http://schemas.microsoft.com/office/powerpoint/2010/main" val="1709828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E7226-72D3-B192-D70C-654EE5EC814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15390C0-679E-001E-375B-1AD7CE38CC3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55B4C29-74A8-5855-E3F4-92C7383FE65B}"/>
              </a:ext>
            </a:extLst>
          </p:cNvPr>
          <p:cNvSpPr>
            <a:spLocks noGrp="1"/>
          </p:cNvSpPr>
          <p:nvPr>
            <p:ph type="body" idx="1"/>
          </p:nvPr>
        </p:nvSpPr>
        <p:spPr/>
        <p:txBody>
          <a:bodyPr/>
          <a:lstStyle/>
          <a:p>
            <a:r>
              <a:rPr lang="zh-TW" altLang="zh-TW" b="1" dirty="0"/>
              <a:t>PCB 布线原则</a:t>
            </a:r>
          </a:p>
          <a:p>
            <a:r>
              <a:rPr lang="zh-TW" altLang="zh-TW" b="1" dirty="0"/>
              <a:t>先布电源和地</a:t>
            </a:r>
            <a:r>
              <a:rPr lang="zh-TW" altLang="zh-TW" dirty="0"/>
              <a:t>：电源、地线关系到整板稳定性，应短、粗、直接。</a:t>
            </a:r>
          </a:p>
          <a:p>
            <a:r>
              <a:rPr lang="zh-TW" altLang="zh-TW" b="1" dirty="0"/>
              <a:t>信号线尽量短</a:t>
            </a:r>
            <a:r>
              <a:rPr lang="zh-TW" altLang="zh-TW" dirty="0"/>
              <a:t>：减少绕路可以降低干扰，也方便后续检查。</a:t>
            </a:r>
          </a:p>
          <a:p>
            <a:r>
              <a:rPr lang="zh-TW" altLang="zh-TW" b="1" dirty="0"/>
              <a:t>电源线适当加宽</a:t>
            </a:r>
            <a:r>
              <a:rPr lang="zh-TW" altLang="zh-TW" dirty="0"/>
              <a:t>：电流较大时，线太细会产生压降和发热。</a:t>
            </a:r>
          </a:p>
          <a:p>
            <a:r>
              <a:rPr lang="zh-TW" altLang="zh-TW" b="1" dirty="0"/>
              <a:t>走线保持间距</a:t>
            </a:r>
            <a:r>
              <a:rPr lang="zh-TW" altLang="zh-TW" dirty="0"/>
              <a:t>：避免短路风险，减少信号之间的串扰。</a:t>
            </a:r>
          </a:p>
          <a:p>
            <a:r>
              <a:rPr lang="zh-TW" altLang="zh-TW" b="1" dirty="0"/>
              <a:t>少打过孔</a:t>
            </a:r>
            <a:r>
              <a:rPr lang="zh-TW" altLang="zh-TW" dirty="0"/>
              <a:t>：过孔会增加复杂度，也可能影响信号和可靠性。</a:t>
            </a:r>
          </a:p>
          <a:p>
            <a:r>
              <a:rPr lang="zh-TW" altLang="zh-TW" b="1" dirty="0"/>
              <a:t>优先使用 45° 拐角</a:t>
            </a:r>
            <a:r>
              <a:rPr lang="zh-TW" altLang="zh-TW" dirty="0"/>
              <a:t>：比直角走线更规范，工艺和信号表现更好。</a:t>
            </a:r>
          </a:p>
          <a:p>
            <a:r>
              <a:rPr lang="zh-TW" altLang="zh-TW" b="1" dirty="0"/>
              <a:t>电容靠近电源脚</a:t>
            </a:r>
            <a:r>
              <a:rPr lang="zh-TW" altLang="zh-TW" dirty="0"/>
              <a:t>：去耦电容距离越近，稳定电源的效果越好。</a:t>
            </a:r>
          </a:p>
          <a:p>
            <a:r>
              <a:rPr lang="zh-TW" altLang="zh-TW" b="1" dirty="0"/>
              <a:t>完成后做 DRC</a:t>
            </a:r>
            <a:r>
              <a:rPr lang="zh-TW" altLang="zh-TW" dirty="0"/>
              <a:t>：用规则检查发现线宽、线距、未连接等问题。</a:t>
            </a:r>
          </a:p>
          <a:p>
            <a:endParaRPr kumimoji="1" lang="zh-TW" altLang="en-US" dirty="0"/>
          </a:p>
        </p:txBody>
      </p:sp>
      <p:sp>
        <p:nvSpPr>
          <p:cNvPr id="4" name="投影片編號版面配置區 3">
            <a:extLst>
              <a:ext uri="{FF2B5EF4-FFF2-40B4-BE49-F238E27FC236}">
                <a16:creationId xmlns:a16="http://schemas.microsoft.com/office/drawing/2014/main" id="{1618B8D1-C04F-76BF-2B15-64B2A7DED384}"/>
              </a:ext>
            </a:extLst>
          </p:cNvPr>
          <p:cNvSpPr>
            <a:spLocks noGrp="1"/>
          </p:cNvSpPr>
          <p:nvPr>
            <p:ph type="sldNum" sz="quarter" idx="5"/>
          </p:nvPr>
        </p:nvSpPr>
        <p:spPr/>
        <p:txBody>
          <a:bodyPr/>
          <a:lstStyle/>
          <a:p>
            <a:fld id="{CBF2D149-660E-DB4C-85B3-052C72DEFE4D}" type="slidenum">
              <a:rPr kumimoji="1" lang="zh-TW" altLang="en-US" smtClean="0"/>
              <a:t>19</a:t>
            </a:fld>
            <a:endParaRPr kumimoji="1" lang="zh-TW" altLang="en-US"/>
          </a:p>
        </p:txBody>
      </p:sp>
    </p:spTree>
    <p:extLst>
      <p:ext uri="{BB962C8B-B14F-4D97-AF65-F5344CB8AC3E}">
        <p14:creationId xmlns:p14="http://schemas.microsoft.com/office/powerpoint/2010/main" val="3675690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FC54-A762-ADF7-C7DF-957FEAF98AC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064D9DB-0428-2A28-FB39-F5A32D865AA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EEC711C-625E-37A1-472E-CD1A287076FC}"/>
              </a:ext>
            </a:extLst>
          </p:cNvPr>
          <p:cNvSpPr>
            <a:spLocks noGrp="1"/>
          </p:cNvSpPr>
          <p:nvPr>
            <p:ph type="body" idx="1"/>
          </p:nvPr>
        </p:nvSpPr>
        <p:spPr/>
        <p:txBody>
          <a:bodyPr/>
          <a:lstStyle/>
          <a:p>
            <a:r>
              <a:rPr lang="zh-TW" altLang="zh-TW" b="1" dirty="0"/>
              <a:t>PCB 布线原则</a:t>
            </a:r>
          </a:p>
          <a:p>
            <a:r>
              <a:rPr lang="zh-TW" altLang="zh-TW" b="1" dirty="0"/>
              <a:t>先布电源和地</a:t>
            </a:r>
            <a:r>
              <a:rPr lang="zh-TW" altLang="zh-TW" dirty="0"/>
              <a:t>：电源、地线关系到整板稳定性，应短、粗、直接。</a:t>
            </a:r>
          </a:p>
          <a:p>
            <a:r>
              <a:rPr lang="zh-TW" altLang="zh-TW" b="1" dirty="0"/>
              <a:t>信号线尽量短</a:t>
            </a:r>
            <a:r>
              <a:rPr lang="zh-TW" altLang="zh-TW" dirty="0"/>
              <a:t>：减少绕路可以降低干扰，也方便后续检查。</a:t>
            </a:r>
          </a:p>
          <a:p>
            <a:r>
              <a:rPr lang="zh-TW" altLang="zh-TW" b="1" dirty="0"/>
              <a:t>电源线适当加宽</a:t>
            </a:r>
            <a:r>
              <a:rPr lang="zh-TW" altLang="zh-TW" dirty="0"/>
              <a:t>：电流较大时，线太细会产生压降和发热。</a:t>
            </a:r>
          </a:p>
          <a:p>
            <a:r>
              <a:rPr lang="zh-TW" altLang="zh-TW" b="1" dirty="0"/>
              <a:t>走线保持间距</a:t>
            </a:r>
            <a:r>
              <a:rPr lang="zh-TW" altLang="zh-TW" dirty="0"/>
              <a:t>：避免短路风险，减少信号之间的串扰。</a:t>
            </a:r>
          </a:p>
          <a:p>
            <a:r>
              <a:rPr lang="zh-TW" altLang="zh-TW" b="1" dirty="0"/>
              <a:t>少打过孔</a:t>
            </a:r>
            <a:r>
              <a:rPr lang="zh-TW" altLang="zh-TW" dirty="0"/>
              <a:t>：过孔会增加复杂度，也可能影响信号和可靠性。</a:t>
            </a:r>
          </a:p>
          <a:p>
            <a:r>
              <a:rPr lang="zh-TW" altLang="zh-TW" b="1" dirty="0"/>
              <a:t>优先使用 45° 拐角</a:t>
            </a:r>
            <a:r>
              <a:rPr lang="zh-TW" altLang="zh-TW" dirty="0"/>
              <a:t>：比直角走线更规范，工艺和信号表现更好。</a:t>
            </a:r>
          </a:p>
          <a:p>
            <a:r>
              <a:rPr lang="zh-TW" altLang="zh-TW" b="1" dirty="0"/>
              <a:t>电容靠近电源脚</a:t>
            </a:r>
            <a:r>
              <a:rPr lang="zh-TW" altLang="zh-TW" dirty="0"/>
              <a:t>：去耦电容距离越近，稳定电源的效果越好。</a:t>
            </a:r>
          </a:p>
          <a:p>
            <a:r>
              <a:rPr lang="zh-TW" altLang="zh-TW" b="1" dirty="0"/>
              <a:t>完成后做 DRC</a:t>
            </a:r>
            <a:r>
              <a:rPr lang="zh-TW" altLang="zh-TW" dirty="0"/>
              <a:t>：用规则检查发现线宽、线距、未连接等问题。</a:t>
            </a:r>
          </a:p>
          <a:p>
            <a:endParaRPr kumimoji="1" lang="zh-TW" altLang="en-US" dirty="0"/>
          </a:p>
        </p:txBody>
      </p:sp>
      <p:sp>
        <p:nvSpPr>
          <p:cNvPr id="4" name="投影片編號版面配置區 3">
            <a:extLst>
              <a:ext uri="{FF2B5EF4-FFF2-40B4-BE49-F238E27FC236}">
                <a16:creationId xmlns:a16="http://schemas.microsoft.com/office/drawing/2014/main" id="{E6570C53-6F2E-A093-6784-0194C384F196}"/>
              </a:ext>
            </a:extLst>
          </p:cNvPr>
          <p:cNvSpPr>
            <a:spLocks noGrp="1"/>
          </p:cNvSpPr>
          <p:nvPr>
            <p:ph type="sldNum" sz="quarter" idx="5"/>
          </p:nvPr>
        </p:nvSpPr>
        <p:spPr/>
        <p:txBody>
          <a:bodyPr/>
          <a:lstStyle/>
          <a:p>
            <a:fld id="{CBF2D149-660E-DB4C-85B3-052C72DEFE4D}" type="slidenum">
              <a:rPr kumimoji="1" lang="zh-TW" altLang="en-US" smtClean="0"/>
              <a:t>20</a:t>
            </a:fld>
            <a:endParaRPr kumimoji="1" lang="zh-TW" altLang="en-US"/>
          </a:p>
        </p:txBody>
      </p:sp>
    </p:spTree>
    <p:extLst>
      <p:ext uri="{BB962C8B-B14F-4D97-AF65-F5344CB8AC3E}">
        <p14:creationId xmlns:p14="http://schemas.microsoft.com/office/powerpoint/2010/main" val="4226461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B3E40-CD77-1C14-2B9F-9183E8A30DD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2A5834D-1186-ADC2-1C84-2539CE7E638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0E29AB7-0D1F-2F53-BC66-BB582E18358F}"/>
              </a:ext>
            </a:extLst>
          </p:cNvPr>
          <p:cNvSpPr>
            <a:spLocks noGrp="1"/>
          </p:cNvSpPr>
          <p:nvPr>
            <p:ph type="body" idx="1"/>
          </p:nvPr>
        </p:nvSpPr>
        <p:spPr/>
        <p:txBody>
          <a:bodyPr/>
          <a:lstStyle/>
          <a:p>
            <a:r>
              <a:rPr lang="zh-TW" altLang="zh-TW" b="1" dirty="0"/>
              <a:t>PCB 布线原则</a:t>
            </a:r>
          </a:p>
          <a:p>
            <a:r>
              <a:rPr lang="zh-TW" altLang="zh-TW" b="1" dirty="0"/>
              <a:t>先布电源和地</a:t>
            </a:r>
            <a:r>
              <a:rPr lang="zh-TW" altLang="zh-TW" dirty="0"/>
              <a:t>：电源、地线关系到整板稳定性，应短、粗、直接。</a:t>
            </a:r>
          </a:p>
          <a:p>
            <a:r>
              <a:rPr lang="zh-TW" altLang="zh-TW" b="1" dirty="0"/>
              <a:t>信号线尽量短</a:t>
            </a:r>
            <a:r>
              <a:rPr lang="zh-TW" altLang="zh-TW" dirty="0"/>
              <a:t>：减少绕路可以降低干扰，也方便后续检查。</a:t>
            </a:r>
          </a:p>
          <a:p>
            <a:r>
              <a:rPr lang="zh-TW" altLang="zh-TW" b="1" dirty="0"/>
              <a:t>电源线适当加宽</a:t>
            </a:r>
            <a:r>
              <a:rPr lang="zh-TW" altLang="zh-TW" dirty="0"/>
              <a:t>：电流较大时，线太细会产生压降和发热。</a:t>
            </a:r>
          </a:p>
          <a:p>
            <a:r>
              <a:rPr lang="zh-TW" altLang="zh-TW" b="1" dirty="0"/>
              <a:t>走线保持间距</a:t>
            </a:r>
            <a:r>
              <a:rPr lang="zh-TW" altLang="zh-TW" dirty="0"/>
              <a:t>：避免短路风险，减少信号之间的串扰。</a:t>
            </a:r>
          </a:p>
          <a:p>
            <a:r>
              <a:rPr lang="zh-TW" altLang="zh-TW" b="1" dirty="0"/>
              <a:t>少打过孔</a:t>
            </a:r>
            <a:r>
              <a:rPr lang="zh-TW" altLang="zh-TW" dirty="0"/>
              <a:t>：过孔会增加复杂度，也可能影响信号和可靠性。</a:t>
            </a:r>
          </a:p>
          <a:p>
            <a:r>
              <a:rPr lang="zh-TW" altLang="zh-TW" b="1" dirty="0"/>
              <a:t>优先使用 45° 拐角</a:t>
            </a:r>
            <a:r>
              <a:rPr lang="zh-TW" altLang="zh-TW" dirty="0"/>
              <a:t>：比直角走线更规范，工艺和信号表现更好。</a:t>
            </a:r>
          </a:p>
          <a:p>
            <a:r>
              <a:rPr lang="zh-TW" altLang="zh-TW" b="1" dirty="0"/>
              <a:t>电容靠近电源脚</a:t>
            </a:r>
            <a:r>
              <a:rPr lang="zh-TW" altLang="zh-TW" dirty="0"/>
              <a:t>：去耦电容距离越近，稳定电源的效果越好。</a:t>
            </a:r>
          </a:p>
          <a:p>
            <a:r>
              <a:rPr lang="zh-TW" altLang="zh-TW" b="1" dirty="0"/>
              <a:t>完成后做 DRC</a:t>
            </a:r>
            <a:r>
              <a:rPr lang="zh-TW" altLang="zh-TW" dirty="0"/>
              <a:t>：用规则检查发现线宽、线距、未连接等问题。</a:t>
            </a:r>
          </a:p>
          <a:p>
            <a:endParaRPr kumimoji="1" lang="zh-TW" altLang="en-US" dirty="0"/>
          </a:p>
        </p:txBody>
      </p:sp>
      <p:sp>
        <p:nvSpPr>
          <p:cNvPr id="4" name="投影片編號版面配置區 3">
            <a:extLst>
              <a:ext uri="{FF2B5EF4-FFF2-40B4-BE49-F238E27FC236}">
                <a16:creationId xmlns:a16="http://schemas.microsoft.com/office/drawing/2014/main" id="{54719ABB-F6EE-07E2-BC06-6E69C0D082FD}"/>
              </a:ext>
            </a:extLst>
          </p:cNvPr>
          <p:cNvSpPr>
            <a:spLocks noGrp="1"/>
          </p:cNvSpPr>
          <p:nvPr>
            <p:ph type="sldNum" sz="quarter" idx="5"/>
          </p:nvPr>
        </p:nvSpPr>
        <p:spPr/>
        <p:txBody>
          <a:bodyPr/>
          <a:lstStyle/>
          <a:p>
            <a:fld id="{CBF2D149-660E-DB4C-85B3-052C72DEFE4D}" type="slidenum">
              <a:rPr kumimoji="1" lang="zh-TW" altLang="en-US" smtClean="0"/>
              <a:t>21</a:t>
            </a:fld>
            <a:endParaRPr kumimoji="1" lang="zh-TW" altLang="en-US"/>
          </a:p>
        </p:txBody>
      </p:sp>
    </p:spTree>
    <p:extLst>
      <p:ext uri="{BB962C8B-B14F-4D97-AF65-F5344CB8AC3E}">
        <p14:creationId xmlns:p14="http://schemas.microsoft.com/office/powerpoint/2010/main" val="2305250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386BB-0FFE-74D8-3805-9A6D6D1745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1BEBF1A-B427-7E74-AC89-B53F39F082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E6A9B2-9D48-EE28-F233-A25B22B4FAD6}"/>
              </a:ext>
            </a:extLst>
          </p:cNvPr>
          <p:cNvSpPr>
            <a:spLocks noGrp="1"/>
          </p:cNvSpPr>
          <p:nvPr>
            <p:ph type="body" idx="1"/>
          </p:nvPr>
        </p:nvSpPr>
        <p:spPr/>
        <p:txBody>
          <a:bodyPr/>
          <a:lstStyle/>
          <a:p>
            <a:r>
              <a:rPr lang="zh-TW" altLang="zh-TW" b="1" dirty="0"/>
              <a:t>DRC 能检查：</a:t>
            </a:r>
            <a:endParaRPr lang="zh-TW" altLang="zh-TW" dirty="0"/>
          </a:p>
          <a:p>
            <a:r>
              <a:rPr lang="zh-TW" altLang="zh-TW" b="1" dirty="0"/>
              <a:t>线宽是否太细</a:t>
            </a:r>
            <a:r>
              <a:rPr lang="zh-TW" altLang="zh-TW" dirty="0"/>
              <a:t>：避免厂家无法加工，或电流承载能力不足。</a:t>
            </a:r>
          </a:p>
          <a:p>
            <a:r>
              <a:rPr lang="zh-TW" altLang="zh-TW" b="1" dirty="0"/>
              <a:t>线距是否太小</a:t>
            </a:r>
            <a:r>
              <a:rPr lang="zh-TW" altLang="zh-TW" dirty="0"/>
              <a:t>：避免短路风险，保证制造可靠性。</a:t>
            </a:r>
          </a:p>
          <a:p>
            <a:r>
              <a:rPr lang="zh-TW" altLang="zh-TW" b="1" dirty="0"/>
              <a:t>焊盘、过孔、铜皮之间是否间距不足</a:t>
            </a:r>
            <a:r>
              <a:rPr lang="zh-TW" altLang="zh-TW" dirty="0"/>
              <a:t>：防止不同网络之间意外相连。</a:t>
            </a:r>
          </a:p>
          <a:p>
            <a:r>
              <a:rPr lang="zh-TW" altLang="zh-TW" b="1" dirty="0"/>
              <a:t>是否存在未连接网络</a:t>
            </a:r>
            <a:r>
              <a:rPr lang="zh-TW" altLang="zh-TW" dirty="0"/>
              <a:t>：检查原理图中应该连接的点是否还没有布线。</a:t>
            </a:r>
          </a:p>
          <a:p>
            <a:r>
              <a:rPr lang="zh-TW" altLang="zh-TW" b="1" dirty="0"/>
              <a:t>过孔尺寸、孔径、环宽是否符合规则</a:t>
            </a:r>
            <a:r>
              <a:rPr lang="zh-TW" altLang="zh-TW" dirty="0"/>
              <a:t>：避免钻孔或电镀加工失败。</a:t>
            </a:r>
          </a:p>
          <a:p>
            <a:r>
              <a:rPr lang="zh-TW" altLang="zh-TW" b="1" dirty="0"/>
              <a:t>丝印是否压到焊盘</a:t>
            </a:r>
            <a:r>
              <a:rPr lang="zh-TW" altLang="zh-TW" dirty="0"/>
              <a:t>：避免焊接区域被丝印覆盖，影响装配。</a:t>
            </a:r>
          </a:p>
          <a:p>
            <a:r>
              <a:rPr lang="zh-TW" altLang="zh-TW" b="1" dirty="0"/>
              <a:t>DRC 不能检查：</a:t>
            </a:r>
            <a:endParaRPr lang="zh-TW" altLang="zh-TW" dirty="0"/>
          </a:p>
          <a:p>
            <a:r>
              <a:rPr lang="zh-TW" altLang="zh-TW" b="1" dirty="0"/>
              <a:t>原理图本身是否设计正确</a:t>
            </a:r>
            <a:r>
              <a:rPr lang="zh-TW" altLang="zh-TW" dirty="0"/>
              <a:t>：例如 LED 方向、电阻阻值、芯片供电是否合理，需要人工判断。</a:t>
            </a:r>
          </a:p>
          <a:p>
            <a:r>
              <a:rPr lang="zh-TW" altLang="zh-TW" b="1" dirty="0"/>
              <a:t>封装是否选对实物</a:t>
            </a:r>
            <a:r>
              <a:rPr lang="zh-TW" altLang="zh-TW" dirty="0"/>
              <a:t>：软件不知道你买到的元件真实尺寸，必须对照 datasheet。</a:t>
            </a:r>
          </a:p>
          <a:p>
            <a:r>
              <a:rPr lang="zh-TW" altLang="zh-TW" b="1" dirty="0"/>
              <a:t>电源线是否足够承载实际电流</a:t>
            </a:r>
            <a:r>
              <a:rPr lang="zh-TW" altLang="zh-TW" dirty="0"/>
              <a:t>：如果没有设置专门规则，DRC 只会按默认线宽检查。</a:t>
            </a:r>
          </a:p>
          <a:p>
            <a:r>
              <a:rPr lang="zh-TW" altLang="zh-TW" b="1" dirty="0"/>
              <a:t>布局是否合理</a:t>
            </a:r>
            <a:r>
              <a:rPr lang="zh-TW" altLang="zh-TW" dirty="0"/>
              <a:t>：例如电容是否靠近芯片、接口是否方便插拔，主要靠设计经验判断。</a:t>
            </a:r>
          </a:p>
          <a:p>
            <a:r>
              <a:rPr lang="zh-TW" altLang="zh-TW" b="1" dirty="0"/>
              <a:t>电路功能是否一定能正常工作</a:t>
            </a:r>
            <a:r>
              <a:rPr lang="zh-TW" altLang="zh-TW" dirty="0"/>
              <a:t>：DRC 通过只代表“图纸符合规则”，不代表“电路设计一定正确”。</a:t>
            </a:r>
          </a:p>
          <a:p>
            <a:endParaRPr kumimoji="1" lang="zh-TW" altLang="en-US" dirty="0"/>
          </a:p>
        </p:txBody>
      </p:sp>
      <p:sp>
        <p:nvSpPr>
          <p:cNvPr id="4" name="投影片編號版面配置區 3">
            <a:extLst>
              <a:ext uri="{FF2B5EF4-FFF2-40B4-BE49-F238E27FC236}">
                <a16:creationId xmlns:a16="http://schemas.microsoft.com/office/drawing/2014/main" id="{7AFBDCD1-DF46-D836-5B43-D3453CBE76CE}"/>
              </a:ext>
            </a:extLst>
          </p:cNvPr>
          <p:cNvSpPr>
            <a:spLocks noGrp="1"/>
          </p:cNvSpPr>
          <p:nvPr>
            <p:ph type="sldNum" sz="quarter" idx="5"/>
          </p:nvPr>
        </p:nvSpPr>
        <p:spPr/>
        <p:txBody>
          <a:bodyPr/>
          <a:lstStyle/>
          <a:p>
            <a:fld id="{CBF2D149-660E-DB4C-85B3-052C72DEFE4D}" type="slidenum">
              <a:rPr kumimoji="1" lang="zh-TW" altLang="en-US" smtClean="0"/>
              <a:t>23</a:t>
            </a:fld>
            <a:endParaRPr kumimoji="1" lang="zh-TW" altLang="en-US"/>
          </a:p>
        </p:txBody>
      </p:sp>
    </p:spTree>
    <p:extLst>
      <p:ext uri="{BB962C8B-B14F-4D97-AF65-F5344CB8AC3E}">
        <p14:creationId xmlns:p14="http://schemas.microsoft.com/office/powerpoint/2010/main" val="29626010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5245-AE84-9C76-7A0B-7A85272EF11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169B3C9-C520-C197-1495-A2E4E2AA040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05C5F1-BA55-8784-925E-E6BCE75553B5}"/>
              </a:ext>
            </a:extLst>
          </p:cNvPr>
          <p:cNvSpPr>
            <a:spLocks noGrp="1"/>
          </p:cNvSpPr>
          <p:nvPr>
            <p:ph type="body" idx="1"/>
          </p:nvPr>
        </p:nvSpPr>
        <p:spPr/>
        <p:txBody>
          <a:bodyPr/>
          <a:lstStyle/>
          <a:p>
            <a:r>
              <a:rPr kumimoji="1" lang="zh-TW" altLang="en-US" dirty="0"/>
              <a:t>嘉力创</a:t>
            </a:r>
            <a:r>
              <a:rPr kumimoji="1" lang="en-US" altLang="zh-CN" dirty="0"/>
              <a:t>10</a:t>
            </a:r>
            <a:r>
              <a:rPr kumimoji="1" lang="zh-CN" altLang="en-US" dirty="0"/>
              <a:t>*</a:t>
            </a:r>
            <a:r>
              <a:rPr kumimoji="1" lang="en-US" altLang="zh-CN" dirty="0"/>
              <a:t>10</a:t>
            </a:r>
            <a:r>
              <a:rPr kumimoji="1" lang="zh-CN" altLang="en-US" dirty="0"/>
              <a:t>每月免费</a:t>
            </a:r>
            <a:endParaRPr kumimoji="1" lang="zh-TW" altLang="en-US" dirty="0"/>
          </a:p>
        </p:txBody>
      </p:sp>
      <p:sp>
        <p:nvSpPr>
          <p:cNvPr id="4" name="投影片編號版面配置區 3">
            <a:extLst>
              <a:ext uri="{FF2B5EF4-FFF2-40B4-BE49-F238E27FC236}">
                <a16:creationId xmlns:a16="http://schemas.microsoft.com/office/drawing/2014/main" id="{3A00F854-7AA2-63DB-555F-6023FC4BFEF6}"/>
              </a:ext>
            </a:extLst>
          </p:cNvPr>
          <p:cNvSpPr>
            <a:spLocks noGrp="1"/>
          </p:cNvSpPr>
          <p:nvPr>
            <p:ph type="sldNum" sz="quarter" idx="5"/>
          </p:nvPr>
        </p:nvSpPr>
        <p:spPr/>
        <p:txBody>
          <a:bodyPr/>
          <a:lstStyle/>
          <a:p>
            <a:fld id="{CBF2D149-660E-DB4C-85B3-052C72DEFE4D}" type="slidenum">
              <a:rPr kumimoji="1" lang="zh-TW" altLang="en-US" smtClean="0"/>
              <a:t>24</a:t>
            </a:fld>
            <a:endParaRPr kumimoji="1" lang="zh-TW" altLang="en-US"/>
          </a:p>
        </p:txBody>
      </p:sp>
    </p:spTree>
    <p:extLst>
      <p:ext uri="{BB962C8B-B14F-4D97-AF65-F5344CB8AC3E}">
        <p14:creationId xmlns:p14="http://schemas.microsoft.com/office/powerpoint/2010/main" val="3517792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24086-23F8-E61A-A447-90D01D70257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4CC0E97-D43B-396E-A0BC-0FB396614ED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588EA39-53C7-7A48-6B12-816EBCA8D5C7}"/>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B9306300-F078-DCE7-FB3A-9931818CB642}"/>
              </a:ext>
            </a:extLst>
          </p:cNvPr>
          <p:cNvSpPr>
            <a:spLocks noGrp="1"/>
          </p:cNvSpPr>
          <p:nvPr>
            <p:ph type="sldNum" sz="quarter" idx="5"/>
          </p:nvPr>
        </p:nvSpPr>
        <p:spPr/>
        <p:txBody>
          <a:bodyPr/>
          <a:lstStyle/>
          <a:p>
            <a:fld id="{CBF2D149-660E-DB4C-85B3-052C72DEFE4D}" type="slidenum">
              <a:rPr kumimoji="1" lang="zh-TW" altLang="en-US" smtClean="0"/>
              <a:t>26</a:t>
            </a:fld>
            <a:endParaRPr kumimoji="1" lang="zh-TW" altLang="en-US"/>
          </a:p>
        </p:txBody>
      </p:sp>
    </p:spTree>
    <p:extLst>
      <p:ext uri="{BB962C8B-B14F-4D97-AF65-F5344CB8AC3E}">
        <p14:creationId xmlns:p14="http://schemas.microsoft.com/office/powerpoint/2010/main" val="4025415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698D-3C5E-2ACD-8DA4-2C9769F60CC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CAEC69-5ACB-32C4-7538-3185B9FD72E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C19B837-1934-C2C0-BCF4-DE6D58829DB3}"/>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8922931C-5AB4-DB89-F7A8-71B3732106DD}"/>
              </a:ext>
            </a:extLst>
          </p:cNvPr>
          <p:cNvSpPr>
            <a:spLocks noGrp="1"/>
          </p:cNvSpPr>
          <p:nvPr>
            <p:ph type="sldNum" sz="quarter" idx="5"/>
          </p:nvPr>
        </p:nvSpPr>
        <p:spPr/>
        <p:txBody>
          <a:bodyPr/>
          <a:lstStyle/>
          <a:p>
            <a:fld id="{CBF2D149-660E-DB4C-85B3-052C72DEFE4D}" type="slidenum">
              <a:rPr kumimoji="1" lang="zh-TW" altLang="en-US" smtClean="0"/>
              <a:t>28</a:t>
            </a:fld>
            <a:endParaRPr kumimoji="1" lang="zh-TW" altLang="en-US"/>
          </a:p>
        </p:txBody>
      </p:sp>
    </p:spTree>
    <p:extLst>
      <p:ext uri="{BB962C8B-B14F-4D97-AF65-F5344CB8AC3E}">
        <p14:creationId xmlns:p14="http://schemas.microsoft.com/office/powerpoint/2010/main" val="1422985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AEE5977-1A01-F24C-99A8-18E1473A506D}"/>
              </a:ext>
            </a:extLst>
          </p:cNvPr>
          <p:cNvPicPr>
            <a:picLocks noChangeAspect="1"/>
          </p:cNvPicPr>
          <p:nvPr userDrawn="1"/>
        </p:nvPicPr>
        <p:blipFill>
          <a:blip r:embed="rId2"/>
          <a:stretch>
            <a:fillRect/>
          </a:stretch>
        </p:blipFill>
        <p:spPr>
          <a:xfrm>
            <a:off x="0" y="6096"/>
            <a:ext cx="9144000" cy="6851904"/>
          </a:xfrm>
          <a:prstGeom prst="rect">
            <a:avLst/>
          </a:prstGeom>
        </p:spPr>
      </p:pic>
      <p:sp>
        <p:nvSpPr>
          <p:cNvPr id="2" name="标题 1">
            <a:extLst>
              <a:ext uri="{FF2B5EF4-FFF2-40B4-BE49-F238E27FC236}">
                <a16:creationId xmlns:a16="http://schemas.microsoft.com/office/drawing/2014/main" id="{224015CA-4C3A-214E-80AF-6A988D65AEF4}"/>
              </a:ext>
            </a:extLst>
          </p:cNvPr>
          <p:cNvSpPr>
            <a:spLocks noGrp="1"/>
          </p:cNvSpPr>
          <p:nvPr>
            <p:ph type="title"/>
          </p:nvPr>
        </p:nvSpPr>
        <p:spPr>
          <a:xfrm>
            <a:off x="415999" y="2693657"/>
            <a:ext cx="7792336" cy="969260"/>
          </a:xfrm>
        </p:spPr>
        <p:txBody>
          <a:bodyPr>
            <a:normAutofit/>
          </a:bodyPr>
          <a:lstStyle>
            <a:lvl1pPr>
              <a:defRPr sz="3200" b="1">
                <a:solidFill>
                  <a:schemeClr val="bg1">
                    <a:lumMod val="50000"/>
                  </a:schemeClr>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4" name="文本占位符 3">
            <a:extLst>
              <a:ext uri="{FF2B5EF4-FFF2-40B4-BE49-F238E27FC236}">
                <a16:creationId xmlns:a16="http://schemas.microsoft.com/office/drawing/2014/main" id="{CB246130-5F95-354C-BF5A-4447A4C61027}"/>
              </a:ext>
            </a:extLst>
          </p:cNvPr>
          <p:cNvSpPr>
            <a:spLocks noGrp="1"/>
          </p:cNvSpPr>
          <p:nvPr>
            <p:ph type="body" sz="quarter" idx="10"/>
          </p:nvPr>
        </p:nvSpPr>
        <p:spPr>
          <a:xfrm>
            <a:off x="415999" y="3540605"/>
            <a:ext cx="4251694" cy="414708"/>
          </a:xfrm>
        </p:spPr>
        <p:txBody>
          <a:bodyPr>
            <a:noAutofit/>
          </a:bodyPr>
          <a:lstStyle>
            <a:lvl1pPr marL="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1pPr>
            <a:lvl2pPr marL="4572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2pPr>
            <a:lvl3pPr marL="9144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3pPr>
            <a:lvl4pPr marL="13716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4pPr>
            <a:lvl5pPr marL="18288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p:txBody>
      </p:sp>
      <p:sp>
        <p:nvSpPr>
          <p:cNvPr id="6" name="文本占位符 3">
            <a:extLst>
              <a:ext uri="{FF2B5EF4-FFF2-40B4-BE49-F238E27FC236}">
                <a16:creationId xmlns:a16="http://schemas.microsoft.com/office/drawing/2014/main" id="{A5FDE8E5-AA9F-544A-A399-E31CEE426AD9}"/>
              </a:ext>
            </a:extLst>
          </p:cNvPr>
          <p:cNvSpPr>
            <a:spLocks noGrp="1"/>
          </p:cNvSpPr>
          <p:nvPr>
            <p:ph type="body" sz="quarter" idx="11"/>
          </p:nvPr>
        </p:nvSpPr>
        <p:spPr>
          <a:xfrm>
            <a:off x="415999" y="5592689"/>
            <a:ext cx="4251694" cy="414708"/>
          </a:xfrm>
        </p:spPr>
        <p:txBody>
          <a:bodyPr>
            <a:noAutofit/>
          </a:bodyPr>
          <a:lstStyle>
            <a:lvl1pPr marL="285750" indent="-285750">
              <a:buClr>
                <a:srgbClr val="002060"/>
              </a:buClr>
              <a:buSzPct val="90000"/>
              <a:buFont typeface="Wingdings" pitchFamily="2" charset="2"/>
              <a:buChar char="l"/>
              <a:defRPr sz="1200">
                <a:solidFill>
                  <a:schemeClr val="bg1">
                    <a:lumMod val="50000"/>
                  </a:schemeClr>
                </a:solidFill>
                <a:latin typeface="Microsoft YaHei" panose="020B0503020204020204" pitchFamily="34" charset="-122"/>
                <a:ea typeface="Microsoft YaHei" panose="020B0503020204020204" pitchFamily="34" charset="-122"/>
              </a:defRPr>
            </a:lvl1pPr>
            <a:lvl2pPr marL="4572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2pPr>
            <a:lvl3pPr marL="9144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3pPr>
            <a:lvl4pPr marL="13716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4pPr>
            <a:lvl5pPr marL="18288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p:txBody>
      </p:sp>
      <p:sp>
        <p:nvSpPr>
          <p:cNvPr id="8" name="文本占位符 3">
            <a:extLst>
              <a:ext uri="{FF2B5EF4-FFF2-40B4-BE49-F238E27FC236}">
                <a16:creationId xmlns:a16="http://schemas.microsoft.com/office/drawing/2014/main" id="{61522A91-DDA3-7C47-ADBB-26A3A7086BEE}"/>
              </a:ext>
            </a:extLst>
          </p:cNvPr>
          <p:cNvSpPr>
            <a:spLocks noGrp="1"/>
          </p:cNvSpPr>
          <p:nvPr>
            <p:ph type="body" sz="quarter" idx="12"/>
          </p:nvPr>
        </p:nvSpPr>
        <p:spPr>
          <a:xfrm>
            <a:off x="415999" y="5896079"/>
            <a:ext cx="4251694" cy="414708"/>
          </a:xfrm>
        </p:spPr>
        <p:txBody>
          <a:bodyPr>
            <a:noAutofit/>
          </a:bodyPr>
          <a:lstStyle>
            <a:lvl1pPr marL="285750" indent="-285750">
              <a:buClr>
                <a:srgbClr val="7030A0"/>
              </a:buClr>
              <a:buSzPct val="90000"/>
              <a:buFont typeface="Wingdings" pitchFamily="2" charset="2"/>
              <a:buChar char="l"/>
              <a:defRPr sz="1200">
                <a:solidFill>
                  <a:schemeClr val="bg1">
                    <a:lumMod val="50000"/>
                  </a:schemeClr>
                </a:solidFill>
                <a:latin typeface="Microsoft YaHei" panose="020B0503020204020204" pitchFamily="34" charset="-122"/>
                <a:ea typeface="Microsoft YaHei" panose="020B0503020204020204" pitchFamily="34" charset="-122"/>
              </a:defRPr>
            </a:lvl1pPr>
            <a:lvl2pPr marL="4572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2pPr>
            <a:lvl3pPr marL="9144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3pPr>
            <a:lvl4pPr marL="13716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4pPr>
            <a:lvl5pPr marL="18288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p:txBody>
      </p:sp>
    </p:spTree>
    <p:extLst>
      <p:ext uri="{BB962C8B-B14F-4D97-AF65-F5344CB8AC3E}">
        <p14:creationId xmlns:p14="http://schemas.microsoft.com/office/powerpoint/2010/main" val="3876025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2DC7918-3791-C941-BD7B-0E8582CD2A82}"/>
              </a:ext>
            </a:extLst>
          </p:cNvPr>
          <p:cNvPicPr>
            <a:picLocks noChangeAspect="1"/>
          </p:cNvPicPr>
          <p:nvPr userDrawn="1"/>
        </p:nvPicPr>
        <p:blipFill>
          <a:blip r:embed="rId2"/>
          <a:stretch>
            <a:fillRect/>
          </a:stretch>
        </p:blipFill>
        <p:spPr>
          <a:xfrm>
            <a:off x="0" y="0"/>
            <a:ext cx="9144000" cy="6851904"/>
          </a:xfrm>
          <a:prstGeom prst="rect">
            <a:avLst/>
          </a:prstGeom>
        </p:spPr>
      </p:pic>
      <p:sp>
        <p:nvSpPr>
          <p:cNvPr id="2" name="标题 1">
            <a:extLst>
              <a:ext uri="{FF2B5EF4-FFF2-40B4-BE49-F238E27FC236}">
                <a16:creationId xmlns:a16="http://schemas.microsoft.com/office/drawing/2014/main" id="{9BDE692A-B36C-6A4F-B93F-3F99BD1BC768}"/>
              </a:ext>
            </a:extLst>
          </p:cNvPr>
          <p:cNvSpPr>
            <a:spLocks noGrp="1"/>
          </p:cNvSpPr>
          <p:nvPr>
            <p:ph type="title" hasCustomPrompt="1"/>
          </p:nvPr>
        </p:nvSpPr>
        <p:spPr>
          <a:xfrm>
            <a:off x="469162" y="854225"/>
            <a:ext cx="1508495" cy="772558"/>
          </a:xfrm>
        </p:spPr>
        <p:txBody>
          <a:bodyPr>
            <a:normAutofit/>
          </a:bodyPr>
          <a:lstStyle>
            <a:lvl1pPr>
              <a:defRPr sz="2000" b="1" i="1">
                <a:solidFill>
                  <a:schemeClr val="bg1">
                    <a:lumMod val="50000"/>
                  </a:schemeClr>
                </a:solidFill>
                <a:latin typeface="Microsoft YaHei" panose="020B0503020204020204" pitchFamily="34" charset="-122"/>
                <a:ea typeface="Microsoft YaHei" panose="020B0503020204020204" pitchFamily="34" charset="-122"/>
              </a:defRPr>
            </a:lvl1pPr>
          </a:lstStyle>
          <a:p>
            <a:r>
              <a:rPr kumimoji="1" lang="zh-CN" altLang="en-US" dirty="0"/>
              <a:t>目录</a:t>
            </a:r>
          </a:p>
        </p:txBody>
      </p:sp>
      <p:sp>
        <p:nvSpPr>
          <p:cNvPr id="4" name="文本占位符 3">
            <a:extLst>
              <a:ext uri="{FF2B5EF4-FFF2-40B4-BE49-F238E27FC236}">
                <a16:creationId xmlns:a16="http://schemas.microsoft.com/office/drawing/2014/main" id="{291F7AB6-C922-874D-9A60-BE61928A5417}"/>
              </a:ext>
            </a:extLst>
          </p:cNvPr>
          <p:cNvSpPr>
            <a:spLocks noGrp="1"/>
          </p:cNvSpPr>
          <p:nvPr>
            <p:ph type="body" sz="quarter" idx="10" hasCustomPrompt="1"/>
          </p:nvPr>
        </p:nvSpPr>
        <p:spPr>
          <a:xfrm>
            <a:off x="447896" y="1446121"/>
            <a:ext cx="2987343" cy="361323"/>
          </a:xfrm>
        </p:spPr>
        <p:txBody>
          <a:bodyPr>
            <a:noAutofit/>
          </a:bodyPr>
          <a:lstStyle>
            <a:lvl1pPr marL="0" indent="0">
              <a:buFontTx/>
              <a:buNone/>
              <a:defRPr sz="1400" b="1" i="1">
                <a:solidFill>
                  <a:schemeClr val="bg1">
                    <a:lumMod val="50000"/>
                  </a:schemeClr>
                </a:solidFill>
                <a:latin typeface="Microsoft YaHei" panose="020B0503020204020204" pitchFamily="34" charset="-122"/>
                <a:ea typeface="Microsoft YaHei" panose="020B0503020204020204" pitchFamily="34" charset="-122"/>
              </a:defRPr>
            </a:lvl1pPr>
            <a:lvl2pPr marL="4572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2pPr>
            <a:lvl3pPr marL="9144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3pPr>
            <a:lvl4pPr marL="13716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4pPr>
            <a:lvl5pPr marL="18288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5pPr>
          </a:lstStyle>
          <a:p>
            <a:pPr lvl="0"/>
            <a:r>
              <a:rPr kumimoji="1" lang="en-US" altLang="zh-CN" dirty="0"/>
              <a:t>CONTENT</a:t>
            </a:r>
            <a:endParaRPr kumimoji="1" lang="zh-CN" altLang="en-US" dirty="0"/>
          </a:p>
        </p:txBody>
      </p:sp>
      <p:sp>
        <p:nvSpPr>
          <p:cNvPr id="9" name="文本占位符 8">
            <a:extLst>
              <a:ext uri="{FF2B5EF4-FFF2-40B4-BE49-F238E27FC236}">
                <a16:creationId xmlns:a16="http://schemas.microsoft.com/office/drawing/2014/main" id="{6D8CB140-06BF-7643-9C4D-80E105F20E99}"/>
              </a:ext>
            </a:extLst>
          </p:cNvPr>
          <p:cNvSpPr>
            <a:spLocks noGrp="1"/>
          </p:cNvSpPr>
          <p:nvPr>
            <p:ph type="body" sz="quarter" idx="11"/>
          </p:nvPr>
        </p:nvSpPr>
        <p:spPr>
          <a:xfrm>
            <a:off x="3019831" y="3210460"/>
            <a:ext cx="4369797" cy="2775670"/>
          </a:xfrm>
        </p:spPr>
        <p:txBody>
          <a:bodyPr>
            <a:normAutofit/>
          </a:bodyPr>
          <a:lstStyle>
            <a:lvl1pPr marL="228600" indent="-228600">
              <a:lnSpc>
                <a:spcPts val="4060"/>
              </a:lnSpc>
              <a:spcBef>
                <a:spcPts val="0"/>
              </a:spcBef>
              <a:buClr>
                <a:srgbClr val="002060"/>
              </a:buClr>
              <a:buSzPct val="90000"/>
              <a:buFont typeface="Wingdings" pitchFamily="2" charset="2"/>
              <a:buChar char="l"/>
              <a:defRPr sz="1800">
                <a:solidFill>
                  <a:schemeClr val="bg1">
                    <a:lumMod val="50000"/>
                  </a:schemeClr>
                </a:solidFill>
                <a:latin typeface="Microsoft YaHei" panose="020B0503020204020204" pitchFamily="34" charset="-122"/>
                <a:ea typeface="Microsoft YaHei" panose="020B0503020204020204" pitchFamily="34" charset="-122"/>
              </a:defRPr>
            </a:lvl1pPr>
          </a:lstStyle>
          <a:p>
            <a:pPr lvl="0"/>
            <a:r>
              <a:rPr kumimoji="1" lang="zh-CN" altLang="en-US" dirty="0"/>
              <a:t>单击此处编辑母版文本样式</a:t>
            </a:r>
          </a:p>
          <a:p>
            <a:pPr lvl="0"/>
            <a:r>
              <a:rPr kumimoji="1" lang="zh-CN" altLang="en-US" dirty="0"/>
              <a:t>单击此处编辑母版文本样式</a:t>
            </a:r>
          </a:p>
          <a:p>
            <a:pPr lvl="0"/>
            <a:r>
              <a:rPr kumimoji="1" lang="zh-CN" altLang="en-US" dirty="0"/>
              <a:t>单击此处编辑母版文本样式</a:t>
            </a:r>
            <a:endParaRPr kumimoji="1" lang="en-US" altLang="zh-CN" dirty="0"/>
          </a:p>
          <a:p>
            <a:pPr lvl="0"/>
            <a:r>
              <a:rPr kumimoji="1" lang="zh-CN" altLang="en-US" dirty="0"/>
              <a:t>单击此处编辑母版文本样式</a:t>
            </a:r>
          </a:p>
        </p:txBody>
      </p:sp>
    </p:spTree>
    <p:extLst>
      <p:ext uri="{BB962C8B-B14F-4D97-AF65-F5344CB8AC3E}">
        <p14:creationId xmlns:p14="http://schemas.microsoft.com/office/powerpoint/2010/main" val="3427596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DF64DDA-11BF-9240-B902-C5F426330E37}"/>
              </a:ext>
            </a:extLst>
          </p:cNvPr>
          <p:cNvPicPr>
            <a:picLocks noChangeAspect="1"/>
          </p:cNvPicPr>
          <p:nvPr userDrawn="1"/>
        </p:nvPicPr>
        <p:blipFill>
          <a:blip r:embed="rId2"/>
          <a:stretch>
            <a:fillRect/>
          </a:stretch>
        </p:blipFill>
        <p:spPr>
          <a:xfrm>
            <a:off x="0" y="0"/>
            <a:ext cx="9144000" cy="6851904"/>
          </a:xfrm>
          <a:prstGeom prst="rect">
            <a:avLst/>
          </a:prstGeom>
        </p:spPr>
      </p:pic>
      <p:sp>
        <p:nvSpPr>
          <p:cNvPr id="7" name="标题 6">
            <a:extLst>
              <a:ext uri="{FF2B5EF4-FFF2-40B4-BE49-F238E27FC236}">
                <a16:creationId xmlns:a16="http://schemas.microsoft.com/office/drawing/2014/main" id="{B3B8A07B-5CD8-7948-8D32-7BF6A1690F9E}"/>
              </a:ext>
            </a:extLst>
          </p:cNvPr>
          <p:cNvSpPr>
            <a:spLocks noGrp="1"/>
          </p:cNvSpPr>
          <p:nvPr>
            <p:ph type="title"/>
          </p:nvPr>
        </p:nvSpPr>
        <p:spPr>
          <a:xfrm>
            <a:off x="352203" y="822328"/>
            <a:ext cx="5038504" cy="942678"/>
          </a:xfrm>
        </p:spPr>
        <p:txBody>
          <a:bodyPr>
            <a:normAutofit/>
          </a:bodyPr>
          <a:lstStyle>
            <a:lvl1pPr>
              <a:defRPr sz="2000" i="1">
                <a:solidFill>
                  <a:schemeClr val="bg1">
                    <a:lumMod val="50000"/>
                  </a:schemeClr>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Tree>
    <p:extLst>
      <p:ext uri="{BB962C8B-B14F-4D97-AF65-F5344CB8AC3E}">
        <p14:creationId xmlns:p14="http://schemas.microsoft.com/office/powerpoint/2010/main" val="2218299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AD444D46-CD4A-DD49-BB09-DAC517CF1373}"/>
              </a:ext>
            </a:extLst>
          </p:cNvPr>
          <p:cNvPicPr>
            <a:picLocks noChangeAspect="1"/>
          </p:cNvPicPr>
          <p:nvPr userDrawn="1"/>
        </p:nvPicPr>
        <p:blipFill>
          <a:blip r:embed="rId2"/>
          <a:stretch>
            <a:fillRect/>
          </a:stretch>
        </p:blipFill>
        <p:spPr>
          <a:xfrm>
            <a:off x="0" y="3048"/>
            <a:ext cx="9144000" cy="6851904"/>
          </a:xfrm>
          <a:prstGeom prst="rect">
            <a:avLst/>
          </a:prstGeom>
        </p:spPr>
      </p:pic>
      <p:sp>
        <p:nvSpPr>
          <p:cNvPr id="2" name="标题 1">
            <a:extLst>
              <a:ext uri="{FF2B5EF4-FFF2-40B4-BE49-F238E27FC236}">
                <a16:creationId xmlns:a16="http://schemas.microsoft.com/office/drawing/2014/main" id="{80B4D1C7-01D3-9D4B-A3DE-E12A0E5CB92A}"/>
              </a:ext>
            </a:extLst>
          </p:cNvPr>
          <p:cNvSpPr>
            <a:spLocks noGrp="1"/>
          </p:cNvSpPr>
          <p:nvPr>
            <p:ph type="title"/>
          </p:nvPr>
        </p:nvSpPr>
        <p:spPr>
          <a:xfrm>
            <a:off x="415999" y="2661759"/>
            <a:ext cx="7886700" cy="1325563"/>
          </a:xfrm>
        </p:spPr>
        <p:txBody>
          <a:bodyPr>
            <a:normAutofit/>
          </a:bodyPr>
          <a:lstStyle>
            <a:lvl1pPr>
              <a:defRPr sz="3200" b="1" i="1">
                <a:solidFill>
                  <a:schemeClr val="bg1">
                    <a:lumMod val="50000"/>
                  </a:schemeClr>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Tree>
    <p:extLst>
      <p:ext uri="{BB962C8B-B14F-4D97-AF65-F5344CB8AC3E}">
        <p14:creationId xmlns:p14="http://schemas.microsoft.com/office/powerpoint/2010/main" val="295369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D9B58CC-3321-C549-8FEC-D762B71A7D30}"/>
              </a:ext>
            </a:extLst>
          </p:cNvPr>
          <p:cNvPicPr>
            <a:picLocks noChangeAspect="1"/>
          </p:cNvPicPr>
          <p:nvPr userDrawn="1"/>
        </p:nvPicPr>
        <p:blipFill>
          <a:blip r:embed="rId2"/>
          <a:stretch>
            <a:fillRect/>
          </a:stretch>
        </p:blipFill>
        <p:spPr>
          <a:xfrm>
            <a:off x="0" y="6096"/>
            <a:ext cx="9144000" cy="6851904"/>
          </a:xfrm>
          <a:prstGeom prst="rect">
            <a:avLst/>
          </a:prstGeom>
        </p:spPr>
      </p:pic>
      <p:sp>
        <p:nvSpPr>
          <p:cNvPr id="7" name="标题 1">
            <a:extLst>
              <a:ext uri="{FF2B5EF4-FFF2-40B4-BE49-F238E27FC236}">
                <a16:creationId xmlns:a16="http://schemas.microsoft.com/office/drawing/2014/main" id="{1A0938EC-69E1-2046-8156-E89906E75B0A}"/>
              </a:ext>
            </a:extLst>
          </p:cNvPr>
          <p:cNvSpPr>
            <a:spLocks noGrp="1"/>
          </p:cNvSpPr>
          <p:nvPr>
            <p:ph type="title"/>
          </p:nvPr>
        </p:nvSpPr>
        <p:spPr>
          <a:xfrm>
            <a:off x="415999" y="2693657"/>
            <a:ext cx="7792336" cy="969260"/>
          </a:xfrm>
        </p:spPr>
        <p:txBody>
          <a:bodyPr>
            <a:normAutofit/>
          </a:bodyPr>
          <a:lstStyle>
            <a:lvl1pPr>
              <a:defRPr sz="3200" b="1">
                <a:solidFill>
                  <a:schemeClr val="bg1">
                    <a:lumMod val="50000"/>
                  </a:schemeClr>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8" name="文本占位符 3">
            <a:extLst>
              <a:ext uri="{FF2B5EF4-FFF2-40B4-BE49-F238E27FC236}">
                <a16:creationId xmlns:a16="http://schemas.microsoft.com/office/drawing/2014/main" id="{82E11EF7-ED6C-C643-9C1F-A4E699F46E31}"/>
              </a:ext>
            </a:extLst>
          </p:cNvPr>
          <p:cNvSpPr>
            <a:spLocks noGrp="1"/>
          </p:cNvSpPr>
          <p:nvPr>
            <p:ph type="body" sz="quarter" idx="11"/>
          </p:nvPr>
        </p:nvSpPr>
        <p:spPr>
          <a:xfrm>
            <a:off x="415999" y="5592689"/>
            <a:ext cx="4251694" cy="414708"/>
          </a:xfrm>
        </p:spPr>
        <p:txBody>
          <a:bodyPr>
            <a:noAutofit/>
          </a:bodyPr>
          <a:lstStyle>
            <a:lvl1pPr marL="0" indent="0">
              <a:buClr>
                <a:srgbClr val="002060"/>
              </a:buClr>
              <a:buSzPct val="90000"/>
              <a:buFontTx/>
              <a:buNone/>
              <a:defRPr sz="1200">
                <a:solidFill>
                  <a:schemeClr val="bg1">
                    <a:lumMod val="50000"/>
                  </a:schemeClr>
                </a:solidFill>
                <a:latin typeface="Microsoft YaHei" panose="020B0503020204020204" pitchFamily="34" charset="-122"/>
                <a:ea typeface="Microsoft YaHei" panose="020B0503020204020204" pitchFamily="34" charset="-122"/>
              </a:defRPr>
            </a:lvl1pPr>
            <a:lvl2pPr marL="4572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2pPr>
            <a:lvl3pPr marL="9144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3pPr>
            <a:lvl4pPr marL="13716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4pPr>
            <a:lvl5pPr marL="18288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p:txBody>
      </p:sp>
      <p:sp>
        <p:nvSpPr>
          <p:cNvPr id="9" name="文本占位符 3">
            <a:extLst>
              <a:ext uri="{FF2B5EF4-FFF2-40B4-BE49-F238E27FC236}">
                <a16:creationId xmlns:a16="http://schemas.microsoft.com/office/drawing/2014/main" id="{879FEAAC-6F17-D34A-ACA2-AB5D12251B38}"/>
              </a:ext>
            </a:extLst>
          </p:cNvPr>
          <p:cNvSpPr>
            <a:spLocks noGrp="1"/>
          </p:cNvSpPr>
          <p:nvPr>
            <p:ph type="body" sz="quarter" idx="12"/>
          </p:nvPr>
        </p:nvSpPr>
        <p:spPr>
          <a:xfrm>
            <a:off x="415999" y="3540605"/>
            <a:ext cx="4251694" cy="414708"/>
          </a:xfrm>
        </p:spPr>
        <p:txBody>
          <a:bodyPr>
            <a:noAutofit/>
          </a:bodyPr>
          <a:lstStyle>
            <a:lvl1pPr marL="0" indent="0">
              <a:buClr>
                <a:srgbClr val="002060"/>
              </a:buClr>
              <a:buSzPct val="90000"/>
              <a:buFontTx/>
              <a:buNone/>
              <a:defRPr sz="1200">
                <a:solidFill>
                  <a:schemeClr val="bg1">
                    <a:lumMod val="50000"/>
                  </a:schemeClr>
                </a:solidFill>
                <a:latin typeface="Microsoft YaHei" panose="020B0503020204020204" pitchFamily="34" charset="-122"/>
                <a:ea typeface="Microsoft YaHei" panose="020B0503020204020204" pitchFamily="34" charset="-122"/>
              </a:defRPr>
            </a:lvl1pPr>
            <a:lvl2pPr marL="4572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2pPr>
            <a:lvl3pPr marL="9144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3pPr>
            <a:lvl4pPr marL="13716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4pPr>
            <a:lvl5pPr marL="1828800" indent="0">
              <a:buFontTx/>
              <a:buNone/>
              <a:defRPr sz="1400">
                <a:solidFill>
                  <a:schemeClr val="bg1">
                    <a:lumMod val="50000"/>
                  </a:schemeClr>
                </a:solidFill>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p:txBody>
      </p:sp>
      <p:sp>
        <p:nvSpPr>
          <p:cNvPr id="11" name="图片占位符 10">
            <a:extLst>
              <a:ext uri="{FF2B5EF4-FFF2-40B4-BE49-F238E27FC236}">
                <a16:creationId xmlns:a16="http://schemas.microsoft.com/office/drawing/2014/main" id="{D9C74443-C3EC-D44E-83D6-9295FDA19D2F}"/>
              </a:ext>
            </a:extLst>
          </p:cNvPr>
          <p:cNvSpPr>
            <a:spLocks noGrp="1"/>
          </p:cNvSpPr>
          <p:nvPr>
            <p:ph type="pic" sz="quarter" idx="13" hasCustomPrompt="1"/>
          </p:nvPr>
        </p:nvSpPr>
        <p:spPr>
          <a:xfrm>
            <a:off x="415999" y="4091228"/>
            <a:ext cx="1243013" cy="1288846"/>
          </a:xfrm>
        </p:spPr>
        <p:txBody>
          <a:bodyPr>
            <a:normAutofit/>
          </a:bodyPr>
          <a:lstStyle>
            <a:lvl1pPr marL="0" indent="0">
              <a:buFontTx/>
              <a:buNone/>
              <a:defRPr sz="1100">
                <a:solidFill>
                  <a:schemeClr val="bg1">
                    <a:lumMod val="50000"/>
                  </a:schemeClr>
                </a:solidFill>
                <a:latin typeface="Microsoft YaHei" panose="020B0503020204020204" pitchFamily="34" charset="-122"/>
                <a:ea typeface="Microsoft YaHei" panose="020B0503020204020204" pitchFamily="34" charset="-122"/>
              </a:defRPr>
            </a:lvl1pPr>
          </a:lstStyle>
          <a:p>
            <a:r>
              <a:rPr kumimoji="1" lang="zh-CN" altLang="en-US" dirty="0"/>
              <a:t> 二维码</a:t>
            </a:r>
          </a:p>
        </p:txBody>
      </p:sp>
    </p:spTree>
    <p:extLst>
      <p:ext uri="{BB962C8B-B14F-4D97-AF65-F5344CB8AC3E}">
        <p14:creationId xmlns:p14="http://schemas.microsoft.com/office/powerpoint/2010/main" val="370052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238352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2705536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1000468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392487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6" name="Footer Placeholder 5"/>
          <p:cNvSpPr>
            <a:spLocks noGrp="1"/>
          </p:cNvSpPr>
          <p:nvPr>
            <p:ph type="ftr" sz="quarter" idx="11"/>
          </p:nvPr>
        </p:nvSpPr>
        <p:spPr/>
        <p:txBody>
          <a:bodyPr/>
          <a:lstStyle/>
          <a:p>
            <a:endParaRPr kumimoji="1" lang="zh-CN" altLang="en-US" dirty="0"/>
          </a:p>
        </p:txBody>
      </p:sp>
      <p:sp>
        <p:nvSpPr>
          <p:cNvPr id="7" name="Slide Number Placeholder 6"/>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2495903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2903915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2672183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1DA23A8-6A09-7A4E-8DF7-6B8C5F2D83C7}" type="datetimeFigureOut">
              <a:rPr kumimoji="1" lang="zh-CN" altLang="en-US" smtClean="0"/>
              <a:t>2026/7/2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849439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DA23A8-6A09-7A4E-8DF7-6B8C5F2D83C7}" type="datetimeFigureOut">
              <a:rPr kumimoji="1" lang="zh-CN" altLang="en-US" smtClean="0"/>
              <a:t>2026/7/2</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AC9A4-5080-8644-940D-377D037E5EDC}" type="slidenum">
              <a:rPr kumimoji="1" lang="zh-CN" altLang="en-US" smtClean="0"/>
              <a:t>‹#›</a:t>
            </a:fld>
            <a:endParaRPr kumimoji="1" lang="zh-CN" altLang="en-US"/>
          </a:p>
        </p:txBody>
      </p:sp>
    </p:spTree>
    <p:extLst>
      <p:ext uri="{BB962C8B-B14F-4D97-AF65-F5344CB8AC3E}">
        <p14:creationId xmlns:p14="http://schemas.microsoft.com/office/powerpoint/2010/main" val="42928729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7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F4B35B-66C1-FA41-A6B7-972E94224EC4}"/>
              </a:ext>
            </a:extLst>
          </p:cNvPr>
          <p:cNvSpPr>
            <a:spLocks noGrp="1"/>
          </p:cNvSpPr>
          <p:nvPr>
            <p:ph type="title"/>
          </p:nvPr>
        </p:nvSpPr>
        <p:spPr/>
        <p:txBody>
          <a:bodyPr>
            <a:normAutofit/>
          </a:bodyPr>
          <a:lstStyle/>
          <a:p>
            <a:r>
              <a:rPr kumimoji="1" lang="zh-CN" altLang="en-US" sz="4400"/>
              <a:t>第五讲 </a:t>
            </a:r>
            <a:r>
              <a:rPr kumimoji="1" lang="en-US" altLang="zh-CN" sz="4400"/>
              <a:t>PCB</a:t>
            </a:r>
            <a:r>
              <a:rPr kumimoji="1" lang="zh-CN" altLang="en-US" sz="4400"/>
              <a:t>原理与</a:t>
            </a:r>
            <a:r>
              <a:rPr kumimoji="1" lang="en-US" altLang="zh-CN" sz="4400"/>
              <a:t>EDA</a:t>
            </a:r>
            <a:r>
              <a:rPr kumimoji="1" lang="zh-CN" altLang="en-US" sz="4400"/>
              <a:t>使用</a:t>
            </a:r>
            <a:endParaRPr kumimoji="1" lang="zh-CN" altLang="en-US" sz="4400" dirty="0"/>
          </a:p>
        </p:txBody>
      </p:sp>
      <p:sp>
        <p:nvSpPr>
          <p:cNvPr id="3" name="文本占位符 2">
            <a:extLst>
              <a:ext uri="{FF2B5EF4-FFF2-40B4-BE49-F238E27FC236}">
                <a16:creationId xmlns:a16="http://schemas.microsoft.com/office/drawing/2014/main" id="{6C71F4D2-B9DE-5E4E-AF03-C6037654A10D}"/>
              </a:ext>
            </a:extLst>
          </p:cNvPr>
          <p:cNvSpPr>
            <a:spLocks noGrp="1"/>
          </p:cNvSpPr>
          <p:nvPr>
            <p:ph type="body" sz="quarter" idx="10"/>
          </p:nvPr>
        </p:nvSpPr>
        <p:spPr>
          <a:xfrm>
            <a:off x="415998" y="3540605"/>
            <a:ext cx="6708702" cy="414708"/>
          </a:xfrm>
        </p:spPr>
        <p:txBody>
          <a:bodyPr/>
          <a:lstStyle/>
          <a:p>
            <a:r>
              <a:rPr kumimoji="1" lang="zh-CN" altLang="en-US" sz="2000" dirty="0"/>
              <a:t>责任助教：无</a:t>
            </a:r>
            <a:r>
              <a:rPr kumimoji="1" lang="en-US" altLang="zh-CN" sz="2000" dirty="0"/>
              <a:t>47</a:t>
            </a:r>
            <a:r>
              <a:rPr kumimoji="1" lang="zh-CN" altLang="en-US" sz="2000" dirty="0"/>
              <a:t> 李泊衡 </a:t>
            </a:r>
            <a:r>
              <a:rPr kumimoji="1" lang="en-US" altLang="zh-CN" sz="2000" dirty="0"/>
              <a:t>lbh24@mails.tsinghua.edu.cn</a:t>
            </a:r>
            <a:endParaRPr kumimoji="1" lang="zh-CN" altLang="en-US" sz="2000" dirty="0"/>
          </a:p>
        </p:txBody>
      </p:sp>
      <p:sp>
        <p:nvSpPr>
          <p:cNvPr id="6" name="文本框 5">
            <a:extLst>
              <a:ext uri="{FF2B5EF4-FFF2-40B4-BE49-F238E27FC236}">
                <a16:creationId xmlns:a16="http://schemas.microsoft.com/office/drawing/2014/main" id="{0E1031C9-92B6-0695-9202-9B728C238D61}"/>
              </a:ext>
            </a:extLst>
          </p:cNvPr>
          <p:cNvSpPr txBox="1"/>
          <p:nvPr/>
        </p:nvSpPr>
        <p:spPr>
          <a:xfrm>
            <a:off x="2858086" y="6429511"/>
            <a:ext cx="3427827" cy="338554"/>
          </a:xfrm>
          <a:prstGeom prst="rect">
            <a:avLst/>
          </a:prstGeom>
          <a:noFill/>
        </p:spPr>
        <p:txBody>
          <a:bodyPr wrap="square" rtlCol="0">
            <a:spAutoFit/>
          </a:bodyPr>
          <a:lstStyle/>
          <a:p>
            <a:pPr algn="ctr"/>
            <a:r>
              <a:rPr lang="en-US" altLang="zh-CN" sz="1600" b="1" dirty="0">
                <a:solidFill>
                  <a:schemeClr val="bg1"/>
                </a:solidFill>
              </a:rPr>
              <a:t>《</a:t>
            </a:r>
            <a:r>
              <a:rPr lang="zh-CN" altLang="en-US" sz="1600" b="1" dirty="0">
                <a:solidFill>
                  <a:schemeClr val="bg1"/>
                </a:solidFill>
              </a:rPr>
              <a:t>电子系统专题设计与制作</a:t>
            </a:r>
            <a:r>
              <a:rPr lang="en-US" altLang="zh-CN" sz="1600" b="1" dirty="0">
                <a:solidFill>
                  <a:schemeClr val="bg1"/>
                </a:solidFill>
              </a:rPr>
              <a:t>》</a:t>
            </a:r>
            <a:endParaRPr lang="zh-CN" altLang="en-US" sz="1600" b="1" dirty="0">
              <a:solidFill>
                <a:schemeClr val="bg1"/>
              </a:solidFill>
            </a:endParaRPr>
          </a:p>
        </p:txBody>
      </p:sp>
    </p:spTree>
    <p:extLst>
      <p:ext uri="{BB962C8B-B14F-4D97-AF65-F5344CB8AC3E}">
        <p14:creationId xmlns:p14="http://schemas.microsoft.com/office/powerpoint/2010/main" val="550113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CABA1-8BAC-4C48-B2DB-C9A729E3932A}"/>
              </a:ext>
            </a:extLst>
          </p:cNvPr>
          <p:cNvSpPr>
            <a:spLocks noGrp="1"/>
          </p:cNvSpPr>
          <p:nvPr>
            <p:ph type="title"/>
          </p:nvPr>
        </p:nvSpPr>
        <p:spPr/>
        <p:txBody>
          <a:bodyPr>
            <a:normAutofit/>
          </a:bodyPr>
          <a:lstStyle/>
          <a:p>
            <a:r>
              <a:rPr kumimoji="1" lang="en-US" altLang="zh-CN" sz="4400" i="0" dirty="0"/>
              <a:t>01</a:t>
            </a:r>
            <a:r>
              <a:rPr kumimoji="1" lang="zh-CN" altLang="en-US" sz="4400" i="0" dirty="0"/>
              <a:t> 什么是</a:t>
            </a:r>
            <a:r>
              <a:rPr kumimoji="1" lang="en-US" altLang="zh-CN" sz="4400" i="0" dirty="0"/>
              <a:t>PCB</a:t>
            </a:r>
            <a:r>
              <a:rPr kumimoji="1" lang="zh-CN" altLang="en-US" sz="4400" i="0" dirty="0"/>
              <a:t>？</a:t>
            </a:r>
          </a:p>
        </p:txBody>
      </p:sp>
    </p:spTree>
    <p:extLst>
      <p:ext uri="{BB962C8B-B14F-4D97-AF65-F5344CB8AC3E}">
        <p14:creationId xmlns:p14="http://schemas.microsoft.com/office/powerpoint/2010/main" val="2296084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D19C6-74B1-4C4D-BF09-C7B480766BFC}"/>
              </a:ext>
            </a:extLst>
          </p:cNvPr>
          <p:cNvSpPr>
            <a:spLocks noGrp="1"/>
          </p:cNvSpPr>
          <p:nvPr>
            <p:ph type="title"/>
          </p:nvPr>
        </p:nvSpPr>
        <p:spPr>
          <a:xfrm>
            <a:off x="352203" y="937846"/>
            <a:ext cx="5038504" cy="709562"/>
          </a:xfrm>
        </p:spPr>
        <p:txBody>
          <a:bodyPr>
            <a:noAutofit/>
          </a:bodyPr>
          <a:lstStyle/>
          <a:p>
            <a:r>
              <a:rPr kumimoji="1" lang="zh-CN" altLang="en-US" sz="4400" b="1" i="0" dirty="0"/>
              <a:t>从</a:t>
            </a:r>
            <a:r>
              <a:rPr kumimoji="1" lang="zh-TW" altLang="en-US" sz="4400" b="1" i="0" dirty="0"/>
              <a:t>面包板到</a:t>
            </a:r>
            <a:r>
              <a:rPr kumimoji="1" lang="en-US" altLang="zh-TW" sz="4400" b="1" i="0" dirty="0"/>
              <a:t>PCB</a:t>
            </a:r>
            <a:endParaRPr kumimoji="1" lang="zh-CN" altLang="en-US" sz="4400" b="1" i="0" dirty="0"/>
          </a:p>
        </p:txBody>
      </p:sp>
      <p:pic>
        <p:nvPicPr>
          <p:cNvPr id="5" name="圖片 4">
            <a:extLst>
              <a:ext uri="{FF2B5EF4-FFF2-40B4-BE49-F238E27FC236}">
                <a16:creationId xmlns:a16="http://schemas.microsoft.com/office/drawing/2014/main" id="{49ED6870-A988-1390-F302-5E289E57214A}"/>
              </a:ext>
            </a:extLst>
          </p:cNvPr>
          <p:cNvPicPr>
            <a:picLocks noChangeAspect="1"/>
          </p:cNvPicPr>
          <p:nvPr/>
        </p:nvPicPr>
        <p:blipFill>
          <a:blip r:embed="rId3"/>
          <a:stretch>
            <a:fillRect/>
          </a:stretch>
        </p:blipFill>
        <p:spPr>
          <a:xfrm>
            <a:off x="261259" y="4144580"/>
            <a:ext cx="3779994" cy="2430157"/>
          </a:xfrm>
          <a:prstGeom prst="rect">
            <a:avLst/>
          </a:prstGeom>
        </p:spPr>
      </p:pic>
      <p:pic>
        <p:nvPicPr>
          <p:cNvPr id="6" name="圖片 5">
            <a:extLst>
              <a:ext uri="{FF2B5EF4-FFF2-40B4-BE49-F238E27FC236}">
                <a16:creationId xmlns:a16="http://schemas.microsoft.com/office/drawing/2014/main" id="{F989BC1E-1895-4428-0AD1-D7A3F3DAED83}"/>
              </a:ext>
            </a:extLst>
          </p:cNvPr>
          <p:cNvPicPr>
            <a:picLocks noChangeAspect="1"/>
          </p:cNvPicPr>
          <p:nvPr/>
        </p:nvPicPr>
        <p:blipFill>
          <a:blip r:embed="rId4"/>
          <a:stretch>
            <a:fillRect/>
          </a:stretch>
        </p:blipFill>
        <p:spPr>
          <a:xfrm>
            <a:off x="1799844" y="1668604"/>
            <a:ext cx="5544312" cy="2026449"/>
          </a:xfrm>
          <a:prstGeom prst="rect">
            <a:avLst/>
          </a:prstGeom>
        </p:spPr>
      </p:pic>
      <p:pic>
        <p:nvPicPr>
          <p:cNvPr id="8" name="圖片 7">
            <a:extLst>
              <a:ext uri="{FF2B5EF4-FFF2-40B4-BE49-F238E27FC236}">
                <a16:creationId xmlns:a16="http://schemas.microsoft.com/office/drawing/2014/main" id="{53E64082-E182-206A-2BE9-C19CC96E63AB}"/>
              </a:ext>
            </a:extLst>
          </p:cNvPr>
          <p:cNvPicPr>
            <a:picLocks noChangeAspect="1"/>
          </p:cNvPicPr>
          <p:nvPr/>
        </p:nvPicPr>
        <p:blipFill>
          <a:blip r:embed="rId5"/>
          <a:stretch>
            <a:fillRect/>
          </a:stretch>
        </p:blipFill>
        <p:spPr>
          <a:xfrm>
            <a:off x="5102748" y="4122738"/>
            <a:ext cx="3779993" cy="2451999"/>
          </a:xfrm>
          <a:prstGeom prst="rect">
            <a:avLst/>
          </a:prstGeom>
        </p:spPr>
      </p:pic>
      <p:sp>
        <p:nvSpPr>
          <p:cNvPr id="9" name="文本框 3">
            <a:extLst>
              <a:ext uri="{FF2B5EF4-FFF2-40B4-BE49-F238E27FC236}">
                <a16:creationId xmlns:a16="http://schemas.microsoft.com/office/drawing/2014/main" id="{E77D7D1F-30BB-41C2-2556-B23BD7EC3388}"/>
              </a:ext>
            </a:extLst>
          </p:cNvPr>
          <p:cNvSpPr txBox="1"/>
          <p:nvPr/>
        </p:nvSpPr>
        <p:spPr>
          <a:xfrm>
            <a:off x="580619" y="3661073"/>
            <a:ext cx="31412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面包板适合初步验证</a:t>
            </a:r>
          </a:p>
        </p:txBody>
      </p:sp>
      <p:sp>
        <p:nvSpPr>
          <p:cNvPr id="10" name="文本框 3">
            <a:extLst>
              <a:ext uri="{FF2B5EF4-FFF2-40B4-BE49-F238E27FC236}">
                <a16:creationId xmlns:a16="http://schemas.microsoft.com/office/drawing/2014/main" id="{1E46D840-9FF1-2ED0-4C58-1321B66FBAE9}"/>
              </a:ext>
            </a:extLst>
          </p:cNvPr>
          <p:cNvSpPr txBox="1"/>
          <p:nvPr/>
        </p:nvSpPr>
        <p:spPr>
          <a:xfrm>
            <a:off x="5422109" y="3661072"/>
            <a:ext cx="3141274" cy="461665"/>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PCB</a:t>
            </a:r>
            <a:r>
              <a:rPr lang="zh-CN" altLang="en-US" sz="2400" dirty="0">
                <a:latin typeface="微软雅黑" panose="020B0503020204020204" pitchFamily="34" charset="-122"/>
                <a:ea typeface="微软雅黑" panose="020B0503020204020204" pitchFamily="34" charset="-122"/>
              </a:rPr>
              <a:t>板适合批量生产</a:t>
            </a:r>
          </a:p>
        </p:txBody>
      </p:sp>
      <p:sp>
        <p:nvSpPr>
          <p:cNvPr id="11" name="文本框 3">
            <a:extLst>
              <a:ext uri="{FF2B5EF4-FFF2-40B4-BE49-F238E27FC236}">
                <a16:creationId xmlns:a16="http://schemas.microsoft.com/office/drawing/2014/main" id="{627A9BCF-7B85-C605-A5DB-3278BCF7F609}"/>
              </a:ext>
            </a:extLst>
          </p:cNvPr>
          <p:cNvSpPr txBox="1"/>
          <p:nvPr/>
        </p:nvSpPr>
        <p:spPr>
          <a:xfrm>
            <a:off x="580619" y="1719990"/>
            <a:ext cx="3141274" cy="461665"/>
          </a:xfrm>
          <a:prstGeom prst="rect">
            <a:avLst/>
          </a:prstGeom>
          <a:noFill/>
        </p:spPr>
        <p:txBody>
          <a:bodyPr wrap="square" rtlCol="0">
            <a:spAutoFit/>
          </a:bodyPr>
          <a:lstStyle/>
          <a:p>
            <a:r>
              <a:rPr lang="zh-TW" altLang="en-US" sz="2400" dirty="0">
                <a:latin typeface="微软雅黑" panose="020B0503020204020204" pitchFamily="34" charset="-122"/>
                <a:ea typeface="微软雅黑" panose="020B0503020204020204" pitchFamily="34" charset="-122"/>
              </a:rPr>
              <a:t>原理图</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0534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A9EB4-0D7D-8F2B-EF1D-B338729410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F1CAD61-7D18-51F8-149D-7DDF02FF7AF4}"/>
              </a:ext>
            </a:extLst>
          </p:cNvPr>
          <p:cNvSpPr>
            <a:spLocks noGrp="1"/>
          </p:cNvSpPr>
          <p:nvPr>
            <p:ph type="title"/>
          </p:nvPr>
        </p:nvSpPr>
        <p:spPr>
          <a:xfrm>
            <a:off x="352202" y="937846"/>
            <a:ext cx="8623355" cy="709562"/>
          </a:xfrm>
        </p:spPr>
        <p:txBody>
          <a:bodyPr>
            <a:noAutofit/>
          </a:bodyPr>
          <a:lstStyle/>
          <a:p>
            <a:r>
              <a:rPr kumimoji="1" lang="en-US" altLang="zh-TW" sz="4400" b="1" i="0" dirty="0"/>
              <a:t>PCB</a:t>
            </a:r>
            <a:r>
              <a:rPr kumimoji="1" lang="zh-CN" altLang="en-US" sz="4400" b="1" i="0" dirty="0"/>
              <a:t>（</a:t>
            </a:r>
            <a:r>
              <a:rPr kumimoji="1" lang="en-US" altLang="zh-CN" sz="4400" b="1" i="0" dirty="0"/>
              <a:t>Printed</a:t>
            </a:r>
            <a:r>
              <a:rPr kumimoji="1" lang="zh-CN" altLang="en-US" sz="4400" b="1" i="0" dirty="0"/>
              <a:t> </a:t>
            </a:r>
            <a:r>
              <a:rPr kumimoji="1" lang="en-US" altLang="zh-CN" sz="4400" b="1" i="0" dirty="0"/>
              <a:t>Circuit Board</a:t>
            </a:r>
            <a:r>
              <a:rPr kumimoji="1" lang="zh-CN" altLang="en-US" sz="4400" b="1" i="0" dirty="0"/>
              <a:t>）</a:t>
            </a:r>
          </a:p>
        </p:txBody>
      </p:sp>
      <p:sp>
        <p:nvSpPr>
          <p:cNvPr id="9" name="文本框 3">
            <a:extLst>
              <a:ext uri="{FF2B5EF4-FFF2-40B4-BE49-F238E27FC236}">
                <a16:creationId xmlns:a16="http://schemas.microsoft.com/office/drawing/2014/main" id="{4289822B-5094-298D-8510-C1495EC1E51E}"/>
              </a:ext>
            </a:extLst>
          </p:cNvPr>
          <p:cNvSpPr txBox="1"/>
          <p:nvPr/>
        </p:nvSpPr>
        <p:spPr>
          <a:xfrm>
            <a:off x="580618" y="2269348"/>
            <a:ext cx="3245424" cy="4154984"/>
          </a:xfrm>
          <a:prstGeom prst="rect">
            <a:avLst/>
          </a:prstGeom>
          <a:noFill/>
        </p:spPr>
        <p:txBody>
          <a:bodyPr wrap="square" rtlCol="0">
            <a:spAutoFit/>
          </a:bodyPr>
          <a:lstStyle/>
          <a:p>
            <a:r>
              <a:rPr lang="en-US" altLang="zh-CN" sz="2000" dirty="0">
                <a:solidFill>
                  <a:srgbClr val="7030A0"/>
                </a:solidFill>
                <a:latin typeface="微软雅黑" panose="020B0503020204020204" pitchFamily="34" charset="-122"/>
                <a:ea typeface="微软雅黑" panose="020B0503020204020204" pitchFamily="34" charset="-122"/>
              </a:rPr>
              <a:t>-</a:t>
            </a:r>
            <a:r>
              <a:rPr lang="zh-CN" altLang="en-US" sz="2000" dirty="0">
                <a:solidFill>
                  <a:srgbClr val="7030A0"/>
                </a:solidFill>
                <a:latin typeface="微软雅黑" panose="020B0503020204020204" pitchFamily="34" charset="-122"/>
                <a:ea typeface="微软雅黑" panose="020B0503020204020204" pitchFamily="34" charset="-122"/>
              </a:rPr>
              <a:t> 机械连接</a:t>
            </a:r>
            <a:r>
              <a:rPr lang="zh-CN" altLang="en-US" sz="2000" dirty="0">
                <a:latin typeface="微软雅黑" panose="020B0503020204020204" pitchFamily="34" charset="-122"/>
                <a:ea typeface="微软雅黑" panose="020B0503020204020204" pitchFamily="34" charset="-122"/>
              </a:rPr>
              <a:t>：为电阻、电容、芯片等电子元器件提供稳固的装配支撑，保障器件布局合理。</a:t>
            </a:r>
            <a:endParaRPr lang="en-US" altLang="zh-CN" sz="2000" dirty="0">
              <a:latin typeface="微软雅黑" panose="020B0503020204020204" pitchFamily="34" charset="-122"/>
              <a:ea typeface="微软雅黑" panose="020B0503020204020204" pitchFamily="34" charset="-122"/>
            </a:endParaRPr>
          </a:p>
          <a:p>
            <a:endParaRPr lang="en-US" altLang="zh-CN" sz="2000" dirty="0">
              <a:solidFill>
                <a:srgbClr val="7030A0"/>
              </a:solidFill>
              <a:latin typeface="微软雅黑" panose="020B0503020204020204" pitchFamily="34" charset="-122"/>
              <a:ea typeface="微软雅黑" panose="020B0503020204020204" pitchFamily="34" charset="-122"/>
            </a:endParaRPr>
          </a:p>
          <a:p>
            <a:r>
              <a:rPr lang="en-US" altLang="zh-CN" sz="2000" dirty="0">
                <a:solidFill>
                  <a:srgbClr val="7030A0"/>
                </a:solidFill>
                <a:latin typeface="微软雅黑" panose="020B0503020204020204" pitchFamily="34" charset="-122"/>
                <a:ea typeface="微软雅黑" panose="020B0503020204020204" pitchFamily="34" charset="-122"/>
              </a:rPr>
              <a:t>-</a:t>
            </a:r>
            <a:r>
              <a:rPr lang="zh-CN" altLang="en-US" sz="2000" dirty="0">
                <a:solidFill>
                  <a:srgbClr val="7030A0"/>
                </a:solidFill>
                <a:latin typeface="微软雅黑" panose="020B0503020204020204" pitchFamily="34" charset="-122"/>
                <a:ea typeface="微软雅黑" panose="020B0503020204020204" pitchFamily="34" charset="-122"/>
              </a:rPr>
              <a:t> 电气连接</a:t>
            </a:r>
            <a:r>
              <a:rPr lang="zh-CN" altLang="en-US" sz="2000" dirty="0">
                <a:latin typeface="微软雅黑" panose="020B0503020204020204" pitchFamily="34" charset="-122"/>
                <a:ea typeface="微软雅黑" panose="020B0503020204020204" pitchFamily="34" charset="-122"/>
              </a:rPr>
              <a:t>：承担电流与信号在元器件间有序流转，实现做功、放大、调制、解调等功能。</a:t>
            </a:r>
            <a:endParaRPr lang="en-US" altLang="zh-CN" sz="2000" dirty="0">
              <a:latin typeface="微软雅黑" panose="020B0503020204020204" pitchFamily="34" charset="-122"/>
              <a:ea typeface="微软雅黑" panose="020B0503020204020204" pitchFamily="34" charset="-122"/>
            </a:endParaRPr>
          </a:p>
          <a:p>
            <a:endParaRPr lang="en-US" altLang="zh-CN" sz="2000" dirty="0">
              <a:solidFill>
                <a:srgbClr val="7030A0"/>
              </a:solidFill>
              <a:latin typeface="微软雅黑" panose="020B0503020204020204" pitchFamily="34" charset="-122"/>
              <a:ea typeface="微软雅黑" panose="020B0503020204020204" pitchFamily="34" charset="-122"/>
            </a:endParaRPr>
          </a:p>
          <a:p>
            <a:r>
              <a:rPr lang="en-US" altLang="zh-CN" sz="2000" dirty="0">
                <a:solidFill>
                  <a:srgbClr val="7030A0"/>
                </a:solidFill>
                <a:latin typeface="微软雅黑" panose="020B0503020204020204" pitchFamily="34" charset="-122"/>
                <a:ea typeface="微软雅黑" panose="020B0503020204020204" pitchFamily="34" charset="-122"/>
              </a:rPr>
              <a:t>-</a:t>
            </a:r>
            <a:r>
              <a:rPr lang="zh-TW" altLang="en-US" sz="2000" dirty="0">
                <a:solidFill>
                  <a:srgbClr val="7030A0"/>
                </a:solidFill>
                <a:latin typeface="微软雅黑" panose="020B0503020204020204" pitchFamily="34" charset="-122"/>
                <a:ea typeface="微软雅黑" panose="020B0503020204020204" pitchFamily="34" charset="-122"/>
              </a:rPr>
              <a:t>‌</a:t>
            </a:r>
            <a:r>
              <a:rPr lang="zh-CN" altLang="en-US" sz="2000" dirty="0">
                <a:solidFill>
                  <a:srgbClr val="7030A0"/>
                </a:solidFill>
                <a:latin typeface="微软雅黑" panose="020B0503020204020204" pitchFamily="34" charset="-122"/>
                <a:ea typeface="微软雅黑" panose="020B0503020204020204" pitchFamily="34" charset="-122"/>
              </a:rPr>
              <a:t> </a:t>
            </a:r>
            <a:r>
              <a:rPr lang="zh-TW" altLang="en-US" sz="2000" dirty="0">
                <a:solidFill>
                  <a:srgbClr val="7030A0"/>
                </a:solidFill>
                <a:latin typeface="微软雅黑" panose="020B0503020204020204" pitchFamily="34" charset="-122"/>
                <a:ea typeface="微软雅黑" panose="020B0503020204020204" pitchFamily="34" charset="-122"/>
              </a:rPr>
              <a:t>简化装配</a:t>
            </a:r>
            <a:r>
              <a:rPr lang="zh-TW" altLang="en-US"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：代替复杂布线，减小接线工作量，提升电子设备质量和可靠性。</a:t>
            </a:r>
            <a:r>
              <a:rPr lang="zh-CN" altLang="en-US" sz="2400" dirty="0">
                <a:latin typeface="微软雅黑" panose="020B0503020204020204" pitchFamily="34" charset="-122"/>
                <a:ea typeface="微软雅黑" panose="020B0503020204020204" pitchFamily="34" charset="-122"/>
              </a:rPr>
              <a:t>‌‌</a:t>
            </a:r>
          </a:p>
        </p:txBody>
      </p:sp>
      <p:sp>
        <p:nvSpPr>
          <p:cNvPr id="11" name="文本框 3">
            <a:extLst>
              <a:ext uri="{FF2B5EF4-FFF2-40B4-BE49-F238E27FC236}">
                <a16:creationId xmlns:a16="http://schemas.microsoft.com/office/drawing/2014/main" id="{585BE60C-4F85-54DB-0839-7E1F1D714F2A}"/>
              </a:ext>
            </a:extLst>
          </p:cNvPr>
          <p:cNvSpPr txBox="1"/>
          <p:nvPr/>
        </p:nvSpPr>
        <p:spPr>
          <a:xfrm>
            <a:off x="580619" y="1780148"/>
            <a:ext cx="31412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主要功能</a:t>
            </a:r>
          </a:p>
        </p:txBody>
      </p:sp>
      <p:pic>
        <p:nvPicPr>
          <p:cNvPr id="3" name="圖片 2">
            <a:extLst>
              <a:ext uri="{FF2B5EF4-FFF2-40B4-BE49-F238E27FC236}">
                <a16:creationId xmlns:a16="http://schemas.microsoft.com/office/drawing/2014/main" id="{E3477096-ADB7-CAF4-9B4D-2C9FC826BFA3}"/>
              </a:ext>
            </a:extLst>
          </p:cNvPr>
          <p:cNvPicPr>
            <a:picLocks noChangeAspect="1"/>
          </p:cNvPicPr>
          <p:nvPr/>
        </p:nvPicPr>
        <p:blipFill>
          <a:blip r:embed="rId3"/>
          <a:stretch>
            <a:fillRect/>
          </a:stretch>
        </p:blipFill>
        <p:spPr>
          <a:xfrm>
            <a:off x="3826042" y="2269348"/>
            <a:ext cx="5317958" cy="3854115"/>
          </a:xfrm>
          <a:prstGeom prst="rect">
            <a:avLst/>
          </a:prstGeom>
        </p:spPr>
      </p:pic>
    </p:spTree>
    <p:extLst>
      <p:ext uri="{BB962C8B-B14F-4D97-AF65-F5344CB8AC3E}">
        <p14:creationId xmlns:p14="http://schemas.microsoft.com/office/powerpoint/2010/main" val="529565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C8F5E-9628-5ABE-6210-991C00C557D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1B66DF-8BF2-2F7C-3C3D-8FCAF8B1886F}"/>
              </a:ext>
            </a:extLst>
          </p:cNvPr>
          <p:cNvSpPr>
            <a:spLocks noGrp="1"/>
          </p:cNvSpPr>
          <p:nvPr>
            <p:ph type="title"/>
          </p:nvPr>
        </p:nvSpPr>
        <p:spPr>
          <a:xfrm>
            <a:off x="352202" y="937846"/>
            <a:ext cx="8623355" cy="709562"/>
          </a:xfrm>
        </p:spPr>
        <p:txBody>
          <a:bodyPr>
            <a:noAutofit/>
          </a:bodyPr>
          <a:lstStyle/>
          <a:p>
            <a:r>
              <a:rPr kumimoji="1" lang="en-US" altLang="zh-TW" sz="4400" b="1" i="0" dirty="0"/>
              <a:t>PCB</a:t>
            </a:r>
            <a:r>
              <a:rPr kumimoji="1" lang="zh-TW" altLang="en-US" sz="4400" b="1" i="0" dirty="0"/>
              <a:t>层数</a:t>
            </a:r>
            <a:endParaRPr kumimoji="1" lang="zh-CN" altLang="en-US" sz="4400" b="1" i="0" dirty="0"/>
          </a:p>
        </p:txBody>
      </p:sp>
      <p:sp>
        <p:nvSpPr>
          <p:cNvPr id="11" name="文本框 3">
            <a:extLst>
              <a:ext uri="{FF2B5EF4-FFF2-40B4-BE49-F238E27FC236}">
                <a16:creationId xmlns:a16="http://schemas.microsoft.com/office/drawing/2014/main" id="{498968CF-A6EA-91F7-46C2-F28A0F543D18}"/>
              </a:ext>
            </a:extLst>
          </p:cNvPr>
          <p:cNvSpPr txBox="1"/>
          <p:nvPr/>
        </p:nvSpPr>
        <p:spPr>
          <a:xfrm>
            <a:off x="580619" y="1780148"/>
            <a:ext cx="31412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双层板</a:t>
            </a:r>
          </a:p>
        </p:txBody>
      </p:sp>
      <p:pic>
        <p:nvPicPr>
          <p:cNvPr id="4" name="圖片 3">
            <a:extLst>
              <a:ext uri="{FF2B5EF4-FFF2-40B4-BE49-F238E27FC236}">
                <a16:creationId xmlns:a16="http://schemas.microsoft.com/office/drawing/2014/main" id="{A9365CC0-0C07-00AF-E04D-C422806C1699}"/>
              </a:ext>
            </a:extLst>
          </p:cNvPr>
          <p:cNvPicPr>
            <a:picLocks noChangeAspect="1"/>
          </p:cNvPicPr>
          <p:nvPr/>
        </p:nvPicPr>
        <p:blipFill>
          <a:blip r:embed="rId3"/>
          <a:stretch>
            <a:fillRect/>
          </a:stretch>
        </p:blipFill>
        <p:spPr>
          <a:xfrm>
            <a:off x="39007" y="2374553"/>
            <a:ext cx="5510328" cy="3678341"/>
          </a:xfrm>
          <a:prstGeom prst="rect">
            <a:avLst/>
          </a:prstGeom>
        </p:spPr>
      </p:pic>
      <p:pic>
        <p:nvPicPr>
          <p:cNvPr id="6" name="圖片 5">
            <a:extLst>
              <a:ext uri="{FF2B5EF4-FFF2-40B4-BE49-F238E27FC236}">
                <a16:creationId xmlns:a16="http://schemas.microsoft.com/office/drawing/2014/main" id="{D43F5822-5E2C-C87A-AF58-59B577501A23}"/>
              </a:ext>
            </a:extLst>
          </p:cNvPr>
          <p:cNvPicPr>
            <a:picLocks noChangeAspect="1"/>
          </p:cNvPicPr>
          <p:nvPr/>
        </p:nvPicPr>
        <p:blipFill>
          <a:blip r:embed="rId4"/>
          <a:stretch>
            <a:fillRect/>
          </a:stretch>
        </p:blipFill>
        <p:spPr>
          <a:xfrm>
            <a:off x="5790638" y="1292627"/>
            <a:ext cx="3141274" cy="2238490"/>
          </a:xfrm>
          <a:prstGeom prst="rect">
            <a:avLst/>
          </a:prstGeom>
        </p:spPr>
      </p:pic>
      <p:pic>
        <p:nvPicPr>
          <p:cNvPr id="7" name="圖片 6">
            <a:extLst>
              <a:ext uri="{FF2B5EF4-FFF2-40B4-BE49-F238E27FC236}">
                <a16:creationId xmlns:a16="http://schemas.microsoft.com/office/drawing/2014/main" id="{5B46BD87-EA75-4802-AD34-78E6DE37985E}"/>
              </a:ext>
            </a:extLst>
          </p:cNvPr>
          <p:cNvPicPr>
            <a:picLocks noChangeAspect="1"/>
          </p:cNvPicPr>
          <p:nvPr/>
        </p:nvPicPr>
        <p:blipFill>
          <a:blip r:embed="rId5"/>
          <a:stretch>
            <a:fillRect/>
          </a:stretch>
        </p:blipFill>
        <p:spPr>
          <a:xfrm>
            <a:off x="5654650" y="3681664"/>
            <a:ext cx="3353363" cy="2238490"/>
          </a:xfrm>
          <a:prstGeom prst="rect">
            <a:avLst/>
          </a:prstGeom>
        </p:spPr>
      </p:pic>
      <p:sp>
        <p:nvSpPr>
          <p:cNvPr id="8" name="文本框 3">
            <a:extLst>
              <a:ext uri="{FF2B5EF4-FFF2-40B4-BE49-F238E27FC236}">
                <a16:creationId xmlns:a16="http://schemas.microsoft.com/office/drawing/2014/main" id="{3D606697-7C1C-4082-4249-A6BF58A2CFCC}"/>
              </a:ext>
            </a:extLst>
          </p:cNvPr>
          <p:cNvSpPr txBox="1"/>
          <p:nvPr/>
        </p:nvSpPr>
        <p:spPr>
          <a:xfrm>
            <a:off x="5746993" y="830962"/>
            <a:ext cx="31412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多层板</a:t>
            </a:r>
          </a:p>
        </p:txBody>
      </p:sp>
    </p:spTree>
    <p:extLst>
      <p:ext uri="{BB962C8B-B14F-4D97-AF65-F5344CB8AC3E}">
        <p14:creationId xmlns:p14="http://schemas.microsoft.com/office/powerpoint/2010/main" val="118345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D0DD3-31FD-169C-7916-86454A16DD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61CC0C-31B7-A5B2-74D9-CFADD4AE77EB}"/>
              </a:ext>
            </a:extLst>
          </p:cNvPr>
          <p:cNvSpPr>
            <a:spLocks noGrp="1"/>
          </p:cNvSpPr>
          <p:nvPr>
            <p:ph type="title"/>
          </p:nvPr>
        </p:nvSpPr>
        <p:spPr/>
        <p:txBody>
          <a:bodyPr>
            <a:normAutofit/>
          </a:bodyPr>
          <a:lstStyle/>
          <a:p>
            <a:r>
              <a:rPr kumimoji="1" lang="en-US" altLang="zh-CN" sz="4400" i="0" dirty="0"/>
              <a:t>02</a:t>
            </a:r>
            <a:r>
              <a:rPr kumimoji="1" lang="zh-CN" altLang="en-US" sz="4400" i="0" dirty="0"/>
              <a:t> 从电路图到</a:t>
            </a:r>
            <a:r>
              <a:rPr kumimoji="1" lang="en-US" altLang="zh-CN" sz="4400" i="0" dirty="0"/>
              <a:t>PCB</a:t>
            </a:r>
            <a:endParaRPr kumimoji="1" lang="zh-CN" altLang="en-US" sz="4400" i="0" dirty="0"/>
          </a:p>
        </p:txBody>
      </p:sp>
    </p:spTree>
    <p:extLst>
      <p:ext uri="{BB962C8B-B14F-4D97-AF65-F5344CB8AC3E}">
        <p14:creationId xmlns:p14="http://schemas.microsoft.com/office/powerpoint/2010/main" val="3497827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7D4A0-99A0-9C9B-0C42-DB32A54332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F39837E-08F7-23CF-FD8C-42F04C93695D}"/>
              </a:ext>
            </a:extLst>
          </p:cNvPr>
          <p:cNvSpPr>
            <a:spLocks noGrp="1"/>
          </p:cNvSpPr>
          <p:nvPr>
            <p:ph type="title"/>
          </p:nvPr>
        </p:nvSpPr>
        <p:spPr>
          <a:xfrm>
            <a:off x="352202" y="937846"/>
            <a:ext cx="8623355" cy="709562"/>
          </a:xfrm>
        </p:spPr>
        <p:txBody>
          <a:bodyPr>
            <a:noAutofit/>
          </a:bodyPr>
          <a:lstStyle/>
          <a:p>
            <a:r>
              <a:rPr kumimoji="1" lang="zh-TW" altLang="en-US" sz="4400" b="1" i="0" dirty="0"/>
              <a:t>设计流程</a:t>
            </a:r>
            <a:endParaRPr kumimoji="1" lang="zh-CN" altLang="en-US" sz="4400" b="1" i="0" dirty="0"/>
          </a:p>
        </p:txBody>
      </p:sp>
      <p:sp>
        <p:nvSpPr>
          <p:cNvPr id="3" name="圓角矩形 2">
            <a:extLst>
              <a:ext uri="{FF2B5EF4-FFF2-40B4-BE49-F238E27FC236}">
                <a16:creationId xmlns:a16="http://schemas.microsoft.com/office/drawing/2014/main" id="{D51A97D0-2044-576A-B96D-E9AD8D2F102F}"/>
              </a:ext>
            </a:extLst>
          </p:cNvPr>
          <p:cNvSpPr/>
          <p:nvPr/>
        </p:nvSpPr>
        <p:spPr>
          <a:xfrm>
            <a:off x="436423" y="1772195"/>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本框 3">
            <a:extLst>
              <a:ext uri="{FF2B5EF4-FFF2-40B4-BE49-F238E27FC236}">
                <a16:creationId xmlns:a16="http://schemas.microsoft.com/office/drawing/2014/main" id="{7F2784A4-1B86-E917-FB15-6C3B36838C6D}"/>
              </a:ext>
            </a:extLst>
          </p:cNvPr>
          <p:cNvSpPr txBox="1"/>
          <p:nvPr/>
        </p:nvSpPr>
        <p:spPr>
          <a:xfrm>
            <a:off x="1016335" y="1852786"/>
            <a:ext cx="3141274"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需求</a:t>
            </a:r>
          </a:p>
        </p:txBody>
      </p:sp>
      <p:sp>
        <p:nvSpPr>
          <p:cNvPr id="9" name="圓角矩形 8">
            <a:extLst>
              <a:ext uri="{FF2B5EF4-FFF2-40B4-BE49-F238E27FC236}">
                <a16:creationId xmlns:a16="http://schemas.microsoft.com/office/drawing/2014/main" id="{5E7DF89D-69E8-BED7-671C-3493DE2396DA}"/>
              </a:ext>
            </a:extLst>
          </p:cNvPr>
          <p:cNvSpPr/>
          <p:nvPr/>
        </p:nvSpPr>
        <p:spPr>
          <a:xfrm>
            <a:off x="436423" y="3056021"/>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向下箭號 9">
            <a:extLst>
              <a:ext uri="{FF2B5EF4-FFF2-40B4-BE49-F238E27FC236}">
                <a16:creationId xmlns:a16="http://schemas.microsoft.com/office/drawing/2014/main" id="{250896E7-C91A-69A4-9000-1513E1B7B252}"/>
              </a:ext>
            </a:extLst>
          </p:cNvPr>
          <p:cNvSpPr/>
          <p:nvPr/>
        </p:nvSpPr>
        <p:spPr>
          <a:xfrm flipH="1">
            <a:off x="1120164" y="2598173"/>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文本框 3">
            <a:extLst>
              <a:ext uri="{FF2B5EF4-FFF2-40B4-BE49-F238E27FC236}">
                <a16:creationId xmlns:a16="http://schemas.microsoft.com/office/drawing/2014/main" id="{83271E0E-49BA-5709-4033-70EF4584BF63}"/>
              </a:ext>
            </a:extLst>
          </p:cNvPr>
          <p:cNvSpPr txBox="1"/>
          <p:nvPr/>
        </p:nvSpPr>
        <p:spPr>
          <a:xfrm>
            <a:off x="436423" y="3136612"/>
            <a:ext cx="3141274"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原理图设计</a:t>
            </a:r>
          </a:p>
        </p:txBody>
      </p:sp>
      <p:sp>
        <p:nvSpPr>
          <p:cNvPr id="13" name="向下箭號 12">
            <a:extLst>
              <a:ext uri="{FF2B5EF4-FFF2-40B4-BE49-F238E27FC236}">
                <a16:creationId xmlns:a16="http://schemas.microsoft.com/office/drawing/2014/main" id="{9F2014A8-A097-FF5B-3921-88435C345A39}"/>
              </a:ext>
            </a:extLst>
          </p:cNvPr>
          <p:cNvSpPr/>
          <p:nvPr/>
        </p:nvSpPr>
        <p:spPr>
          <a:xfrm flipH="1">
            <a:off x="1120164" y="3881999"/>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圓角矩形 13">
            <a:extLst>
              <a:ext uri="{FF2B5EF4-FFF2-40B4-BE49-F238E27FC236}">
                <a16:creationId xmlns:a16="http://schemas.microsoft.com/office/drawing/2014/main" id="{FD9621BC-D625-6A9F-8024-CBBBF51F54E7}"/>
              </a:ext>
            </a:extLst>
          </p:cNvPr>
          <p:cNvSpPr/>
          <p:nvPr/>
        </p:nvSpPr>
        <p:spPr>
          <a:xfrm>
            <a:off x="442105" y="4351877"/>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文本框 3">
            <a:extLst>
              <a:ext uri="{FF2B5EF4-FFF2-40B4-BE49-F238E27FC236}">
                <a16:creationId xmlns:a16="http://schemas.microsoft.com/office/drawing/2014/main" id="{91F72A2F-2C49-2EAF-D9B1-202C64CD7736}"/>
              </a:ext>
            </a:extLst>
          </p:cNvPr>
          <p:cNvSpPr txBox="1"/>
          <p:nvPr/>
        </p:nvSpPr>
        <p:spPr>
          <a:xfrm>
            <a:off x="580802" y="4420438"/>
            <a:ext cx="3141274"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元件选型</a:t>
            </a:r>
          </a:p>
        </p:txBody>
      </p:sp>
      <p:sp>
        <p:nvSpPr>
          <p:cNvPr id="16" name="圓角矩形 15">
            <a:extLst>
              <a:ext uri="{FF2B5EF4-FFF2-40B4-BE49-F238E27FC236}">
                <a16:creationId xmlns:a16="http://schemas.microsoft.com/office/drawing/2014/main" id="{8A48E1DB-EBB8-ABEA-EB9F-8D50A20B1C01}"/>
              </a:ext>
            </a:extLst>
          </p:cNvPr>
          <p:cNvSpPr/>
          <p:nvPr/>
        </p:nvSpPr>
        <p:spPr>
          <a:xfrm>
            <a:off x="436423" y="5704264"/>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向下箭號 16">
            <a:extLst>
              <a:ext uri="{FF2B5EF4-FFF2-40B4-BE49-F238E27FC236}">
                <a16:creationId xmlns:a16="http://schemas.microsoft.com/office/drawing/2014/main" id="{BED39A81-B92D-54D5-CAF9-6F3E09F45568}"/>
              </a:ext>
            </a:extLst>
          </p:cNvPr>
          <p:cNvSpPr/>
          <p:nvPr/>
        </p:nvSpPr>
        <p:spPr>
          <a:xfrm flipH="1">
            <a:off x="1120164" y="5189885"/>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文本框 3">
            <a:extLst>
              <a:ext uri="{FF2B5EF4-FFF2-40B4-BE49-F238E27FC236}">
                <a16:creationId xmlns:a16="http://schemas.microsoft.com/office/drawing/2014/main" id="{EF32C2A6-8289-F598-18C3-8995E0B35778}"/>
              </a:ext>
            </a:extLst>
          </p:cNvPr>
          <p:cNvSpPr txBox="1"/>
          <p:nvPr/>
        </p:nvSpPr>
        <p:spPr>
          <a:xfrm>
            <a:off x="580802" y="5796886"/>
            <a:ext cx="314127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PCB</a:t>
            </a:r>
            <a:r>
              <a:rPr lang="zh-CN" altLang="en-US" sz="3200" b="1" dirty="0">
                <a:solidFill>
                  <a:schemeClr val="bg1"/>
                </a:solidFill>
                <a:latin typeface="微软雅黑" panose="020B0503020204020204" pitchFamily="34" charset="-122"/>
                <a:ea typeface="微软雅黑" panose="020B0503020204020204" pitchFamily="34" charset="-122"/>
              </a:rPr>
              <a:t>布局</a:t>
            </a:r>
          </a:p>
        </p:txBody>
      </p:sp>
      <p:sp>
        <p:nvSpPr>
          <p:cNvPr id="19" name="圓角矩形 18">
            <a:extLst>
              <a:ext uri="{FF2B5EF4-FFF2-40B4-BE49-F238E27FC236}">
                <a16:creationId xmlns:a16="http://schemas.microsoft.com/office/drawing/2014/main" id="{E52ACF27-5440-A9DF-5E99-0D8292FDBB67}"/>
              </a:ext>
            </a:extLst>
          </p:cNvPr>
          <p:cNvSpPr/>
          <p:nvPr/>
        </p:nvSpPr>
        <p:spPr>
          <a:xfrm>
            <a:off x="6557030" y="5704264"/>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文本框 3">
            <a:extLst>
              <a:ext uri="{FF2B5EF4-FFF2-40B4-BE49-F238E27FC236}">
                <a16:creationId xmlns:a16="http://schemas.microsoft.com/office/drawing/2014/main" id="{CDF3AF2A-DCEA-C500-8234-B4E0C79F4B1B}"/>
              </a:ext>
            </a:extLst>
          </p:cNvPr>
          <p:cNvSpPr txBox="1"/>
          <p:nvPr/>
        </p:nvSpPr>
        <p:spPr>
          <a:xfrm>
            <a:off x="6724928" y="5796886"/>
            <a:ext cx="3141274"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PCB</a:t>
            </a:r>
            <a:r>
              <a:rPr lang="zh-CN" altLang="en-US" sz="3200" b="1" dirty="0">
                <a:solidFill>
                  <a:schemeClr val="bg1"/>
                </a:solidFill>
                <a:latin typeface="微软雅黑" panose="020B0503020204020204" pitchFamily="34" charset="-122"/>
                <a:ea typeface="微软雅黑" panose="020B0503020204020204" pitchFamily="34" charset="-122"/>
              </a:rPr>
              <a:t>布线</a:t>
            </a:r>
          </a:p>
        </p:txBody>
      </p:sp>
      <p:sp>
        <p:nvSpPr>
          <p:cNvPr id="21" name="圓角矩形 20">
            <a:extLst>
              <a:ext uri="{FF2B5EF4-FFF2-40B4-BE49-F238E27FC236}">
                <a16:creationId xmlns:a16="http://schemas.microsoft.com/office/drawing/2014/main" id="{54E60452-6C10-93ED-1701-F6DD4CD4AFA5}"/>
              </a:ext>
            </a:extLst>
          </p:cNvPr>
          <p:cNvSpPr/>
          <p:nvPr/>
        </p:nvSpPr>
        <p:spPr>
          <a:xfrm>
            <a:off x="6551348" y="4337511"/>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文本框 3">
            <a:extLst>
              <a:ext uri="{FF2B5EF4-FFF2-40B4-BE49-F238E27FC236}">
                <a16:creationId xmlns:a16="http://schemas.microsoft.com/office/drawing/2014/main" id="{857A5029-DFF9-C8A9-1BE3-DBF78A99BE49}"/>
              </a:ext>
            </a:extLst>
          </p:cNvPr>
          <p:cNvSpPr txBox="1"/>
          <p:nvPr/>
        </p:nvSpPr>
        <p:spPr>
          <a:xfrm>
            <a:off x="6724928" y="4418102"/>
            <a:ext cx="3141274" cy="584775"/>
          </a:xfrm>
          <a:prstGeom prst="rect">
            <a:avLst/>
          </a:prstGeom>
          <a:noFill/>
        </p:spPr>
        <p:txBody>
          <a:bodyPr wrap="square" rtlCol="0">
            <a:spAutoFit/>
          </a:bodyPr>
          <a:lstStyle/>
          <a:p>
            <a:r>
              <a:rPr lang="en-US" altLang="zh-TW" sz="3200" b="1" dirty="0">
                <a:solidFill>
                  <a:schemeClr val="bg1"/>
                </a:solidFill>
                <a:latin typeface="微软雅黑" panose="020B0503020204020204" pitchFamily="34" charset="-122"/>
                <a:ea typeface="微软雅黑" panose="020B0503020204020204" pitchFamily="34" charset="-122"/>
              </a:rPr>
              <a:t>DRC</a:t>
            </a:r>
            <a:r>
              <a:rPr lang="zh-TW" altLang="en-US" sz="3200" b="1" dirty="0">
                <a:solidFill>
                  <a:schemeClr val="bg1"/>
                </a:solidFill>
                <a:latin typeface="微软雅黑" panose="020B0503020204020204" pitchFamily="34" charset="-122"/>
                <a:ea typeface="微软雅黑" panose="020B0503020204020204" pitchFamily="34" charset="-122"/>
              </a:rPr>
              <a:t>检查</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3" name="圓角矩形 22">
            <a:extLst>
              <a:ext uri="{FF2B5EF4-FFF2-40B4-BE49-F238E27FC236}">
                <a16:creationId xmlns:a16="http://schemas.microsoft.com/office/drawing/2014/main" id="{B5111FE8-3C7B-09C3-9F3D-2F1F22792F4D}"/>
              </a:ext>
            </a:extLst>
          </p:cNvPr>
          <p:cNvSpPr/>
          <p:nvPr/>
        </p:nvSpPr>
        <p:spPr>
          <a:xfrm>
            <a:off x="6551347" y="3056020"/>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文本框 3">
            <a:extLst>
              <a:ext uri="{FF2B5EF4-FFF2-40B4-BE49-F238E27FC236}">
                <a16:creationId xmlns:a16="http://schemas.microsoft.com/office/drawing/2014/main" id="{22AEBC2E-62CF-2C2D-6631-B0024ACEF6BD}"/>
              </a:ext>
            </a:extLst>
          </p:cNvPr>
          <p:cNvSpPr txBox="1"/>
          <p:nvPr/>
        </p:nvSpPr>
        <p:spPr>
          <a:xfrm>
            <a:off x="6460233" y="3136612"/>
            <a:ext cx="3141274" cy="584775"/>
          </a:xfrm>
          <a:prstGeom prst="rect">
            <a:avLst/>
          </a:prstGeom>
          <a:noFill/>
        </p:spPr>
        <p:txBody>
          <a:bodyPr wrap="square" rtlCol="0">
            <a:spAutoFit/>
          </a:bodyPr>
          <a:lstStyle/>
          <a:p>
            <a:r>
              <a:rPr lang="zh-TW" altLang="en-US" sz="3200" b="1" dirty="0">
                <a:solidFill>
                  <a:schemeClr val="bg1"/>
                </a:solidFill>
                <a:latin typeface="微软雅黑" panose="020B0503020204020204" pitchFamily="34" charset="-122"/>
                <a:ea typeface="微软雅黑" panose="020B0503020204020204" pitchFamily="34" charset="-122"/>
              </a:rPr>
              <a:t>导出</a:t>
            </a:r>
            <a:r>
              <a:rPr lang="en-US" altLang="zh-TW" sz="3200" b="1" dirty="0" err="1">
                <a:solidFill>
                  <a:schemeClr val="bg1"/>
                </a:solidFill>
                <a:latin typeface="微软雅黑" panose="020B0503020204020204" pitchFamily="34" charset="-122"/>
                <a:ea typeface="微软雅黑" panose="020B0503020204020204" pitchFamily="34" charset="-122"/>
              </a:rPr>
              <a:t>gerber</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5" name="圓角矩形 24">
            <a:extLst>
              <a:ext uri="{FF2B5EF4-FFF2-40B4-BE49-F238E27FC236}">
                <a16:creationId xmlns:a16="http://schemas.microsoft.com/office/drawing/2014/main" id="{CE787E9B-BAA3-3446-D5D3-CEE997713525}"/>
              </a:ext>
            </a:extLst>
          </p:cNvPr>
          <p:cNvSpPr/>
          <p:nvPr/>
        </p:nvSpPr>
        <p:spPr>
          <a:xfrm>
            <a:off x="6551346" y="1772195"/>
            <a:ext cx="2150549" cy="745958"/>
          </a:xfrm>
          <a:prstGeom prst="roundRect">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文本框 3">
            <a:extLst>
              <a:ext uri="{FF2B5EF4-FFF2-40B4-BE49-F238E27FC236}">
                <a16:creationId xmlns:a16="http://schemas.microsoft.com/office/drawing/2014/main" id="{53A892AC-05B1-1D8B-2CB5-057C973D1394}"/>
              </a:ext>
            </a:extLst>
          </p:cNvPr>
          <p:cNvSpPr txBox="1"/>
          <p:nvPr/>
        </p:nvSpPr>
        <p:spPr>
          <a:xfrm>
            <a:off x="6724928" y="1837086"/>
            <a:ext cx="3141274" cy="584775"/>
          </a:xfrm>
          <a:prstGeom prst="rect">
            <a:avLst/>
          </a:prstGeom>
          <a:noFill/>
        </p:spPr>
        <p:txBody>
          <a:bodyPr wrap="square" rtlCol="0">
            <a:spAutoFit/>
          </a:bodyPr>
          <a:lstStyle/>
          <a:p>
            <a:r>
              <a:rPr lang="zh-TW" altLang="en-US" sz="3200" b="1" dirty="0">
                <a:solidFill>
                  <a:schemeClr val="bg1"/>
                </a:solidFill>
                <a:latin typeface="微软雅黑" panose="020B0503020204020204" pitchFamily="34" charset="-122"/>
                <a:ea typeface="微软雅黑" panose="020B0503020204020204" pitchFamily="34" charset="-122"/>
              </a:rPr>
              <a:t>打样焊接</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7" name="向下箭號 26">
            <a:extLst>
              <a:ext uri="{FF2B5EF4-FFF2-40B4-BE49-F238E27FC236}">
                <a16:creationId xmlns:a16="http://schemas.microsoft.com/office/drawing/2014/main" id="{250C0F73-EBC0-A158-0E1C-0669C900487D}"/>
              </a:ext>
            </a:extLst>
          </p:cNvPr>
          <p:cNvSpPr/>
          <p:nvPr/>
        </p:nvSpPr>
        <p:spPr>
          <a:xfrm rot="10800000" flipH="1">
            <a:off x="7235087" y="5176091"/>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 name="向下箭號 27">
            <a:extLst>
              <a:ext uri="{FF2B5EF4-FFF2-40B4-BE49-F238E27FC236}">
                <a16:creationId xmlns:a16="http://schemas.microsoft.com/office/drawing/2014/main" id="{1BF233C3-8B7C-39A9-35F3-39712BE07ECA}"/>
              </a:ext>
            </a:extLst>
          </p:cNvPr>
          <p:cNvSpPr/>
          <p:nvPr/>
        </p:nvSpPr>
        <p:spPr>
          <a:xfrm rot="10800000" flipH="1">
            <a:off x="7235086" y="3871731"/>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向下箭號 28">
            <a:extLst>
              <a:ext uri="{FF2B5EF4-FFF2-40B4-BE49-F238E27FC236}">
                <a16:creationId xmlns:a16="http://schemas.microsoft.com/office/drawing/2014/main" id="{BC7D0114-57A0-905B-6717-B58D16D420A6}"/>
              </a:ext>
            </a:extLst>
          </p:cNvPr>
          <p:cNvSpPr/>
          <p:nvPr/>
        </p:nvSpPr>
        <p:spPr>
          <a:xfrm rot="10800000" flipH="1">
            <a:off x="7235085" y="2584959"/>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向下箭號 29">
            <a:extLst>
              <a:ext uri="{FF2B5EF4-FFF2-40B4-BE49-F238E27FC236}">
                <a16:creationId xmlns:a16="http://schemas.microsoft.com/office/drawing/2014/main" id="{9822A5B7-4B9F-CB63-8934-B57029889F98}"/>
              </a:ext>
            </a:extLst>
          </p:cNvPr>
          <p:cNvSpPr/>
          <p:nvPr/>
        </p:nvSpPr>
        <p:spPr>
          <a:xfrm rot="16200000" flipH="1">
            <a:off x="4524291" y="4816953"/>
            <a:ext cx="318048" cy="25446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 name="圖片 3">
            <a:extLst>
              <a:ext uri="{FF2B5EF4-FFF2-40B4-BE49-F238E27FC236}">
                <a16:creationId xmlns:a16="http://schemas.microsoft.com/office/drawing/2014/main" id="{5FAD4294-3C6D-41AA-F9B5-106BFC5DF02E}"/>
              </a:ext>
            </a:extLst>
          </p:cNvPr>
          <p:cNvPicPr>
            <a:picLocks noChangeAspect="1"/>
          </p:cNvPicPr>
          <p:nvPr/>
        </p:nvPicPr>
        <p:blipFill>
          <a:blip r:embed="rId3"/>
          <a:stretch>
            <a:fillRect/>
          </a:stretch>
        </p:blipFill>
        <p:spPr>
          <a:xfrm>
            <a:off x="2333215" y="3771205"/>
            <a:ext cx="1961694" cy="1414924"/>
          </a:xfrm>
          <a:prstGeom prst="rect">
            <a:avLst/>
          </a:prstGeom>
        </p:spPr>
      </p:pic>
      <p:pic>
        <p:nvPicPr>
          <p:cNvPr id="6" name="圖片 5">
            <a:extLst>
              <a:ext uri="{FF2B5EF4-FFF2-40B4-BE49-F238E27FC236}">
                <a16:creationId xmlns:a16="http://schemas.microsoft.com/office/drawing/2014/main" id="{6EFE06CF-39D7-D23C-527E-4E6067754A8C}"/>
              </a:ext>
            </a:extLst>
          </p:cNvPr>
          <p:cNvPicPr>
            <a:picLocks noChangeAspect="1"/>
          </p:cNvPicPr>
          <p:nvPr/>
        </p:nvPicPr>
        <p:blipFill>
          <a:blip r:embed="rId4"/>
          <a:stretch>
            <a:fillRect/>
          </a:stretch>
        </p:blipFill>
        <p:spPr>
          <a:xfrm>
            <a:off x="5317430" y="5316980"/>
            <a:ext cx="1070574" cy="1520525"/>
          </a:xfrm>
          <a:prstGeom prst="rect">
            <a:avLst/>
          </a:prstGeom>
        </p:spPr>
      </p:pic>
      <p:pic>
        <p:nvPicPr>
          <p:cNvPr id="7" name="圖片 6">
            <a:extLst>
              <a:ext uri="{FF2B5EF4-FFF2-40B4-BE49-F238E27FC236}">
                <a16:creationId xmlns:a16="http://schemas.microsoft.com/office/drawing/2014/main" id="{BB6647DD-BC59-0E9F-F512-11CFC5593516}"/>
              </a:ext>
            </a:extLst>
          </p:cNvPr>
          <p:cNvPicPr>
            <a:picLocks noChangeAspect="1"/>
          </p:cNvPicPr>
          <p:nvPr/>
        </p:nvPicPr>
        <p:blipFill>
          <a:blip r:embed="rId5"/>
          <a:stretch>
            <a:fillRect/>
          </a:stretch>
        </p:blipFill>
        <p:spPr>
          <a:xfrm>
            <a:off x="4840218" y="1439192"/>
            <a:ext cx="1816085" cy="1725281"/>
          </a:xfrm>
          <a:prstGeom prst="rect">
            <a:avLst/>
          </a:prstGeom>
        </p:spPr>
      </p:pic>
    </p:spTree>
    <p:extLst>
      <p:ext uri="{BB962C8B-B14F-4D97-AF65-F5344CB8AC3E}">
        <p14:creationId xmlns:p14="http://schemas.microsoft.com/office/powerpoint/2010/main" val="2222893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BFA1-1D20-8FF9-CA9B-AC82A324A06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BF1FCCE-FA56-009D-9517-78D9EF14A4DE}"/>
              </a:ext>
            </a:extLst>
          </p:cNvPr>
          <p:cNvSpPr>
            <a:spLocks noGrp="1"/>
          </p:cNvSpPr>
          <p:nvPr>
            <p:ph type="title"/>
          </p:nvPr>
        </p:nvSpPr>
        <p:spPr>
          <a:xfrm>
            <a:off x="352202" y="937846"/>
            <a:ext cx="8623355" cy="709562"/>
          </a:xfrm>
        </p:spPr>
        <p:txBody>
          <a:bodyPr>
            <a:noAutofit/>
          </a:bodyPr>
          <a:lstStyle/>
          <a:p>
            <a:r>
              <a:rPr kumimoji="1" lang="zh-CN" altLang="en-US" sz="4400" b="1" i="0" dirty="0"/>
              <a:t>封装</a:t>
            </a:r>
          </a:p>
        </p:txBody>
      </p:sp>
      <p:sp>
        <p:nvSpPr>
          <p:cNvPr id="4" name="文本框 3">
            <a:extLst>
              <a:ext uri="{FF2B5EF4-FFF2-40B4-BE49-F238E27FC236}">
                <a16:creationId xmlns:a16="http://schemas.microsoft.com/office/drawing/2014/main" id="{535BB056-C2BF-569B-A948-A5D69998EA6C}"/>
              </a:ext>
            </a:extLst>
          </p:cNvPr>
          <p:cNvSpPr txBox="1"/>
          <p:nvPr/>
        </p:nvSpPr>
        <p:spPr>
          <a:xfrm>
            <a:off x="580618" y="1780148"/>
            <a:ext cx="8070087" cy="1569660"/>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       封装（</a:t>
            </a:r>
            <a:r>
              <a:rPr lang="en" altLang="zh-CN" sz="2400" dirty="0">
                <a:latin typeface="微软雅黑" panose="020B0503020204020204" pitchFamily="34" charset="-122"/>
                <a:ea typeface="微软雅黑" panose="020B0503020204020204" pitchFamily="34" charset="-122"/>
              </a:rPr>
              <a:t>Package</a:t>
            </a:r>
            <a:r>
              <a:rPr lang="zh-CN" altLang="en-US" sz="2400" dirty="0">
                <a:latin typeface="微软雅黑" panose="020B0503020204020204" pitchFamily="34" charset="-122"/>
                <a:ea typeface="微软雅黑" panose="020B0503020204020204" pitchFamily="34" charset="-122"/>
              </a:rPr>
              <a:t>）是把集成电路装配为芯片最终产品的过程，简单地说，就是把铸造厂生产出来的集成电路裸片放在一块起到承载作用的基板上，把管脚引出来，然后固定包装成为一个整体。</a:t>
            </a:r>
          </a:p>
        </p:txBody>
      </p:sp>
      <p:pic>
        <p:nvPicPr>
          <p:cNvPr id="7" name="圖片 6">
            <a:extLst>
              <a:ext uri="{FF2B5EF4-FFF2-40B4-BE49-F238E27FC236}">
                <a16:creationId xmlns:a16="http://schemas.microsoft.com/office/drawing/2014/main" id="{536B1959-437C-8CA7-F8A4-61C7FE2ADF28}"/>
              </a:ext>
            </a:extLst>
          </p:cNvPr>
          <p:cNvPicPr>
            <a:picLocks noChangeAspect="1"/>
          </p:cNvPicPr>
          <p:nvPr/>
        </p:nvPicPr>
        <p:blipFill>
          <a:blip r:embed="rId3"/>
          <a:stretch>
            <a:fillRect/>
          </a:stretch>
        </p:blipFill>
        <p:spPr>
          <a:xfrm>
            <a:off x="445503" y="4182645"/>
            <a:ext cx="2044700" cy="1308100"/>
          </a:xfrm>
          <a:prstGeom prst="rect">
            <a:avLst/>
          </a:prstGeom>
        </p:spPr>
      </p:pic>
      <p:sp>
        <p:nvSpPr>
          <p:cNvPr id="8" name="文本框 3">
            <a:extLst>
              <a:ext uri="{FF2B5EF4-FFF2-40B4-BE49-F238E27FC236}">
                <a16:creationId xmlns:a16="http://schemas.microsoft.com/office/drawing/2014/main" id="{5FF97003-F699-3D79-B3F4-335A46BB0208}"/>
              </a:ext>
            </a:extLst>
          </p:cNvPr>
          <p:cNvSpPr txBox="1"/>
          <p:nvPr/>
        </p:nvSpPr>
        <p:spPr>
          <a:xfrm>
            <a:off x="761093" y="3720980"/>
            <a:ext cx="314127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电气符号</a:t>
            </a:r>
          </a:p>
        </p:txBody>
      </p:sp>
      <p:sp>
        <p:nvSpPr>
          <p:cNvPr id="11" name="向下箭號 10">
            <a:extLst>
              <a:ext uri="{FF2B5EF4-FFF2-40B4-BE49-F238E27FC236}">
                <a16:creationId xmlns:a16="http://schemas.microsoft.com/office/drawing/2014/main" id="{85FE5C1E-6800-0D64-36BC-37B27D97817A}"/>
              </a:ext>
            </a:extLst>
          </p:cNvPr>
          <p:cNvSpPr/>
          <p:nvPr/>
        </p:nvSpPr>
        <p:spPr>
          <a:xfrm rot="16200000" flipH="1">
            <a:off x="2804753" y="4647781"/>
            <a:ext cx="783065" cy="3778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31" name="圖片 30" descr="文章配图-1">
            <a:extLst>
              <a:ext uri="{FF2B5EF4-FFF2-40B4-BE49-F238E27FC236}">
                <a16:creationId xmlns:a16="http://schemas.microsoft.com/office/drawing/2014/main" id="{7B13E535-1F24-5443-5D6D-0A86A6D0F24B}"/>
              </a:ext>
            </a:extLst>
          </p:cNvPr>
          <p:cNvPicPr>
            <a:picLocks noChangeAspect="1"/>
          </p:cNvPicPr>
          <p:nvPr/>
        </p:nvPicPr>
        <p:blipFill>
          <a:blip r:embed="rId4"/>
          <a:stretch>
            <a:fillRect/>
          </a:stretch>
        </p:blipFill>
        <p:spPr>
          <a:xfrm>
            <a:off x="3526397" y="3349808"/>
            <a:ext cx="2091208" cy="1906746"/>
          </a:xfrm>
          <a:prstGeom prst="rect">
            <a:avLst/>
          </a:prstGeom>
        </p:spPr>
      </p:pic>
      <p:sp>
        <p:nvSpPr>
          <p:cNvPr id="33" name="文字方塊 32">
            <a:extLst>
              <a:ext uri="{FF2B5EF4-FFF2-40B4-BE49-F238E27FC236}">
                <a16:creationId xmlns:a16="http://schemas.microsoft.com/office/drawing/2014/main" id="{FE99EF51-E143-5514-CFBC-B25B47646C87}"/>
              </a:ext>
            </a:extLst>
          </p:cNvPr>
          <p:cNvSpPr txBox="1"/>
          <p:nvPr/>
        </p:nvSpPr>
        <p:spPr>
          <a:xfrm>
            <a:off x="6266998" y="3225229"/>
            <a:ext cx="2947382" cy="2031325"/>
          </a:xfrm>
          <a:prstGeom prst="rect">
            <a:avLst/>
          </a:prstGeom>
          <a:noFill/>
        </p:spPr>
        <p:txBody>
          <a:bodyPr wrap="square" rtlCol="0">
            <a:spAutoFit/>
          </a:bodyPr>
          <a:lstStyle/>
          <a:p>
            <a:r>
              <a:rPr lang="zh-TW" altLang="en-US" dirty="0">
                <a:solidFill>
                  <a:srgbClr val="7030A0"/>
                </a:solidFill>
                <a:latin typeface="Heiti SC Medium" pitchFamily="2" charset="-128"/>
                <a:ea typeface="Heiti SC Medium" pitchFamily="2" charset="-128"/>
              </a:rPr>
              <a:t>直插电阻的封装</a:t>
            </a:r>
            <a:endParaRPr lang="en-US" altLang="zh-TW" dirty="0">
              <a:solidFill>
                <a:srgbClr val="7030A0"/>
              </a:solidFill>
              <a:latin typeface="Heiti SC Medium" pitchFamily="2" charset="-128"/>
              <a:ea typeface="Heiti SC Medium" pitchFamily="2" charset="-128"/>
            </a:endParaRPr>
          </a:p>
          <a:p>
            <a:r>
              <a:rPr lang="zh-TW" altLang="zh-TW" dirty="0">
                <a:latin typeface="Heiti SC Medium" pitchFamily="2" charset="-128"/>
                <a:ea typeface="Heiti SC Medium" pitchFamily="2" charset="-128"/>
              </a:rPr>
              <a:t>AXIAL0.3</a:t>
            </a:r>
            <a:r>
              <a:rPr lang="zh-CN" altLang="en-US" dirty="0">
                <a:latin typeface="Heiti SC Medium" pitchFamily="2" charset="-128"/>
                <a:ea typeface="Heiti SC Medium" pitchFamily="2" charset="-128"/>
              </a:rPr>
              <a:t>：</a:t>
            </a:r>
            <a:r>
              <a:rPr lang="zh-TW" altLang="zh-TW" dirty="0">
                <a:latin typeface="Heiti SC Medium" pitchFamily="2" charset="-128"/>
                <a:ea typeface="Heiti SC Medium" pitchFamily="2" charset="-128"/>
              </a:rPr>
              <a:t>7.6mm</a:t>
            </a:r>
          </a:p>
          <a:p>
            <a:r>
              <a:rPr lang="zh-TW" altLang="zh-TW" dirty="0">
                <a:latin typeface="Heiti SC Medium" pitchFamily="2" charset="-128"/>
                <a:ea typeface="Heiti SC Medium" pitchFamily="2" charset="-128"/>
              </a:rPr>
              <a:t>AXIAL0.4</a:t>
            </a:r>
            <a:r>
              <a:rPr lang="zh-CN" altLang="en-US" dirty="0">
                <a:latin typeface="Heiti SC Medium" pitchFamily="2" charset="-128"/>
                <a:ea typeface="Heiti SC Medium" pitchFamily="2" charset="-128"/>
              </a:rPr>
              <a:t>：</a:t>
            </a:r>
            <a:r>
              <a:rPr lang="zh-TW" altLang="zh-TW" dirty="0">
                <a:latin typeface="Heiti SC Medium" pitchFamily="2" charset="-128"/>
                <a:ea typeface="Heiti SC Medium" pitchFamily="2" charset="-128"/>
              </a:rPr>
              <a:t>10.2mm</a:t>
            </a:r>
          </a:p>
          <a:p>
            <a:r>
              <a:rPr lang="zh-TW" altLang="zh-TW" dirty="0">
                <a:latin typeface="Heiti SC Medium" pitchFamily="2" charset="-128"/>
                <a:ea typeface="Heiti SC Medium" pitchFamily="2" charset="-128"/>
              </a:rPr>
              <a:t>AXIAL0.5</a:t>
            </a:r>
            <a:r>
              <a:rPr lang="zh-CN" altLang="en-US" dirty="0">
                <a:latin typeface="Heiti SC Medium" pitchFamily="2" charset="-128"/>
                <a:ea typeface="Heiti SC Medium" pitchFamily="2" charset="-128"/>
              </a:rPr>
              <a:t>：</a:t>
            </a:r>
            <a:r>
              <a:rPr lang="zh-TW" altLang="zh-TW" dirty="0">
                <a:latin typeface="Heiti SC Medium" pitchFamily="2" charset="-128"/>
                <a:ea typeface="Heiti SC Medium" pitchFamily="2" charset="-128"/>
              </a:rPr>
              <a:t>12.7mm</a:t>
            </a:r>
          </a:p>
          <a:p>
            <a:r>
              <a:rPr lang="zh-TW" altLang="zh-TW" dirty="0">
                <a:latin typeface="Heiti SC Medium" pitchFamily="2" charset="-128"/>
                <a:ea typeface="Heiti SC Medium" pitchFamily="2" charset="-128"/>
              </a:rPr>
              <a:t>AXIAL0.6</a:t>
            </a:r>
            <a:r>
              <a:rPr lang="zh-CN" altLang="en-US" dirty="0">
                <a:latin typeface="Heiti SC Medium" pitchFamily="2" charset="-128"/>
                <a:ea typeface="Heiti SC Medium" pitchFamily="2" charset="-128"/>
              </a:rPr>
              <a:t>：</a:t>
            </a:r>
            <a:r>
              <a:rPr lang="zh-TW" altLang="zh-TW" dirty="0">
                <a:latin typeface="Heiti SC Medium" pitchFamily="2" charset="-128"/>
                <a:ea typeface="Heiti SC Medium" pitchFamily="2" charset="-128"/>
              </a:rPr>
              <a:t>15.2mm</a:t>
            </a:r>
            <a:endParaRPr lang="en-US" altLang="zh-TW" dirty="0">
              <a:latin typeface="Heiti SC Medium" pitchFamily="2" charset="-128"/>
              <a:ea typeface="Heiti SC Medium" pitchFamily="2" charset="-128"/>
            </a:endParaRPr>
          </a:p>
          <a:p>
            <a:r>
              <a:rPr lang="en-US" altLang="zh-TW" dirty="0">
                <a:latin typeface="Heiti SC Medium" pitchFamily="2" charset="-128"/>
                <a:ea typeface="Heiti SC Medium" pitchFamily="2" charset="-128"/>
              </a:rPr>
              <a:t>……</a:t>
            </a:r>
            <a:endParaRPr lang="zh-TW" altLang="zh-TW" dirty="0">
              <a:latin typeface="Heiti SC Medium" pitchFamily="2" charset="-128"/>
              <a:ea typeface="Heiti SC Medium" pitchFamily="2" charset="-128"/>
            </a:endParaRPr>
          </a:p>
          <a:p>
            <a:endParaRPr kumimoji="1" lang="zh-TW" altLang="en-US" dirty="0"/>
          </a:p>
        </p:txBody>
      </p:sp>
      <p:pic>
        <p:nvPicPr>
          <p:cNvPr id="37" name="圖片 36">
            <a:extLst>
              <a:ext uri="{FF2B5EF4-FFF2-40B4-BE49-F238E27FC236}">
                <a16:creationId xmlns:a16="http://schemas.microsoft.com/office/drawing/2014/main" id="{87303994-B04F-C467-2350-0548E12006A9}"/>
              </a:ext>
            </a:extLst>
          </p:cNvPr>
          <p:cNvPicPr>
            <a:picLocks noChangeAspect="1"/>
          </p:cNvPicPr>
          <p:nvPr/>
        </p:nvPicPr>
        <p:blipFill>
          <a:blip r:embed="rId5"/>
          <a:stretch>
            <a:fillRect/>
          </a:stretch>
        </p:blipFill>
        <p:spPr>
          <a:xfrm>
            <a:off x="5758802" y="5228228"/>
            <a:ext cx="3216755" cy="1420007"/>
          </a:xfrm>
          <a:prstGeom prst="rect">
            <a:avLst/>
          </a:prstGeom>
        </p:spPr>
      </p:pic>
      <p:sp>
        <p:nvSpPr>
          <p:cNvPr id="38" name="文字方塊 37">
            <a:extLst>
              <a:ext uri="{FF2B5EF4-FFF2-40B4-BE49-F238E27FC236}">
                <a16:creationId xmlns:a16="http://schemas.microsoft.com/office/drawing/2014/main" id="{D4952169-1221-957B-EF12-03713CFB4D5E}"/>
              </a:ext>
            </a:extLst>
          </p:cNvPr>
          <p:cNvSpPr txBox="1"/>
          <p:nvPr/>
        </p:nvSpPr>
        <p:spPr>
          <a:xfrm>
            <a:off x="6266998" y="4927629"/>
            <a:ext cx="2947382" cy="369332"/>
          </a:xfrm>
          <a:prstGeom prst="rect">
            <a:avLst/>
          </a:prstGeom>
          <a:noFill/>
        </p:spPr>
        <p:txBody>
          <a:bodyPr wrap="square" rtlCol="0">
            <a:spAutoFit/>
          </a:bodyPr>
          <a:lstStyle/>
          <a:p>
            <a:r>
              <a:rPr lang="zh-TW" altLang="en-US" dirty="0">
                <a:solidFill>
                  <a:srgbClr val="7030A0"/>
                </a:solidFill>
                <a:latin typeface="Heiti SC Medium" pitchFamily="2" charset="-128"/>
                <a:ea typeface="Heiti SC Medium" pitchFamily="2" charset="-128"/>
              </a:rPr>
              <a:t>贴片电阻的封装</a:t>
            </a:r>
            <a:endParaRPr kumimoji="1" lang="zh-TW" altLang="en-US" dirty="0">
              <a:solidFill>
                <a:srgbClr val="7030A0"/>
              </a:solidFill>
            </a:endParaRPr>
          </a:p>
        </p:txBody>
      </p:sp>
      <p:pic>
        <p:nvPicPr>
          <p:cNvPr id="39" name="圖片 38" descr="贴片厚膜电阻| 文章中心| 丽智电子(南通)有限公司">
            <a:extLst>
              <a:ext uri="{FF2B5EF4-FFF2-40B4-BE49-F238E27FC236}">
                <a16:creationId xmlns:a16="http://schemas.microsoft.com/office/drawing/2014/main" id="{C7470D7B-CD86-2775-FAF5-56168D58A7CA}"/>
              </a:ext>
            </a:extLst>
          </p:cNvPr>
          <p:cNvPicPr>
            <a:picLocks noChangeAspect="1"/>
          </p:cNvPicPr>
          <p:nvPr/>
        </p:nvPicPr>
        <p:blipFill>
          <a:blip r:embed="rId6"/>
          <a:stretch>
            <a:fillRect/>
          </a:stretch>
        </p:blipFill>
        <p:spPr>
          <a:xfrm>
            <a:off x="3570057" y="5256554"/>
            <a:ext cx="2091207" cy="1329410"/>
          </a:xfrm>
          <a:prstGeom prst="rect">
            <a:avLst/>
          </a:prstGeom>
        </p:spPr>
      </p:pic>
    </p:spTree>
    <p:extLst>
      <p:ext uri="{BB962C8B-B14F-4D97-AF65-F5344CB8AC3E}">
        <p14:creationId xmlns:p14="http://schemas.microsoft.com/office/powerpoint/2010/main" val="184769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5E33-4D69-4DC4-1ABE-8E0D968F69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1E67BC-7A74-9E15-5D62-86F3DE5E488E}"/>
              </a:ext>
            </a:extLst>
          </p:cNvPr>
          <p:cNvSpPr>
            <a:spLocks noGrp="1"/>
          </p:cNvSpPr>
          <p:nvPr>
            <p:ph type="title"/>
          </p:nvPr>
        </p:nvSpPr>
        <p:spPr>
          <a:xfrm>
            <a:off x="352202" y="937846"/>
            <a:ext cx="8623355" cy="709562"/>
          </a:xfrm>
        </p:spPr>
        <p:txBody>
          <a:bodyPr>
            <a:noAutofit/>
          </a:bodyPr>
          <a:lstStyle/>
          <a:p>
            <a:r>
              <a:rPr kumimoji="1" lang="zh-CN" altLang="en-US" sz="4400" b="1" i="0" dirty="0"/>
              <a:t>其他常见封装</a:t>
            </a:r>
          </a:p>
        </p:txBody>
      </p:sp>
      <p:sp>
        <p:nvSpPr>
          <p:cNvPr id="3" name="文本框 3">
            <a:extLst>
              <a:ext uri="{FF2B5EF4-FFF2-40B4-BE49-F238E27FC236}">
                <a16:creationId xmlns:a16="http://schemas.microsoft.com/office/drawing/2014/main" id="{AD43A206-1481-2F33-7E5A-8D71D9D36FF7}"/>
              </a:ext>
            </a:extLst>
          </p:cNvPr>
          <p:cNvSpPr txBox="1"/>
          <p:nvPr/>
        </p:nvSpPr>
        <p:spPr>
          <a:xfrm>
            <a:off x="580618" y="1780148"/>
            <a:ext cx="4761403" cy="4893647"/>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、二极管：</a:t>
            </a:r>
            <a:r>
              <a:rPr lang="zh-TW" altLang="zh-TW" sz="2400" dirty="0"/>
              <a:t>SOD-123、SOD-323、SOD-523、SMA、SMB、SMC、DO-35、DO-41</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、三极管：</a:t>
            </a:r>
            <a:r>
              <a:rPr lang="zh-TW" altLang="zh-TW" sz="2400" dirty="0"/>
              <a:t>SOT-23、SOT-89、SOT-223、TO-92</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MOS</a:t>
            </a:r>
            <a:r>
              <a:rPr lang="zh-CN" altLang="en-US" sz="2400" dirty="0">
                <a:latin typeface="微软雅黑" panose="020B0503020204020204" pitchFamily="34" charset="-122"/>
                <a:ea typeface="微软雅黑" panose="020B0503020204020204" pitchFamily="34" charset="-122"/>
              </a:rPr>
              <a:t>管：</a:t>
            </a:r>
            <a:r>
              <a:rPr lang="zh-TW" altLang="zh-TW" sz="2400" dirty="0"/>
              <a:t>SOT-23、SOT-223、TO-252、TO-263、TO-220。</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、小型</a:t>
            </a:r>
            <a:r>
              <a:rPr lang="en-US" altLang="zh-CN" sz="2400" dirty="0">
                <a:latin typeface="微软雅黑" panose="020B0503020204020204" pitchFamily="34" charset="-122"/>
                <a:ea typeface="微软雅黑" panose="020B0503020204020204" pitchFamily="34" charset="-122"/>
              </a:rPr>
              <a:t>IC</a:t>
            </a:r>
            <a:r>
              <a:rPr lang="zh-CN" altLang="en-US" sz="2400" dirty="0">
                <a:latin typeface="微软雅黑" panose="020B0503020204020204" pitchFamily="34" charset="-122"/>
                <a:ea typeface="微软雅黑" panose="020B0503020204020204" pitchFamily="34" charset="-122"/>
              </a:rPr>
              <a:t>芯片：</a:t>
            </a:r>
            <a:r>
              <a:rPr lang="zh-TW" altLang="zh-TW" sz="2400" dirty="0"/>
              <a:t>DIP、SOP、SOIC、SSOP、TSSOP、MSOP</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、稳压芯片：</a:t>
            </a:r>
            <a:r>
              <a:rPr lang="zh-TW" altLang="zh-TW" sz="2400" dirty="0"/>
              <a:t>SOT-23、SOT-89、SOT-223、TO-252、TO-220、SOP-8、QFN</a:t>
            </a:r>
          </a:p>
          <a:p>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pic>
        <p:nvPicPr>
          <p:cNvPr id="9" name="圖片 8" descr="Dual Inline Package (DIP) Integrated Circuit">
            <a:extLst>
              <a:ext uri="{FF2B5EF4-FFF2-40B4-BE49-F238E27FC236}">
                <a16:creationId xmlns:a16="http://schemas.microsoft.com/office/drawing/2014/main" id="{ADBC3E47-4720-D0C8-83C1-D64508F5A1C6}"/>
              </a:ext>
            </a:extLst>
          </p:cNvPr>
          <p:cNvPicPr>
            <a:picLocks noChangeAspect="1"/>
          </p:cNvPicPr>
          <p:nvPr/>
        </p:nvPicPr>
        <p:blipFill>
          <a:blip r:embed="rId3"/>
          <a:stretch>
            <a:fillRect/>
          </a:stretch>
        </p:blipFill>
        <p:spPr>
          <a:xfrm>
            <a:off x="5557301" y="3980261"/>
            <a:ext cx="1686877" cy="1490075"/>
          </a:xfrm>
          <a:prstGeom prst="rect">
            <a:avLst/>
          </a:prstGeom>
        </p:spPr>
      </p:pic>
      <p:pic>
        <p:nvPicPr>
          <p:cNvPr id="10" name="圖片 9" descr="喜可士SeCoS Corporation - 封裝尺寸">
            <a:extLst>
              <a:ext uri="{FF2B5EF4-FFF2-40B4-BE49-F238E27FC236}">
                <a16:creationId xmlns:a16="http://schemas.microsoft.com/office/drawing/2014/main" id="{C821D1CF-C9BC-4435-FA92-2C00D64E03DC}"/>
              </a:ext>
            </a:extLst>
          </p:cNvPr>
          <p:cNvPicPr>
            <a:picLocks noChangeAspect="1"/>
          </p:cNvPicPr>
          <p:nvPr/>
        </p:nvPicPr>
        <p:blipFill>
          <a:blip r:embed="rId4"/>
          <a:stretch>
            <a:fillRect/>
          </a:stretch>
        </p:blipFill>
        <p:spPr>
          <a:xfrm>
            <a:off x="7387331" y="3572762"/>
            <a:ext cx="1588226" cy="3196556"/>
          </a:xfrm>
          <a:prstGeom prst="rect">
            <a:avLst/>
          </a:prstGeom>
        </p:spPr>
      </p:pic>
      <p:pic>
        <p:nvPicPr>
          <p:cNvPr id="12" name="圖片 11">
            <a:extLst>
              <a:ext uri="{FF2B5EF4-FFF2-40B4-BE49-F238E27FC236}">
                <a16:creationId xmlns:a16="http://schemas.microsoft.com/office/drawing/2014/main" id="{6B617610-998C-8D1D-39B9-B4E56445BE5F}"/>
              </a:ext>
            </a:extLst>
          </p:cNvPr>
          <p:cNvPicPr>
            <a:picLocks noChangeAspect="1"/>
          </p:cNvPicPr>
          <p:nvPr/>
        </p:nvPicPr>
        <p:blipFill>
          <a:blip r:embed="rId5"/>
          <a:srcRect l="1" t="26846" r="-1354" b="28114"/>
          <a:stretch>
            <a:fillRect/>
          </a:stretch>
        </p:blipFill>
        <p:spPr>
          <a:xfrm>
            <a:off x="5128645" y="5845457"/>
            <a:ext cx="3846912" cy="961078"/>
          </a:xfrm>
          <a:prstGeom prst="rect">
            <a:avLst/>
          </a:prstGeom>
        </p:spPr>
      </p:pic>
      <p:pic>
        <p:nvPicPr>
          <p:cNvPr id="6" name="圖片 5">
            <a:extLst>
              <a:ext uri="{FF2B5EF4-FFF2-40B4-BE49-F238E27FC236}">
                <a16:creationId xmlns:a16="http://schemas.microsoft.com/office/drawing/2014/main" id="{EA7BA0B4-A87A-2CE8-1B57-FDADA770847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388382" y="998004"/>
            <a:ext cx="3175000" cy="2514600"/>
          </a:xfrm>
          <a:prstGeom prst="rect">
            <a:avLst/>
          </a:prstGeom>
        </p:spPr>
      </p:pic>
    </p:spTree>
    <p:extLst>
      <p:ext uri="{BB962C8B-B14F-4D97-AF65-F5344CB8AC3E}">
        <p14:creationId xmlns:p14="http://schemas.microsoft.com/office/powerpoint/2010/main" val="385719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
                                        </p:tgtEl>
                                      </p:cBhvr>
                                      <p:by x="15000" y="15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9"/>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10"/>
                                        </p:tgtEl>
                                      </p:cBhvr>
                                      <p:by x="270000" y="27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E4E5-69EB-441F-3BE7-B91F86F11DC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1ED977-D8B0-4CA9-5D10-43B12EC59105}"/>
              </a:ext>
            </a:extLst>
          </p:cNvPr>
          <p:cNvSpPr>
            <a:spLocks noGrp="1"/>
          </p:cNvSpPr>
          <p:nvPr>
            <p:ph type="title"/>
          </p:nvPr>
        </p:nvSpPr>
        <p:spPr/>
        <p:txBody>
          <a:bodyPr>
            <a:normAutofit/>
          </a:bodyPr>
          <a:lstStyle/>
          <a:p>
            <a:r>
              <a:rPr kumimoji="1" lang="en-US" altLang="zh-CN" sz="4400" i="0" dirty="0"/>
              <a:t>03</a:t>
            </a:r>
            <a:r>
              <a:rPr kumimoji="1" lang="zh-CN" altLang="en-US" sz="4400" i="0" dirty="0"/>
              <a:t> </a:t>
            </a:r>
            <a:r>
              <a:rPr kumimoji="1" lang="zh-TW" altLang="en-US" sz="4400" i="0" dirty="0"/>
              <a:t>实战演练</a:t>
            </a:r>
            <a:endParaRPr kumimoji="1" lang="zh-CN" altLang="en-US" sz="4400" i="0" dirty="0"/>
          </a:p>
        </p:txBody>
      </p:sp>
    </p:spTree>
    <p:extLst>
      <p:ext uri="{BB962C8B-B14F-4D97-AF65-F5344CB8AC3E}">
        <p14:creationId xmlns:p14="http://schemas.microsoft.com/office/powerpoint/2010/main" val="2600826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8F94F-F3F3-7859-BFBE-A69F5C32CF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BC3DA8-AB9F-1730-418F-3B4640CA54A2}"/>
              </a:ext>
            </a:extLst>
          </p:cNvPr>
          <p:cNvSpPr>
            <a:spLocks noGrp="1"/>
          </p:cNvSpPr>
          <p:nvPr>
            <p:ph type="title"/>
          </p:nvPr>
        </p:nvSpPr>
        <p:spPr>
          <a:xfrm>
            <a:off x="352202" y="937846"/>
            <a:ext cx="8623355" cy="709562"/>
          </a:xfrm>
        </p:spPr>
        <p:txBody>
          <a:bodyPr>
            <a:noAutofit/>
          </a:bodyPr>
          <a:lstStyle/>
          <a:p>
            <a:r>
              <a:rPr kumimoji="1" lang="zh-CN" altLang="en-US" sz="4400" b="1" i="0" dirty="0"/>
              <a:t>需求分析</a:t>
            </a:r>
          </a:p>
        </p:txBody>
      </p:sp>
      <p:pic>
        <p:nvPicPr>
          <p:cNvPr id="3" name="圖片 2">
            <a:extLst>
              <a:ext uri="{FF2B5EF4-FFF2-40B4-BE49-F238E27FC236}">
                <a16:creationId xmlns:a16="http://schemas.microsoft.com/office/drawing/2014/main" id="{6417573D-07CF-44D5-773A-7CD23AD4E09B}"/>
              </a:ext>
            </a:extLst>
          </p:cNvPr>
          <p:cNvPicPr>
            <a:picLocks noChangeAspect="1"/>
          </p:cNvPicPr>
          <p:nvPr/>
        </p:nvPicPr>
        <p:blipFill>
          <a:blip r:embed="rId3"/>
          <a:stretch>
            <a:fillRect/>
          </a:stretch>
        </p:blipFill>
        <p:spPr>
          <a:xfrm>
            <a:off x="144367" y="1695993"/>
            <a:ext cx="4519512" cy="3466013"/>
          </a:xfrm>
          <a:prstGeom prst="rect">
            <a:avLst/>
          </a:prstGeom>
        </p:spPr>
      </p:pic>
      <p:sp>
        <p:nvSpPr>
          <p:cNvPr id="5" name="文本框 3">
            <a:extLst>
              <a:ext uri="{FF2B5EF4-FFF2-40B4-BE49-F238E27FC236}">
                <a16:creationId xmlns:a16="http://schemas.microsoft.com/office/drawing/2014/main" id="{AE581DD9-D0C2-3414-13B1-9A62EA602C13}"/>
              </a:ext>
            </a:extLst>
          </p:cNvPr>
          <p:cNvSpPr txBox="1"/>
          <p:nvPr/>
        </p:nvSpPr>
        <p:spPr>
          <a:xfrm>
            <a:off x="4884821" y="1876400"/>
            <a:ext cx="4259179" cy="452431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       </a:t>
            </a:r>
            <a:r>
              <a:rPr lang="zh-TW" altLang="en-US" sz="2400" dirty="0">
                <a:latin typeface="微软雅黑" panose="020B0503020204020204" pitchFamily="34" charset="-122"/>
                <a:ea typeface="微软雅黑" panose="020B0503020204020204" pitchFamily="34" charset="-122"/>
              </a:rPr>
              <a:t>我们的目的是制作一个可移动的</a:t>
            </a:r>
            <a:r>
              <a:rPr lang="zh-CN" altLang="en-US" sz="2400" dirty="0">
                <a:latin typeface="微软雅黑" panose="020B0503020204020204" pitchFamily="34" charset="-122"/>
                <a:ea typeface="微软雅黑" panose="020B0503020204020204" pitchFamily="34" charset="-122"/>
              </a:rPr>
              <a:t>，</a:t>
            </a:r>
            <a:r>
              <a:rPr lang="zh-TW" altLang="en-US" sz="2400" dirty="0">
                <a:latin typeface="微软雅黑" panose="020B0503020204020204" pitchFamily="34" charset="-122"/>
                <a:ea typeface="微软雅黑" panose="020B0503020204020204" pitchFamily="34" charset="-122"/>
              </a:rPr>
              <a:t>便携的多功能测量仪器</a:t>
            </a:r>
            <a:r>
              <a:rPr lang="zh-CN" altLang="en-US" sz="2400" dirty="0">
                <a:latin typeface="微软雅黑" panose="020B0503020204020204" pitchFamily="34" charset="-122"/>
                <a:ea typeface="微软雅黑" panose="020B0503020204020204" pitchFamily="34" charset="-122"/>
              </a:rPr>
              <a:t>。包括以下外设：</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LED</a:t>
            </a:r>
            <a:r>
              <a:rPr lang="zh-CN" altLang="en-US" sz="2400" dirty="0">
                <a:latin typeface="微软雅黑" panose="020B0503020204020204" pitchFamily="34" charset="-122"/>
                <a:ea typeface="微软雅黑" panose="020B0503020204020204" pitchFamily="34" charset="-122"/>
              </a:rPr>
              <a:t>灯、按钮、超声波测量模块、编码器、</a:t>
            </a:r>
            <a:r>
              <a:rPr lang="zh-TW" altLang="en-US" sz="2400" dirty="0">
                <a:latin typeface="微软雅黑" panose="020B0503020204020204" pitchFamily="34" charset="-122"/>
                <a:ea typeface="微软雅黑" panose="020B0503020204020204" pitchFamily="34" charset="-122"/>
              </a:rPr>
              <a:t>无源蜂鸣器</a:t>
            </a:r>
            <a:r>
              <a:rPr lang="zh-CN" altLang="en-US" sz="2400" dirty="0">
                <a:latin typeface="微软雅黑" panose="020B0503020204020204" pitchFamily="34" charset="-122"/>
                <a:ea typeface="微软雅黑" panose="020B0503020204020204" pitchFamily="34" charset="-122"/>
              </a:rPr>
              <a:t>、舵机、</a:t>
            </a:r>
            <a:r>
              <a:rPr lang="en-US" altLang="zh-CN" sz="2400" dirty="0">
                <a:latin typeface="微软雅黑" panose="020B0503020204020204" pitchFamily="34" charset="-122"/>
                <a:ea typeface="微软雅黑" panose="020B0503020204020204" pitchFamily="34" charset="-122"/>
              </a:rPr>
              <a:t>OLED</a:t>
            </a:r>
            <a:r>
              <a:rPr lang="zh-CN" altLang="en-US" sz="2400" dirty="0">
                <a:latin typeface="微软雅黑" panose="020B0503020204020204" pitchFamily="34" charset="-122"/>
                <a:ea typeface="微软雅黑" panose="020B0503020204020204" pitchFamily="34" charset="-122"/>
              </a:rPr>
              <a:t>屏幕。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本讲属于必修内容的基本课程，不讲授如何绘制最小系统板，感兴趣的同学可以学习后续选修内容进行学习。</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26729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DFFAC-1F5D-266A-2E38-7EC5C378885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75BCF0-1A63-ACAD-9640-C4E4816A07D2}"/>
              </a:ext>
            </a:extLst>
          </p:cNvPr>
          <p:cNvSpPr>
            <a:spLocks noGrp="1"/>
          </p:cNvSpPr>
          <p:nvPr>
            <p:ph type="title"/>
          </p:nvPr>
        </p:nvSpPr>
        <p:spPr>
          <a:xfrm>
            <a:off x="333124" y="855497"/>
            <a:ext cx="8623355" cy="709562"/>
          </a:xfrm>
        </p:spPr>
        <p:txBody>
          <a:bodyPr>
            <a:noAutofit/>
          </a:bodyPr>
          <a:lstStyle/>
          <a:p>
            <a:r>
              <a:rPr kumimoji="1" lang="zh-CN" altLang="en-US" sz="4400" b="1" i="0" dirty="0"/>
              <a:t>框架设计</a:t>
            </a:r>
          </a:p>
        </p:txBody>
      </p:sp>
      <p:sp>
        <p:nvSpPr>
          <p:cNvPr id="4" name="圓角矩形 3">
            <a:extLst>
              <a:ext uri="{FF2B5EF4-FFF2-40B4-BE49-F238E27FC236}">
                <a16:creationId xmlns:a16="http://schemas.microsoft.com/office/drawing/2014/main" id="{914E5BB6-D8B9-29AB-FDDA-F2685891B575}"/>
              </a:ext>
            </a:extLst>
          </p:cNvPr>
          <p:cNvSpPr/>
          <p:nvPr/>
        </p:nvSpPr>
        <p:spPr>
          <a:xfrm>
            <a:off x="3743463" y="2071497"/>
            <a:ext cx="1840831" cy="4692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ESP</a:t>
            </a:r>
            <a:r>
              <a:rPr kumimoji="1" lang="en-US" altLang="zh-CN" dirty="0"/>
              <a:t>32</a:t>
            </a:r>
            <a:r>
              <a:rPr kumimoji="1" lang="zh-CN" altLang="en-US" dirty="0"/>
              <a:t>开发板</a:t>
            </a:r>
            <a:endParaRPr kumimoji="1" lang="zh-TW" altLang="en-US" dirty="0"/>
          </a:p>
        </p:txBody>
      </p:sp>
      <p:sp>
        <p:nvSpPr>
          <p:cNvPr id="6" name="圓角矩形 5">
            <a:extLst>
              <a:ext uri="{FF2B5EF4-FFF2-40B4-BE49-F238E27FC236}">
                <a16:creationId xmlns:a16="http://schemas.microsoft.com/office/drawing/2014/main" id="{0B251F63-C344-005F-64DF-F482CAA65879}"/>
              </a:ext>
            </a:extLst>
          </p:cNvPr>
          <p:cNvSpPr/>
          <p:nvPr/>
        </p:nvSpPr>
        <p:spPr>
          <a:xfrm>
            <a:off x="3394910" y="3194383"/>
            <a:ext cx="2404311" cy="619627"/>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sz="2800" b="1" dirty="0">
                <a:latin typeface="HEITI SC MEDIUM" pitchFamily="2" charset="-128"/>
                <a:ea typeface="HEITI SC MEDIUM" pitchFamily="2" charset="-128"/>
              </a:rPr>
              <a:t>自制</a:t>
            </a:r>
            <a:r>
              <a:rPr kumimoji="1" lang="zh-CN" altLang="en-US" sz="2800" b="1" dirty="0">
                <a:latin typeface="HEITI SC MEDIUM" pitchFamily="2" charset="-128"/>
                <a:ea typeface="HEITI SC MEDIUM" pitchFamily="2" charset="-128"/>
              </a:rPr>
              <a:t>扩展板</a:t>
            </a:r>
            <a:endParaRPr kumimoji="1" lang="zh-TW" altLang="en-US" sz="2800" b="1" dirty="0">
              <a:latin typeface="HEITI SC MEDIUM" pitchFamily="2" charset="-128"/>
              <a:ea typeface="HEITI SC MEDIUM" pitchFamily="2" charset="-128"/>
            </a:endParaRPr>
          </a:p>
        </p:txBody>
      </p:sp>
      <p:sp>
        <p:nvSpPr>
          <p:cNvPr id="7" name="向下箭號 6">
            <a:extLst>
              <a:ext uri="{FF2B5EF4-FFF2-40B4-BE49-F238E27FC236}">
                <a16:creationId xmlns:a16="http://schemas.microsoft.com/office/drawing/2014/main" id="{F7434AC6-9394-1D4B-634F-8C11055A7EA1}"/>
              </a:ext>
            </a:extLst>
          </p:cNvPr>
          <p:cNvSpPr/>
          <p:nvPr/>
        </p:nvSpPr>
        <p:spPr>
          <a:xfrm>
            <a:off x="4218773" y="2622585"/>
            <a:ext cx="756584"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rgbClr val="7030A0"/>
                </a:solidFill>
                <a:latin typeface="Heiti SC Medium" pitchFamily="2" charset="-128"/>
                <a:ea typeface="Heiti SC Medium" pitchFamily="2" charset="-128"/>
              </a:rPr>
              <a:t>焊接</a:t>
            </a:r>
          </a:p>
        </p:txBody>
      </p:sp>
      <p:sp>
        <p:nvSpPr>
          <p:cNvPr id="9" name="向下箭號 8">
            <a:extLst>
              <a:ext uri="{FF2B5EF4-FFF2-40B4-BE49-F238E27FC236}">
                <a16:creationId xmlns:a16="http://schemas.microsoft.com/office/drawing/2014/main" id="{F505F06D-02B6-443C-CAF0-AED868F0A1C5}"/>
              </a:ext>
            </a:extLst>
          </p:cNvPr>
          <p:cNvSpPr/>
          <p:nvPr/>
        </p:nvSpPr>
        <p:spPr>
          <a:xfrm rot="14458133">
            <a:off x="6206841" y="2571115"/>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0" name="向下箭號 9">
            <a:extLst>
              <a:ext uri="{FF2B5EF4-FFF2-40B4-BE49-F238E27FC236}">
                <a16:creationId xmlns:a16="http://schemas.microsoft.com/office/drawing/2014/main" id="{00A857DE-F71D-34BA-1CB2-1FC5A9841F7C}"/>
              </a:ext>
            </a:extLst>
          </p:cNvPr>
          <p:cNvSpPr/>
          <p:nvPr/>
        </p:nvSpPr>
        <p:spPr>
          <a:xfrm rot="16200000">
            <a:off x="6341194" y="3218296"/>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1" name="向下箭號 10">
            <a:extLst>
              <a:ext uri="{FF2B5EF4-FFF2-40B4-BE49-F238E27FC236}">
                <a16:creationId xmlns:a16="http://schemas.microsoft.com/office/drawing/2014/main" id="{211F2A2E-B5D3-9928-0315-DCF0F9FDADBD}"/>
              </a:ext>
            </a:extLst>
          </p:cNvPr>
          <p:cNvSpPr/>
          <p:nvPr/>
        </p:nvSpPr>
        <p:spPr>
          <a:xfrm rot="17974646">
            <a:off x="6206416" y="3867343"/>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2" name="向下箭號 11">
            <a:extLst>
              <a:ext uri="{FF2B5EF4-FFF2-40B4-BE49-F238E27FC236}">
                <a16:creationId xmlns:a16="http://schemas.microsoft.com/office/drawing/2014/main" id="{E590F3DF-903C-714E-608E-EEF332EF37B3}"/>
              </a:ext>
            </a:extLst>
          </p:cNvPr>
          <p:cNvSpPr/>
          <p:nvPr/>
        </p:nvSpPr>
        <p:spPr>
          <a:xfrm rot="3057479">
            <a:off x="2730386" y="4022757"/>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3" name="向下箭號 12">
            <a:extLst>
              <a:ext uri="{FF2B5EF4-FFF2-40B4-BE49-F238E27FC236}">
                <a16:creationId xmlns:a16="http://schemas.microsoft.com/office/drawing/2014/main" id="{A43D3F80-29A6-96A3-A593-FA10CB9F910A}"/>
              </a:ext>
            </a:extLst>
          </p:cNvPr>
          <p:cNvSpPr/>
          <p:nvPr/>
        </p:nvSpPr>
        <p:spPr>
          <a:xfrm rot="5400000">
            <a:off x="2555354" y="3218297"/>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4" name="向下箭號 13">
            <a:extLst>
              <a:ext uri="{FF2B5EF4-FFF2-40B4-BE49-F238E27FC236}">
                <a16:creationId xmlns:a16="http://schemas.microsoft.com/office/drawing/2014/main" id="{0071985F-186C-BBD2-9561-8DA4F3934612}"/>
              </a:ext>
            </a:extLst>
          </p:cNvPr>
          <p:cNvSpPr/>
          <p:nvPr/>
        </p:nvSpPr>
        <p:spPr>
          <a:xfrm rot="7328647">
            <a:off x="2694417" y="2434145"/>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pic>
        <p:nvPicPr>
          <p:cNvPr id="15" name="圖片 14">
            <a:extLst>
              <a:ext uri="{FF2B5EF4-FFF2-40B4-BE49-F238E27FC236}">
                <a16:creationId xmlns:a16="http://schemas.microsoft.com/office/drawing/2014/main" id="{90CFD388-01A2-7F9A-B108-E4314F502D77}"/>
              </a:ext>
            </a:extLst>
          </p:cNvPr>
          <p:cNvPicPr>
            <a:picLocks noChangeAspect="1"/>
          </p:cNvPicPr>
          <p:nvPr/>
        </p:nvPicPr>
        <p:blipFill>
          <a:blip r:embed="rId3"/>
          <a:stretch>
            <a:fillRect/>
          </a:stretch>
        </p:blipFill>
        <p:spPr>
          <a:xfrm>
            <a:off x="800267" y="1530544"/>
            <a:ext cx="1182509" cy="1439991"/>
          </a:xfrm>
          <a:prstGeom prst="rect">
            <a:avLst/>
          </a:prstGeom>
        </p:spPr>
      </p:pic>
      <p:pic>
        <p:nvPicPr>
          <p:cNvPr id="16" name="圖片 15">
            <a:extLst>
              <a:ext uri="{FF2B5EF4-FFF2-40B4-BE49-F238E27FC236}">
                <a16:creationId xmlns:a16="http://schemas.microsoft.com/office/drawing/2014/main" id="{F74927C5-1DD7-52C8-F6D9-0D154E8FB02C}"/>
              </a:ext>
            </a:extLst>
          </p:cNvPr>
          <p:cNvPicPr>
            <a:picLocks noChangeAspect="1"/>
          </p:cNvPicPr>
          <p:nvPr/>
        </p:nvPicPr>
        <p:blipFill>
          <a:blip r:embed="rId4"/>
          <a:stretch>
            <a:fillRect/>
          </a:stretch>
        </p:blipFill>
        <p:spPr>
          <a:xfrm>
            <a:off x="686735" y="2964819"/>
            <a:ext cx="1404398" cy="1424719"/>
          </a:xfrm>
          <a:prstGeom prst="rect">
            <a:avLst/>
          </a:prstGeom>
        </p:spPr>
      </p:pic>
      <p:pic>
        <p:nvPicPr>
          <p:cNvPr id="17" name="圖片 16">
            <a:extLst>
              <a:ext uri="{FF2B5EF4-FFF2-40B4-BE49-F238E27FC236}">
                <a16:creationId xmlns:a16="http://schemas.microsoft.com/office/drawing/2014/main" id="{DCB2BA97-1FA5-4C5E-5C39-2B9395E52633}"/>
              </a:ext>
            </a:extLst>
          </p:cNvPr>
          <p:cNvPicPr>
            <a:picLocks noChangeAspect="1"/>
          </p:cNvPicPr>
          <p:nvPr/>
        </p:nvPicPr>
        <p:blipFill>
          <a:blip r:embed="rId5"/>
          <a:stretch>
            <a:fillRect/>
          </a:stretch>
        </p:blipFill>
        <p:spPr>
          <a:xfrm>
            <a:off x="1085537" y="4494682"/>
            <a:ext cx="1456595" cy="1545171"/>
          </a:xfrm>
          <a:prstGeom prst="rect">
            <a:avLst/>
          </a:prstGeom>
        </p:spPr>
      </p:pic>
      <p:pic>
        <p:nvPicPr>
          <p:cNvPr id="18" name="圖片 17">
            <a:extLst>
              <a:ext uri="{FF2B5EF4-FFF2-40B4-BE49-F238E27FC236}">
                <a16:creationId xmlns:a16="http://schemas.microsoft.com/office/drawing/2014/main" id="{6C99736B-B499-8C49-2A8F-3C3F1EA84EAF}"/>
              </a:ext>
            </a:extLst>
          </p:cNvPr>
          <p:cNvPicPr>
            <a:picLocks noChangeAspect="1"/>
          </p:cNvPicPr>
          <p:nvPr/>
        </p:nvPicPr>
        <p:blipFill>
          <a:blip r:embed="rId6"/>
          <a:stretch>
            <a:fillRect/>
          </a:stretch>
        </p:blipFill>
        <p:spPr>
          <a:xfrm>
            <a:off x="6912812" y="1347727"/>
            <a:ext cx="1234121" cy="1447540"/>
          </a:xfrm>
          <a:prstGeom prst="rect">
            <a:avLst/>
          </a:prstGeom>
        </p:spPr>
      </p:pic>
      <p:pic>
        <p:nvPicPr>
          <p:cNvPr id="19" name="圖片 18">
            <a:extLst>
              <a:ext uri="{FF2B5EF4-FFF2-40B4-BE49-F238E27FC236}">
                <a16:creationId xmlns:a16="http://schemas.microsoft.com/office/drawing/2014/main" id="{5DBB1123-FB99-1168-CFD4-A6399E55897C}"/>
              </a:ext>
            </a:extLst>
          </p:cNvPr>
          <p:cNvPicPr>
            <a:picLocks noChangeAspect="1"/>
          </p:cNvPicPr>
          <p:nvPr/>
        </p:nvPicPr>
        <p:blipFill>
          <a:blip r:embed="rId7"/>
          <a:stretch>
            <a:fillRect/>
          </a:stretch>
        </p:blipFill>
        <p:spPr>
          <a:xfrm>
            <a:off x="7052867" y="2928109"/>
            <a:ext cx="1100700" cy="1278505"/>
          </a:xfrm>
          <a:prstGeom prst="rect">
            <a:avLst/>
          </a:prstGeom>
        </p:spPr>
      </p:pic>
      <p:pic>
        <p:nvPicPr>
          <p:cNvPr id="20" name="圖片 19">
            <a:extLst>
              <a:ext uri="{FF2B5EF4-FFF2-40B4-BE49-F238E27FC236}">
                <a16:creationId xmlns:a16="http://schemas.microsoft.com/office/drawing/2014/main" id="{C92E0E7A-5222-4E71-0CBE-EDE366624004}"/>
              </a:ext>
            </a:extLst>
          </p:cNvPr>
          <p:cNvPicPr>
            <a:picLocks noChangeAspect="1"/>
          </p:cNvPicPr>
          <p:nvPr/>
        </p:nvPicPr>
        <p:blipFill>
          <a:blip r:embed="rId8"/>
          <a:stretch>
            <a:fillRect/>
          </a:stretch>
        </p:blipFill>
        <p:spPr>
          <a:xfrm>
            <a:off x="6867780" y="4389538"/>
            <a:ext cx="1321933" cy="1347853"/>
          </a:xfrm>
          <a:prstGeom prst="rect">
            <a:avLst/>
          </a:prstGeom>
        </p:spPr>
      </p:pic>
      <p:pic>
        <p:nvPicPr>
          <p:cNvPr id="21" name="圖片 20">
            <a:extLst>
              <a:ext uri="{FF2B5EF4-FFF2-40B4-BE49-F238E27FC236}">
                <a16:creationId xmlns:a16="http://schemas.microsoft.com/office/drawing/2014/main" id="{EE4A479A-C84E-1BA5-7A14-8ADBACBEE6CA}"/>
              </a:ext>
            </a:extLst>
          </p:cNvPr>
          <p:cNvPicPr>
            <a:picLocks noChangeAspect="1"/>
          </p:cNvPicPr>
          <p:nvPr/>
        </p:nvPicPr>
        <p:blipFill>
          <a:blip r:embed="rId9"/>
          <a:stretch>
            <a:fillRect/>
          </a:stretch>
        </p:blipFill>
        <p:spPr>
          <a:xfrm>
            <a:off x="4036422" y="4549320"/>
            <a:ext cx="1117600" cy="1346200"/>
          </a:xfrm>
          <a:prstGeom prst="rect">
            <a:avLst/>
          </a:prstGeom>
        </p:spPr>
      </p:pic>
      <p:sp>
        <p:nvSpPr>
          <p:cNvPr id="22" name="向下箭號 21">
            <a:extLst>
              <a:ext uri="{FF2B5EF4-FFF2-40B4-BE49-F238E27FC236}">
                <a16:creationId xmlns:a16="http://schemas.microsoft.com/office/drawing/2014/main" id="{1E3AB758-1C31-D358-67F3-ACC3BEE64C94}"/>
              </a:ext>
            </a:extLst>
          </p:cNvPr>
          <p:cNvSpPr/>
          <p:nvPr/>
        </p:nvSpPr>
        <p:spPr>
          <a:xfrm rot="10800000">
            <a:off x="3793951" y="3895766"/>
            <a:ext cx="1526369"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23" name="文字方塊 22">
            <a:extLst>
              <a:ext uri="{FF2B5EF4-FFF2-40B4-BE49-F238E27FC236}">
                <a16:creationId xmlns:a16="http://schemas.microsoft.com/office/drawing/2014/main" id="{005F0443-C4C9-38B8-4987-31030D23EDB1}"/>
              </a:ext>
            </a:extLst>
          </p:cNvPr>
          <p:cNvSpPr txBox="1"/>
          <p:nvPr/>
        </p:nvSpPr>
        <p:spPr>
          <a:xfrm>
            <a:off x="4255890" y="3902989"/>
            <a:ext cx="709368" cy="646331"/>
          </a:xfrm>
          <a:prstGeom prst="rect">
            <a:avLst/>
          </a:prstGeom>
          <a:noFill/>
        </p:spPr>
        <p:txBody>
          <a:bodyPr wrap="square" rtlCol="0">
            <a:spAutoFit/>
          </a:bodyPr>
          <a:lstStyle/>
          <a:p>
            <a:r>
              <a:rPr kumimoji="1" lang="zh-TW" altLang="en-US" dirty="0">
                <a:solidFill>
                  <a:srgbClr val="7030A0"/>
                </a:solidFill>
                <a:latin typeface="Heiti SC Medium" pitchFamily="2" charset="-128"/>
                <a:ea typeface="Heiti SC Medium" pitchFamily="2" charset="-128"/>
              </a:rPr>
              <a:t>供电开关</a:t>
            </a:r>
          </a:p>
        </p:txBody>
      </p:sp>
      <p:sp>
        <p:nvSpPr>
          <p:cNvPr id="25" name="文字方塊 24">
            <a:extLst>
              <a:ext uri="{FF2B5EF4-FFF2-40B4-BE49-F238E27FC236}">
                <a16:creationId xmlns:a16="http://schemas.microsoft.com/office/drawing/2014/main" id="{93464845-8DA9-1A74-011A-3967F9729624}"/>
              </a:ext>
            </a:extLst>
          </p:cNvPr>
          <p:cNvSpPr txBox="1"/>
          <p:nvPr/>
        </p:nvSpPr>
        <p:spPr>
          <a:xfrm>
            <a:off x="3793951" y="718605"/>
            <a:ext cx="4572000" cy="1323439"/>
          </a:xfrm>
          <a:prstGeom prst="rect">
            <a:avLst/>
          </a:prstGeom>
          <a:noFill/>
        </p:spPr>
        <p:txBody>
          <a:bodyPr wrap="square">
            <a:spAutoFit/>
          </a:bodyPr>
          <a:lstStyle/>
          <a:p>
            <a:pPr marL="0" marR="0">
              <a:buNone/>
            </a:pPr>
            <a:r>
              <a:rPr lang="zh-TW" altLang="zh-TW" sz="1600" dirty="0">
                <a:solidFill>
                  <a:srgbClr val="7030A0"/>
                </a:solidFill>
                <a:effectLst/>
                <a:latin typeface="Heiti SC Medium" pitchFamily="2" charset="-128"/>
                <a:ea typeface="Heiti SC Medium" pitchFamily="2" charset="-128"/>
              </a:rPr>
              <a:t>ESP32开发板功能</a:t>
            </a:r>
          </a:p>
          <a:p>
            <a:pPr marL="0" marR="0">
              <a:buFont typeface="Arial" panose="020B0604020202020204" pitchFamily="34" charset="0"/>
              <a:buChar char="•"/>
            </a:pPr>
            <a:r>
              <a:rPr lang="zh-TW" altLang="zh-TW" sz="1600" dirty="0">
                <a:effectLst/>
                <a:latin typeface="Heiti SC Medium" pitchFamily="2" charset="-128"/>
                <a:ea typeface="Heiti SC Medium" pitchFamily="2" charset="-128"/>
              </a:rPr>
              <a:t>﻿﻿执行控制逻辑</a:t>
            </a:r>
          </a:p>
          <a:p>
            <a:pPr marL="0" marR="0">
              <a:buFont typeface="Arial" panose="020B0604020202020204" pitchFamily="34" charset="0"/>
              <a:buChar char="•"/>
            </a:pPr>
            <a:r>
              <a:rPr lang="zh-TW" altLang="zh-TW" sz="1600" dirty="0">
                <a:effectLst/>
                <a:latin typeface="Heiti SC Medium" pitchFamily="2" charset="-128"/>
                <a:ea typeface="Heiti SC Medium" pitchFamily="2" charset="-128"/>
              </a:rPr>
              <a:t>﻿﻿采集与处理数据</a:t>
            </a:r>
          </a:p>
          <a:p>
            <a:pPr marL="0" marR="0">
              <a:buFont typeface="Arial" panose="020B0604020202020204" pitchFamily="34" charset="0"/>
              <a:buChar char="•"/>
            </a:pPr>
            <a:r>
              <a:rPr lang="zh-TW" altLang="zh-TW" sz="1600" dirty="0">
                <a:effectLst/>
                <a:latin typeface="Heiti SC Medium" pitchFamily="2" charset="-128"/>
                <a:ea typeface="Heiti SC Medium" pitchFamily="2" charset="-128"/>
              </a:rPr>
              <a:t>﻿﻿输出控制信号</a:t>
            </a:r>
          </a:p>
          <a:p>
            <a:pPr marL="0" marR="0">
              <a:buFont typeface="Arial" panose="020B0604020202020204" pitchFamily="34" charset="0"/>
              <a:buChar char="•"/>
            </a:pPr>
            <a:r>
              <a:rPr lang="zh-TW" altLang="zh-TW" sz="1600" dirty="0">
                <a:effectLst/>
                <a:latin typeface="Heiti SC Medium" pitchFamily="2" charset="-128"/>
                <a:ea typeface="Heiti SC Medium" pitchFamily="2" charset="-128"/>
              </a:rPr>
              <a:t>﻿与外设通</a:t>
            </a:r>
            <a:r>
              <a:rPr lang="zh-TW" altLang="en-US" sz="1600" dirty="0">
                <a:effectLst/>
                <a:latin typeface="Heiti SC Medium" pitchFamily="2" charset="-128"/>
                <a:ea typeface="Heiti SC Medium" pitchFamily="2" charset="-128"/>
              </a:rPr>
              <a:t>信</a:t>
            </a:r>
            <a:endParaRPr lang="zh-TW" altLang="zh-TW" sz="1600" dirty="0">
              <a:effectLst/>
              <a:latin typeface="Heiti SC Medium" pitchFamily="2" charset="-128"/>
              <a:ea typeface="Heiti SC Medium" pitchFamily="2" charset="-128"/>
            </a:endParaRPr>
          </a:p>
        </p:txBody>
      </p:sp>
      <p:sp>
        <p:nvSpPr>
          <p:cNvPr id="27" name="文字方塊 26">
            <a:extLst>
              <a:ext uri="{FF2B5EF4-FFF2-40B4-BE49-F238E27FC236}">
                <a16:creationId xmlns:a16="http://schemas.microsoft.com/office/drawing/2014/main" id="{B07DEF1D-40F8-C63A-3ABB-0214ADCDE214}"/>
              </a:ext>
            </a:extLst>
          </p:cNvPr>
          <p:cNvSpPr txBox="1"/>
          <p:nvPr/>
        </p:nvSpPr>
        <p:spPr>
          <a:xfrm>
            <a:off x="4973515" y="4170343"/>
            <a:ext cx="4572000" cy="861774"/>
          </a:xfrm>
          <a:prstGeom prst="rect">
            <a:avLst/>
          </a:prstGeom>
          <a:noFill/>
        </p:spPr>
        <p:txBody>
          <a:bodyPr wrap="square">
            <a:spAutoFit/>
          </a:bodyPr>
          <a:lstStyle/>
          <a:p>
            <a:pPr marL="0" marR="0">
              <a:buNone/>
            </a:pPr>
            <a:r>
              <a:rPr lang="zh-TW" altLang="zh-TW" sz="1600" dirty="0">
                <a:solidFill>
                  <a:srgbClr val="7030A0"/>
                </a:solidFill>
                <a:effectLst/>
                <a:latin typeface="Heiti SC Medium" pitchFamily="2" charset="-128"/>
                <a:ea typeface="Heiti SC Medium" pitchFamily="2" charset="-128"/>
              </a:rPr>
              <a:t>扩展板功能</a:t>
            </a:r>
          </a:p>
          <a:p>
            <a:pPr marL="0" marR="0">
              <a:buFont typeface="Arial" panose="020B0604020202020204" pitchFamily="34" charset="0"/>
              <a:buChar char="•"/>
            </a:pPr>
            <a:r>
              <a:rPr lang="zh-TW" altLang="zh-TW" sz="1600" dirty="0">
                <a:effectLst/>
                <a:latin typeface="Heiti SC Medium" pitchFamily="2" charset="-128"/>
                <a:ea typeface="Heiti SC Medium" pitchFamily="2" charset="-128"/>
              </a:rPr>
              <a:t>﻿﻿统一连接外设模块</a:t>
            </a:r>
          </a:p>
          <a:p>
            <a:pPr marL="0" marR="0">
              <a:buFont typeface="Arial" panose="020B0604020202020204" pitchFamily="34" charset="0"/>
              <a:buChar char="•"/>
            </a:pPr>
            <a:r>
              <a:rPr lang="zh-TW" altLang="zh-TW" sz="1600" dirty="0">
                <a:effectLst/>
                <a:latin typeface="Heiti SC Medium" pitchFamily="2" charset="-128"/>
                <a:ea typeface="Heiti SC Medium" pitchFamily="2" charset="-128"/>
              </a:rPr>
              <a:t>﻿﻿</a:t>
            </a:r>
            <a:r>
              <a:rPr lang="zh-TW" altLang="en-US" sz="1600" dirty="0">
                <a:latin typeface="Heiti SC Medium" pitchFamily="2" charset="-128"/>
                <a:ea typeface="Heiti SC Medium" pitchFamily="2" charset="-128"/>
              </a:rPr>
              <a:t>作为供电通路</a:t>
            </a:r>
            <a:endParaRPr lang="zh-TW" altLang="zh-TW" sz="1600" dirty="0">
              <a:effectLst/>
              <a:latin typeface="Heiti SC Medium" pitchFamily="2" charset="-128"/>
              <a:ea typeface="Heiti SC Medium" pitchFamily="2" charset="-128"/>
            </a:endParaRPr>
          </a:p>
        </p:txBody>
      </p:sp>
      <p:sp>
        <p:nvSpPr>
          <p:cNvPr id="28" name="文字方塊 27">
            <a:extLst>
              <a:ext uri="{FF2B5EF4-FFF2-40B4-BE49-F238E27FC236}">
                <a16:creationId xmlns:a16="http://schemas.microsoft.com/office/drawing/2014/main" id="{56B47296-25F0-71F7-3829-F849BA1A098E}"/>
              </a:ext>
            </a:extLst>
          </p:cNvPr>
          <p:cNvSpPr txBox="1"/>
          <p:nvPr/>
        </p:nvSpPr>
        <p:spPr>
          <a:xfrm>
            <a:off x="5010782" y="6039899"/>
            <a:ext cx="3894227" cy="523220"/>
          </a:xfrm>
          <a:prstGeom prst="rect">
            <a:avLst/>
          </a:prstGeom>
          <a:noFill/>
        </p:spPr>
        <p:txBody>
          <a:bodyPr wrap="square" rtlCol="0">
            <a:spAutoFit/>
          </a:bodyPr>
          <a:lstStyle/>
          <a:p>
            <a:r>
              <a:rPr kumimoji="1" lang="zh-TW" altLang="en-US" sz="2800" dirty="0">
                <a:solidFill>
                  <a:srgbClr val="7030A0"/>
                </a:solidFill>
                <a:latin typeface="Heiti SC Medium" pitchFamily="2" charset="-128"/>
                <a:ea typeface="Heiti SC Medium" pitchFamily="2" charset="-128"/>
              </a:rPr>
              <a:t>这样设计有什么问题</a:t>
            </a:r>
            <a:r>
              <a:rPr kumimoji="1" lang="zh-CN" altLang="en-US" sz="2800" dirty="0">
                <a:solidFill>
                  <a:srgbClr val="7030A0"/>
                </a:solidFill>
                <a:latin typeface="Heiti SC Medium" pitchFamily="2" charset="-128"/>
                <a:ea typeface="Heiti SC Medium" pitchFamily="2" charset="-128"/>
              </a:rPr>
              <a:t>？</a:t>
            </a:r>
            <a:endParaRPr kumimoji="1" lang="zh-TW" altLang="en-US" sz="2800" dirty="0">
              <a:solidFill>
                <a:srgbClr val="7030A0"/>
              </a:solidFill>
              <a:latin typeface="Heiti SC Medium" pitchFamily="2" charset="-128"/>
              <a:ea typeface="Heiti SC Medium" pitchFamily="2" charset="-128"/>
            </a:endParaRPr>
          </a:p>
        </p:txBody>
      </p:sp>
    </p:spTree>
    <p:extLst>
      <p:ext uri="{BB962C8B-B14F-4D97-AF65-F5344CB8AC3E}">
        <p14:creationId xmlns:p14="http://schemas.microsoft.com/office/powerpoint/2010/main" val="326040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05D4C-2A74-6E76-B931-4768132552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2E9E26-213D-295F-75FA-F4BF94BA85EE}"/>
              </a:ext>
            </a:extLst>
          </p:cNvPr>
          <p:cNvSpPr>
            <a:spLocks noGrp="1"/>
          </p:cNvSpPr>
          <p:nvPr>
            <p:ph type="title"/>
          </p:nvPr>
        </p:nvSpPr>
        <p:spPr>
          <a:xfrm>
            <a:off x="333124" y="855497"/>
            <a:ext cx="8623355" cy="709562"/>
          </a:xfrm>
        </p:spPr>
        <p:txBody>
          <a:bodyPr>
            <a:noAutofit/>
          </a:bodyPr>
          <a:lstStyle/>
          <a:p>
            <a:r>
              <a:rPr kumimoji="1" lang="zh-CN" altLang="en-US" sz="4400" b="1" i="0" dirty="0"/>
              <a:t>框架设计</a:t>
            </a:r>
          </a:p>
        </p:txBody>
      </p:sp>
      <p:sp>
        <p:nvSpPr>
          <p:cNvPr id="8" name="文本框 3">
            <a:extLst>
              <a:ext uri="{FF2B5EF4-FFF2-40B4-BE49-F238E27FC236}">
                <a16:creationId xmlns:a16="http://schemas.microsoft.com/office/drawing/2014/main" id="{414DC62F-409E-1A2F-B1CF-A806BF2EC2DF}"/>
              </a:ext>
            </a:extLst>
          </p:cNvPr>
          <p:cNvSpPr txBox="1"/>
          <p:nvPr/>
        </p:nvSpPr>
        <p:spPr>
          <a:xfrm>
            <a:off x="333124" y="1565059"/>
            <a:ext cx="8623355" cy="1938992"/>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       </a:t>
            </a:r>
            <a:r>
              <a:rPr lang="en-US" altLang="zh-TW" sz="2400" dirty="0">
                <a:latin typeface="微软雅黑" panose="020B0503020204020204" pitchFamily="34" charset="-122"/>
                <a:ea typeface="微软雅黑" panose="020B0503020204020204" pitchFamily="34" charset="-122"/>
              </a:rPr>
              <a:t>ESP</a:t>
            </a:r>
            <a:r>
              <a:rPr lang="en-US" altLang="zh-CN" sz="2400" dirty="0">
                <a:latin typeface="微软雅黑" panose="020B0503020204020204" pitchFamily="34" charset="-122"/>
                <a:ea typeface="微软雅黑" panose="020B0503020204020204" pitchFamily="34" charset="-122"/>
              </a:rPr>
              <a:t>32</a:t>
            </a:r>
            <a:r>
              <a:rPr lang="zh-CN" altLang="en-US" sz="2400" dirty="0">
                <a:latin typeface="微软雅黑" panose="020B0503020204020204" pitchFamily="34" charset="-122"/>
                <a:ea typeface="微软雅黑" panose="020B0503020204020204" pitchFamily="34" charset="-122"/>
              </a:rPr>
              <a:t>开发板需要</a:t>
            </a:r>
            <a:r>
              <a:rPr lang="en-US" altLang="zh-CN" sz="2400" dirty="0">
                <a:latin typeface="微软雅黑" panose="020B0503020204020204" pitchFamily="34" charset="-122"/>
                <a:ea typeface="微软雅黑" panose="020B0503020204020204" pitchFamily="34" charset="-122"/>
              </a:rPr>
              <a:t>5V</a:t>
            </a:r>
            <a:r>
              <a:rPr lang="zh-CN" altLang="en-US" sz="2400" dirty="0">
                <a:latin typeface="微软雅黑" panose="020B0503020204020204" pitchFamily="34" charset="-122"/>
                <a:ea typeface="微软雅黑" panose="020B0503020204020204" pitchFamily="34" charset="-122"/>
              </a:rPr>
              <a:t>的电源输入，才能驱动其中的</a:t>
            </a:r>
            <a:r>
              <a:rPr lang="en-US" altLang="zh-CN" sz="2400" dirty="0">
                <a:latin typeface="微软雅黑" panose="020B0503020204020204" pitchFamily="34" charset="-122"/>
                <a:ea typeface="微软雅黑" panose="020B0503020204020204" pitchFamily="34" charset="-122"/>
              </a:rPr>
              <a:t>LDO</a:t>
            </a:r>
            <a:r>
              <a:rPr lang="zh-CN" altLang="en-US" sz="2400" dirty="0">
                <a:latin typeface="微软雅黑" panose="020B0503020204020204" pitchFamily="34" charset="-122"/>
                <a:ea typeface="微软雅黑" panose="020B0503020204020204" pitchFamily="34" charset="-122"/>
              </a:rPr>
              <a:t>（线性稳压器）</a:t>
            </a:r>
            <a:r>
              <a:rPr lang="en-US" altLang="zh-CN" sz="2400" dirty="0">
                <a:latin typeface="微软雅黑" panose="020B0503020204020204" pitchFamily="34" charset="-122"/>
                <a:ea typeface="微软雅黑" panose="020B0503020204020204" pitchFamily="34" charset="-122"/>
              </a:rPr>
              <a:t>AMS1117</a:t>
            </a:r>
            <a:r>
              <a:rPr lang="zh-CN" altLang="en-US" sz="2400" dirty="0">
                <a:latin typeface="微软雅黑" panose="020B0503020204020204" pitchFamily="34" charset="-122"/>
                <a:ea typeface="微软雅黑" panose="020B0503020204020204" pitchFamily="34" charset="-122"/>
              </a:rPr>
              <a:t>转换为</a:t>
            </a:r>
            <a:r>
              <a:rPr lang="en-US" altLang="zh-CN" sz="2400" dirty="0">
                <a:latin typeface="微软雅黑" panose="020B0503020204020204" pitchFamily="34" charset="-122"/>
                <a:ea typeface="微软雅黑" panose="020B0503020204020204" pitchFamily="34" charset="-122"/>
              </a:rPr>
              <a:t>3V3</a:t>
            </a:r>
            <a:r>
              <a:rPr lang="zh-CN" altLang="en-US" sz="2400" dirty="0">
                <a:latin typeface="微软雅黑" panose="020B0503020204020204" pitchFamily="34" charset="-122"/>
                <a:ea typeface="微软雅黑" panose="020B0503020204020204" pitchFamily="34" charset="-122"/>
              </a:rPr>
              <a:t>的电压，进而驱动外设。</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而锂离子电池标称电压为</a:t>
            </a:r>
            <a:r>
              <a:rPr lang="en-US" altLang="zh-CN" sz="2400" dirty="0">
                <a:latin typeface="微软雅黑" panose="020B0503020204020204" pitchFamily="34" charset="-122"/>
                <a:ea typeface="微软雅黑" panose="020B0503020204020204" pitchFamily="34" charset="-122"/>
              </a:rPr>
              <a:t>3.8V</a:t>
            </a:r>
            <a:r>
              <a:rPr lang="zh-CN" altLang="en-US" sz="2400" dirty="0">
                <a:latin typeface="微软雅黑" panose="020B0503020204020204" pitchFamily="34" charset="-122"/>
                <a:ea typeface="微软雅黑" panose="020B0503020204020204" pitchFamily="34" charset="-122"/>
              </a:rPr>
              <a:t>，实际电压会在</a:t>
            </a:r>
            <a:r>
              <a:rPr lang="en-US" altLang="zh-CN" sz="2400" dirty="0">
                <a:latin typeface="微软雅黑" panose="020B0503020204020204" pitchFamily="34" charset="-122"/>
                <a:ea typeface="微软雅黑" panose="020B0503020204020204" pitchFamily="34" charset="-122"/>
              </a:rPr>
              <a:t>3.5V-4.2V</a:t>
            </a:r>
            <a:r>
              <a:rPr lang="zh-CN" altLang="en-US" sz="2400" dirty="0">
                <a:latin typeface="微软雅黑" panose="020B0503020204020204" pitchFamily="34" charset="-122"/>
                <a:ea typeface="微软雅黑" panose="020B0503020204020204" pitchFamily="34" charset="-122"/>
              </a:rPr>
              <a:t>不等，无法有效驱动</a:t>
            </a:r>
            <a:r>
              <a:rPr lang="en-US" altLang="zh-CN" sz="2400" dirty="0">
                <a:latin typeface="微软雅黑" panose="020B0503020204020204" pitchFamily="34" charset="-122"/>
                <a:ea typeface="微软雅黑" panose="020B0503020204020204" pitchFamily="34" charset="-122"/>
              </a:rPr>
              <a:t>ESP32</a:t>
            </a:r>
            <a:r>
              <a:rPr lang="zh-CN" altLang="en-US" sz="2400" dirty="0">
                <a:latin typeface="微软雅黑" panose="020B0503020204020204" pitchFamily="34" charset="-122"/>
                <a:ea typeface="微软雅黑" panose="020B0503020204020204" pitchFamily="34" charset="-122"/>
              </a:rPr>
              <a:t>开发板。</a:t>
            </a:r>
            <a:endParaRPr lang="en-US" altLang="zh-CN" sz="2400" dirty="0">
              <a:latin typeface="微软雅黑" panose="020B0503020204020204" pitchFamily="34" charset="-122"/>
              <a:ea typeface="微软雅黑" panose="020B0503020204020204" pitchFamily="34" charset="-122"/>
            </a:endParaRPr>
          </a:p>
        </p:txBody>
      </p:sp>
      <p:pic>
        <p:nvPicPr>
          <p:cNvPr id="24" name="圖片 23" descr="如何在Arduino IDE中，新增ESP32系列開發板">
            <a:extLst>
              <a:ext uri="{FF2B5EF4-FFF2-40B4-BE49-F238E27FC236}">
                <a16:creationId xmlns:a16="http://schemas.microsoft.com/office/drawing/2014/main" id="{C545A05A-2F43-1223-BBBA-4E7A1335C099}"/>
              </a:ext>
            </a:extLst>
          </p:cNvPr>
          <p:cNvPicPr>
            <a:picLocks noChangeAspect="1"/>
          </p:cNvPicPr>
          <p:nvPr/>
        </p:nvPicPr>
        <p:blipFill>
          <a:blip r:embed="rId3"/>
          <a:stretch>
            <a:fillRect/>
          </a:stretch>
        </p:blipFill>
        <p:spPr>
          <a:xfrm>
            <a:off x="4135825" y="3680326"/>
            <a:ext cx="4820654" cy="3019835"/>
          </a:xfrm>
          <a:prstGeom prst="rect">
            <a:avLst/>
          </a:prstGeom>
        </p:spPr>
      </p:pic>
      <p:sp>
        <p:nvSpPr>
          <p:cNvPr id="26" name="橢圓 25">
            <a:extLst>
              <a:ext uri="{FF2B5EF4-FFF2-40B4-BE49-F238E27FC236}">
                <a16:creationId xmlns:a16="http://schemas.microsoft.com/office/drawing/2014/main" id="{24B9591C-3BCE-414D-25DD-B021274D02F6}"/>
              </a:ext>
            </a:extLst>
          </p:cNvPr>
          <p:cNvSpPr/>
          <p:nvPr/>
        </p:nvSpPr>
        <p:spPr>
          <a:xfrm>
            <a:off x="6546152" y="4644189"/>
            <a:ext cx="890336" cy="806116"/>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文本框 3">
            <a:extLst>
              <a:ext uri="{FF2B5EF4-FFF2-40B4-BE49-F238E27FC236}">
                <a16:creationId xmlns:a16="http://schemas.microsoft.com/office/drawing/2014/main" id="{89C4D447-3BE1-2C7C-AA3A-7FE1E1127BA6}"/>
              </a:ext>
            </a:extLst>
          </p:cNvPr>
          <p:cNvSpPr txBox="1"/>
          <p:nvPr/>
        </p:nvSpPr>
        <p:spPr>
          <a:xfrm>
            <a:off x="260322" y="3680325"/>
            <a:ext cx="3875503" cy="3046988"/>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        </a:t>
            </a:r>
            <a:r>
              <a:rPr lang="zh-TW" altLang="en-US" sz="2400" dirty="0">
                <a:latin typeface="微软雅黑" panose="020B0503020204020204" pitchFamily="34" charset="-122"/>
                <a:ea typeface="微软雅黑" panose="020B0503020204020204" pitchFamily="34" charset="-122"/>
              </a:rPr>
              <a:t>所以我们需要使用可以将锂电池电压升高到</a:t>
            </a:r>
            <a:r>
              <a:rPr lang="en-US" altLang="zh-CN" sz="2400" dirty="0">
                <a:latin typeface="微软雅黑" panose="020B0503020204020204" pitchFamily="34" charset="-122"/>
                <a:ea typeface="微软雅黑" panose="020B0503020204020204" pitchFamily="34" charset="-122"/>
              </a:rPr>
              <a:t>5V</a:t>
            </a:r>
            <a:r>
              <a:rPr lang="zh-CN" altLang="en-US" sz="2400" dirty="0">
                <a:latin typeface="微软雅黑" panose="020B0503020204020204" pitchFamily="34" charset="-122"/>
                <a:ea typeface="微软雅黑" panose="020B0503020204020204" pitchFamily="34" charset="-122"/>
              </a:rPr>
              <a:t>的芯片。</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对于小功率应用，我们可以选择</a:t>
            </a:r>
            <a:r>
              <a:rPr lang="en" altLang="zh-CN" sz="2400" dirty="0">
                <a:latin typeface="微软雅黑" panose="020B0503020204020204" pitchFamily="34" charset="-122"/>
                <a:ea typeface="微软雅黑" panose="020B0503020204020204" pitchFamily="34" charset="-122"/>
              </a:rPr>
              <a:t>MT3608</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那我们应该如何应用</a:t>
            </a:r>
            <a:r>
              <a:rPr lang="en-US" altLang="zh-CN" sz="2400" dirty="0">
                <a:latin typeface="微软雅黑" panose="020B0503020204020204" pitchFamily="34" charset="-122"/>
                <a:ea typeface="微软雅黑" panose="020B0503020204020204" pitchFamily="34" charset="-122"/>
              </a:rPr>
              <a:t>MT3608</a:t>
            </a:r>
            <a:r>
              <a:rPr lang="zh-CN" altLang="en-US" sz="2400" dirty="0">
                <a:latin typeface="微软雅黑" panose="020B0503020204020204" pitchFamily="34" charset="-122"/>
                <a:ea typeface="微软雅黑" panose="020B0503020204020204" pitchFamily="34" charset="-122"/>
              </a:rPr>
              <a:t>这颗芯片呢？</a:t>
            </a:r>
            <a:endParaRPr lang="en"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678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FEDE9-6F0F-7627-B6A4-CF934FDB123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0BF73E-8D88-ED60-A6F5-28D0493415B6}"/>
              </a:ext>
            </a:extLst>
          </p:cNvPr>
          <p:cNvSpPr>
            <a:spLocks noGrp="1"/>
          </p:cNvSpPr>
          <p:nvPr>
            <p:ph type="title"/>
          </p:nvPr>
        </p:nvSpPr>
        <p:spPr>
          <a:xfrm>
            <a:off x="333124" y="855497"/>
            <a:ext cx="8623355" cy="709562"/>
          </a:xfrm>
        </p:spPr>
        <p:txBody>
          <a:bodyPr>
            <a:noAutofit/>
          </a:bodyPr>
          <a:lstStyle/>
          <a:p>
            <a:r>
              <a:rPr kumimoji="1" lang="zh-CN" altLang="en-US" sz="4400" b="1" i="0" dirty="0"/>
              <a:t>数据手册（</a:t>
            </a:r>
            <a:r>
              <a:rPr kumimoji="1" lang="en-US" altLang="zh-CN" sz="4400" b="1" i="0" dirty="0"/>
              <a:t>Datasheet</a:t>
            </a:r>
            <a:r>
              <a:rPr kumimoji="1" lang="zh-CN" altLang="en-US" sz="4400" b="1" i="0" dirty="0"/>
              <a:t>）</a:t>
            </a:r>
          </a:p>
        </p:txBody>
      </p:sp>
      <p:sp>
        <p:nvSpPr>
          <p:cNvPr id="8" name="文本框 3">
            <a:extLst>
              <a:ext uri="{FF2B5EF4-FFF2-40B4-BE49-F238E27FC236}">
                <a16:creationId xmlns:a16="http://schemas.microsoft.com/office/drawing/2014/main" id="{C99A6B93-B8BB-7360-3E1B-C8321E009E2F}"/>
              </a:ext>
            </a:extLst>
          </p:cNvPr>
          <p:cNvSpPr txBox="1"/>
          <p:nvPr/>
        </p:nvSpPr>
        <p:spPr>
          <a:xfrm>
            <a:off x="333125" y="1565059"/>
            <a:ext cx="4756234" cy="489364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       </a:t>
            </a:r>
            <a:r>
              <a:rPr lang="en-US" altLang="zh-TW" sz="2400" dirty="0">
                <a:latin typeface="微软雅黑" panose="020B0503020204020204" pitchFamily="34" charset="-122"/>
                <a:ea typeface="微软雅黑" panose="020B0503020204020204" pitchFamily="34" charset="-122"/>
              </a:rPr>
              <a:t>Datasheet </a:t>
            </a:r>
            <a:r>
              <a:rPr lang="zh-TW" altLang="en-US" sz="2400" dirty="0">
                <a:latin typeface="微软雅黑" panose="020B0503020204020204" pitchFamily="34" charset="-122"/>
                <a:ea typeface="微软雅黑" panose="020B0503020204020204" pitchFamily="34" charset="-122"/>
              </a:rPr>
              <a:t>是元器件的技术说明书，用来回答硬件设计中的关键问题：这个器件怎么供电、每个引脚是什么功能、能承受多大电压和电流、典型电路如何连接、实际封装和焊盘尺寸是多少。</a:t>
            </a:r>
            <a:r>
              <a:rPr lang="en-US" altLang="zh-TW" sz="2400" dirty="0">
                <a:latin typeface="微软雅黑" panose="020B0503020204020204" pitchFamily="34" charset="-122"/>
                <a:ea typeface="微软雅黑" panose="020B0503020204020204" pitchFamily="34" charset="-122"/>
              </a:rPr>
              <a:t>PCB </a:t>
            </a:r>
            <a:r>
              <a:rPr lang="zh-TW" altLang="en-US" sz="2400" dirty="0">
                <a:latin typeface="微软雅黑" panose="020B0503020204020204" pitchFamily="34" charset="-122"/>
                <a:ea typeface="微软雅黑" panose="020B0503020204020204" pitchFamily="34" charset="-122"/>
              </a:rPr>
              <a:t>设计不能只看元件名称，必须通过 </a:t>
            </a:r>
            <a:r>
              <a:rPr lang="en-US" altLang="zh-TW" sz="2400" dirty="0">
                <a:latin typeface="微软雅黑" panose="020B0503020204020204" pitchFamily="34" charset="-122"/>
                <a:ea typeface="微软雅黑" panose="020B0503020204020204" pitchFamily="34" charset="-122"/>
              </a:rPr>
              <a:t>Datasheet </a:t>
            </a:r>
            <a:r>
              <a:rPr lang="zh-TW" altLang="en-US" sz="2400" dirty="0">
                <a:latin typeface="微软雅黑" panose="020B0503020204020204" pitchFamily="34" charset="-122"/>
                <a:ea typeface="微软雅黑" panose="020B0503020204020204" pitchFamily="34" charset="-122"/>
              </a:rPr>
              <a:t>确认电气连接和物理封装是否正确。</a:t>
            </a:r>
            <a:endParaRPr lang="en-US" altLang="zh-TW" sz="2400" dirty="0">
              <a:latin typeface="微软雅黑" panose="020B0503020204020204" pitchFamily="34" charset="-122"/>
              <a:ea typeface="微软雅黑" panose="020B0503020204020204" pitchFamily="34" charset="-122"/>
            </a:endParaRPr>
          </a:p>
          <a:p>
            <a:endParaRPr lang="en-US" altLang="zh-TW"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        </a:t>
            </a:r>
            <a:r>
              <a:rPr lang="zh-TW" altLang="en-US" sz="2400" dirty="0">
                <a:latin typeface="微软雅黑" panose="020B0503020204020204" pitchFamily="34" charset="-122"/>
                <a:ea typeface="微软雅黑" panose="020B0503020204020204" pitchFamily="34" charset="-122"/>
              </a:rPr>
              <a:t>下面将以</a:t>
            </a:r>
            <a:r>
              <a:rPr lang="en-US" altLang="zh-TW" sz="2400" dirty="0">
                <a:latin typeface="微软雅黑" panose="020B0503020204020204" pitchFamily="34" charset="-122"/>
                <a:ea typeface="微软雅黑" panose="020B0503020204020204" pitchFamily="34" charset="-122"/>
              </a:rPr>
              <a:t>MT</a:t>
            </a:r>
            <a:r>
              <a:rPr lang="en-US" altLang="zh-CN" sz="2400" dirty="0">
                <a:latin typeface="微软雅黑" panose="020B0503020204020204" pitchFamily="34" charset="-122"/>
                <a:ea typeface="微软雅黑" panose="020B0503020204020204" pitchFamily="34" charset="-122"/>
              </a:rPr>
              <a:t>3608</a:t>
            </a:r>
            <a:r>
              <a:rPr lang="zh-CN" altLang="en-US" sz="2400" dirty="0">
                <a:latin typeface="微软雅黑" panose="020B0503020204020204" pitchFamily="34" charset="-122"/>
                <a:ea typeface="微软雅黑" panose="020B0503020204020204" pitchFamily="34" charset="-122"/>
              </a:rPr>
              <a:t>为例，教大家如何阅读数据手册并实现简单的应用。</a:t>
            </a:r>
            <a:endParaRPr lang="zh-TW" altLang="en-US" sz="2400" dirty="0">
              <a:latin typeface="微软雅黑" panose="020B0503020204020204" pitchFamily="34" charset="-122"/>
              <a:ea typeface="微软雅黑" panose="020B0503020204020204" pitchFamily="34" charset="-122"/>
            </a:endParaRPr>
          </a:p>
        </p:txBody>
      </p:sp>
      <p:pic>
        <p:nvPicPr>
          <p:cNvPr id="3" name="圖片 2">
            <a:extLst>
              <a:ext uri="{FF2B5EF4-FFF2-40B4-BE49-F238E27FC236}">
                <a16:creationId xmlns:a16="http://schemas.microsoft.com/office/drawing/2014/main" id="{9424F2AD-6AB5-E66F-6EAF-43C8C64BC4DF}"/>
              </a:ext>
            </a:extLst>
          </p:cNvPr>
          <p:cNvPicPr>
            <a:picLocks noChangeAspect="1"/>
          </p:cNvPicPr>
          <p:nvPr/>
        </p:nvPicPr>
        <p:blipFill>
          <a:blip r:embed="rId3"/>
          <a:stretch>
            <a:fillRect/>
          </a:stretch>
        </p:blipFill>
        <p:spPr>
          <a:xfrm>
            <a:off x="5177093" y="1565059"/>
            <a:ext cx="3691652" cy="4817051"/>
          </a:xfrm>
          <a:prstGeom prst="rect">
            <a:avLst/>
          </a:prstGeom>
        </p:spPr>
      </p:pic>
    </p:spTree>
    <p:extLst>
      <p:ext uri="{BB962C8B-B14F-4D97-AF65-F5344CB8AC3E}">
        <p14:creationId xmlns:p14="http://schemas.microsoft.com/office/powerpoint/2010/main" val="3318594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E0152-396B-DB9B-0E93-4FA843527C4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E4FA0E9-0924-4743-E77F-C69F12A4394D}"/>
              </a:ext>
            </a:extLst>
          </p:cNvPr>
          <p:cNvSpPr>
            <a:spLocks noGrp="1"/>
          </p:cNvSpPr>
          <p:nvPr>
            <p:ph type="title"/>
          </p:nvPr>
        </p:nvSpPr>
        <p:spPr>
          <a:xfrm>
            <a:off x="333124" y="855497"/>
            <a:ext cx="8623355" cy="709562"/>
          </a:xfrm>
        </p:spPr>
        <p:txBody>
          <a:bodyPr>
            <a:noAutofit/>
          </a:bodyPr>
          <a:lstStyle/>
          <a:p>
            <a:r>
              <a:rPr kumimoji="1" lang="zh-CN" altLang="en-US" sz="4400" b="1" i="0" dirty="0"/>
              <a:t>总览</a:t>
            </a:r>
          </a:p>
        </p:txBody>
      </p:sp>
      <p:sp>
        <p:nvSpPr>
          <p:cNvPr id="4" name="圓角矩形 3">
            <a:extLst>
              <a:ext uri="{FF2B5EF4-FFF2-40B4-BE49-F238E27FC236}">
                <a16:creationId xmlns:a16="http://schemas.microsoft.com/office/drawing/2014/main" id="{75EF69FE-F3CE-9465-BD60-FF0913CF452C}"/>
              </a:ext>
            </a:extLst>
          </p:cNvPr>
          <p:cNvSpPr/>
          <p:nvPr/>
        </p:nvSpPr>
        <p:spPr>
          <a:xfrm>
            <a:off x="3676647" y="2071497"/>
            <a:ext cx="1840831" cy="4692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t>ESP</a:t>
            </a:r>
            <a:r>
              <a:rPr kumimoji="1" lang="en-US" altLang="zh-CN" dirty="0"/>
              <a:t>32</a:t>
            </a:r>
            <a:r>
              <a:rPr kumimoji="1" lang="zh-CN" altLang="en-US" dirty="0"/>
              <a:t>开发板</a:t>
            </a:r>
            <a:endParaRPr kumimoji="1" lang="zh-TW" altLang="en-US" dirty="0"/>
          </a:p>
        </p:txBody>
      </p:sp>
      <p:sp>
        <p:nvSpPr>
          <p:cNvPr id="6" name="圓角矩形 5">
            <a:extLst>
              <a:ext uri="{FF2B5EF4-FFF2-40B4-BE49-F238E27FC236}">
                <a16:creationId xmlns:a16="http://schemas.microsoft.com/office/drawing/2014/main" id="{4D2EA9A5-D1CB-A1BA-8C96-E7919FC302C7}"/>
              </a:ext>
            </a:extLst>
          </p:cNvPr>
          <p:cNvSpPr/>
          <p:nvPr/>
        </p:nvSpPr>
        <p:spPr>
          <a:xfrm>
            <a:off x="3394910" y="3194383"/>
            <a:ext cx="2404311" cy="619627"/>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sz="2800" b="1" dirty="0">
                <a:latin typeface="HEITI SC MEDIUM" pitchFamily="2" charset="-128"/>
                <a:ea typeface="HEITI SC MEDIUM" pitchFamily="2" charset="-128"/>
              </a:rPr>
              <a:t>自制</a:t>
            </a:r>
            <a:r>
              <a:rPr kumimoji="1" lang="zh-CN" altLang="en-US" sz="2800" b="1" dirty="0">
                <a:latin typeface="HEITI SC MEDIUM" pitchFamily="2" charset="-128"/>
                <a:ea typeface="HEITI SC MEDIUM" pitchFamily="2" charset="-128"/>
              </a:rPr>
              <a:t>扩展板</a:t>
            </a:r>
            <a:endParaRPr kumimoji="1" lang="zh-TW" altLang="en-US" sz="2800" b="1" dirty="0">
              <a:latin typeface="HEITI SC MEDIUM" pitchFamily="2" charset="-128"/>
              <a:ea typeface="HEITI SC MEDIUM" pitchFamily="2" charset="-128"/>
            </a:endParaRPr>
          </a:p>
        </p:txBody>
      </p:sp>
      <p:sp>
        <p:nvSpPr>
          <p:cNvPr id="7" name="向下箭號 6">
            <a:extLst>
              <a:ext uri="{FF2B5EF4-FFF2-40B4-BE49-F238E27FC236}">
                <a16:creationId xmlns:a16="http://schemas.microsoft.com/office/drawing/2014/main" id="{DE9511EB-8D17-85BE-CF22-B692E907B38F}"/>
              </a:ext>
            </a:extLst>
          </p:cNvPr>
          <p:cNvSpPr/>
          <p:nvPr/>
        </p:nvSpPr>
        <p:spPr>
          <a:xfrm>
            <a:off x="4218773" y="2622585"/>
            <a:ext cx="756584"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solidFill>
                  <a:srgbClr val="7030A0"/>
                </a:solidFill>
                <a:latin typeface="Heiti SC Medium" pitchFamily="2" charset="-128"/>
                <a:ea typeface="Heiti SC Medium" pitchFamily="2" charset="-128"/>
              </a:rPr>
              <a:t>焊接</a:t>
            </a:r>
          </a:p>
        </p:txBody>
      </p:sp>
      <p:sp>
        <p:nvSpPr>
          <p:cNvPr id="9" name="向下箭號 8">
            <a:extLst>
              <a:ext uri="{FF2B5EF4-FFF2-40B4-BE49-F238E27FC236}">
                <a16:creationId xmlns:a16="http://schemas.microsoft.com/office/drawing/2014/main" id="{AE9DCE8A-C6E0-5362-C59B-0E09CDF9DBA3}"/>
              </a:ext>
            </a:extLst>
          </p:cNvPr>
          <p:cNvSpPr/>
          <p:nvPr/>
        </p:nvSpPr>
        <p:spPr>
          <a:xfrm rot="14458133">
            <a:off x="6206841" y="2571115"/>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0" name="向下箭號 9">
            <a:extLst>
              <a:ext uri="{FF2B5EF4-FFF2-40B4-BE49-F238E27FC236}">
                <a16:creationId xmlns:a16="http://schemas.microsoft.com/office/drawing/2014/main" id="{5DC2C2B2-0EB4-D2A6-9D00-013E149F306F}"/>
              </a:ext>
            </a:extLst>
          </p:cNvPr>
          <p:cNvSpPr/>
          <p:nvPr/>
        </p:nvSpPr>
        <p:spPr>
          <a:xfrm rot="16200000">
            <a:off x="6341194" y="3218296"/>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1" name="向下箭號 10">
            <a:extLst>
              <a:ext uri="{FF2B5EF4-FFF2-40B4-BE49-F238E27FC236}">
                <a16:creationId xmlns:a16="http://schemas.microsoft.com/office/drawing/2014/main" id="{351B2237-4C0F-0910-0B7F-D30A81275210}"/>
              </a:ext>
            </a:extLst>
          </p:cNvPr>
          <p:cNvSpPr/>
          <p:nvPr/>
        </p:nvSpPr>
        <p:spPr>
          <a:xfrm rot="17974646">
            <a:off x="6206416" y="3867343"/>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2" name="向下箭號 11">
            <a:extLst>
              <a:ext uri="{FF2B5EF4-FFF2-40B4-BE49-F238E27FC236}">
                <a16:creationId xmlns:a16="http://schemas.microsoft.com/office/drawing/2014/main" id="{CAD11285-2F20-5327-A4AC-E22849A3E120}"/>
              </a:ext>
            </a:extLst>
          </p:cNvPr>
          <p:cNvSpPr/>
          <p:nvPr/>
        </p:nvSpPr>
        <p:spPr>
          <a:xfrm rot="3057479">
            <a:off x="2730386" y="4022757"/>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3" name="向下箭號 12">
            <a:extLst>
              <a:ext uri="{FF2B5EF4-FFF2-40B4-BE49-F238E27FC236}">
                <a16:creationId xmlns:a16="http://schemas.microsoft.com/office/drawing/2014/main" id="{D3CD12D2-F28E-8E2C-AF7C-67FB85BA597F}"/>
              </a:ext>
            </a:extLst>
          </p:cNvPr>
          <p:cNvSpPr/>
          <p:nvPr/>
        </p:nvSpPr>
        <p:spPr>
          <a:xfrm rot="5400000">
            <a:off x="2555354" y="3218297"/>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14" name="向下箭號 13">
            <a:extLst>
              <a:ext uri="{FF2B5EF4-FFF2-40B4-BE49-F238E27FC236}">
                <a16:creationId xmlns:a16="http://schemas.microsoft.com/office/drawing/2014/main" id="{F8C5CDA4-710F-B477-BFCE-0EEB3D28E965}"/>
              </a:ext>
            </a:extLst>
          </p:cNvPr>
          <p:cNvSpPr/>
          <p:nvPr/>
        </p:nvSpPr>
        <p:spPr>
          <a:xfrm rot="7328647">
            <a:off x="2694417" y="2434145"/>
            <a:ext cx="21887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pic>
        <p:nvPicPr>
          <p:cNvPr id="15" name="圖片 14">
            <a:extLst>
              <a:ext uri="{FF2B5EF4-FFF2-40B4-BE49-F238E27FC236}">
                <a16:creationId xmlns:a16="http://schemas.microsoft.com/office/drawing/2014/main" id="{6DC6FAF7-A5ED-9352-401A-195D93B5F85F}"/>
              </a:ext>
            </a:extLst>
          </p:cNvPr>
          <p:cNvPicPr>
            <a:picLocks noChangeAspect="1"/>
          </p:cNvPicPr>
          <p:nvPr/>
        </p:nvPicPr>
        <p:blipFill>
          <a:blip r:embed="rId3"/>
          <a:stretch>
            <a:fillRect/>
          </a:stretch>
        </p:blipFill>
        <p:spPr>
          <a:xfrm>
            <a:off x="800267" y="1530544"/>
            <a:ext cx="1182509" cy="1439991"/>
          </a:xfrm>
          <a:prstGeom prst="rect">
            <a:avLst/>
          </a:prstGeom>
        </p:spPr>
      </p:pic>
      <p:pic>
        <p:nvPicPr>
          <p:cNvPr id="16" name="圖片 15">
            <a:extLst>
              <a:ext uri="{FF2B5EF4-FFF2-40B4-BE49-F238E27FC236}">
                <a16:creationId xmlns:a16="http://schemas.microsoft.com/office/drawing/2014/main" id="{B751CEB6-5440-FC92-9F74-42F0AFD478F7}"/>
              </a:ext>
            </a:extLst>
          </p:cNvPr>
          <p:cNvPicPr>
            <a:picLocks noChangeAspect="1"/>
          </p:cNvPicPr>
          <p:nvPr/>
        </p:nvPicPr>
        <p:blipFill>
          <a:blip r:embed="rId4"/>
          <a:stretch>
            <a:fillRect/>
          </a:stretch>
        </p:blipFill>
        <p:spPr>
          <a:xfrm>
            <a:off x="686735" y="2964819"/>
            <a:ext cx="1404398" cy="1424719"/>
          </a:xfrm>
          <a:prstGeom prst="rect">
            <a:avLst/>
          </a:prstGeom>
        </p:spPr>
      </p:pic>
      <p:pic>
        <p:nvPicPr>
          <p:cNvPr id="17" name="圖片 16">
            <a:extLst>
              <a:ext uri="{FF2B5EF4-FFF2-40B4-BE49-F238E27FC236}">
                <a16:creationId xmlns:a16="http://schemas.microsoft.com/office/drawing/2014/main" id="{AC77AC2E-19E5-5690-DA90-5B5A2717171C}"/>
              </a:ext>
            </a:extLst>
          </p:cNvPr>
          <p:cNvPicPr>
            <a:picLocks noChangeAspect="1"/>
          </p:cNvPicPr>
          <p:nvPr/>
        </p:nvPicPr>
        <p:blipFill>
          <a:blip r:embed="rId5"/>
          <a:stretch>
            <a:fillRect/>
          </a:stretch>
        </p:blipFill>
        <p:spPr>
          <a:xfrm>
            <a:off x="1085537" y="4494682"/>
            <a:ext cx="1456595" cy="1545171"/>
          </a:xfrm>
          <a:prstGeom prst="rect">
            <a:avLst/>
          </a:prstGeom>
        </p:spPr>
      </p:pic>
      <p:pic>
        <p:nvPicPr>
          <p:cNvPr id="18" name="圖片 17">
            <a:extLst>
              <a:ext uri="{FF2B5EF4-FFF2-40B4-BE49-F238E27FC236}">
                <a16:creationId xmlns:a16="http://schemas.microsoft.com/office/drawing/2014/main" id="{2E713CFC-E5EE-CD2C-4717-E7A2B8B0500A}"/>
              </a:ext>
            </a:extLst>
          </p:cNvPr>
          <p:cNvPicPr>
            <a:picLocks noChangeAspect="1"/>
          </p:cNvPicPr>
          <p:nvPr/>
        </p:nvPicPr>
        <p:blipFill>
          <a:blip r:embed="rId6"/>
          <a:stretch>
            <a:fillRect/>
          </a:stretch>
        </p:blipFill>
        <p:spPr>
          <a:xfrm>
            <a:off x="6912812" y="1347727"/>
            <a:ext cx="1234121" cy="1447540"/>
          </a:xfrm>
          <a:prstGeom prst="rect">
            <a:avLst/>
          </a:prstGeom>
        </p:spPr>
      </p:pic>
      <p:pic>
        <p:nvPicPr>
          <p:cNvPr id="19" name="圖片 18">
            <a:extLst>
              <a:ext uri="{FF2B5EF4-FFF2-40B4-BE49-F238E27FC236}">
                <a16:creationId xmlns:a16="http://schemas.microsoft.com/office/drawing/2014/main" id="{3625F59C-B514-9FF5-8084-199F626B00F2}"/>
              </a:ext>
            </a:extLst>
          </p:cNvPr>
          <p:cNvPicPr>
            <a:picLocks noChangeAspect="1"/>
          </p:cNvPicPr>
          <p:nvPr/>
        </p:nvPicPr>
        <p:blipFill>
          <a:blip r:embed="rId7"/>
          <a:stretch>
            <a:fillRect/>
          </a:stretch>
        </p:blipFill>
        <p:spPr>
          <a:xfrm>
            <a:off x="7052867" y="2928109"/>
            <a:ext cx="1100700" cy="1278505"/>
          </a:xfrm>
          <a:prstGeom prst="rect">
            <a:avLst/>
          </a:prstGeom>
        </p:spPr>
      </p:pic>
      <p:pic>
        <p:nvPicPr>
          <p:cNvPr id="20" name="圖片 19">
            <a:extLst>
              <a:ext uri="{FF2B5EF4-FFF2-40B4-BE49-F238E27FC236}">
                <a16:creationId xmlns:a16="http://schemas.microsoft.com/office/drawing/2014/main" id="{55738341-339D-3522-8BF8-EC03D91616FF}"/>
              </a:ext>
            </a:extLst>
          </p:cNvPr>
          <p:cNvPicPr>
            <a:picLocks noChangeAspect="1"/>
          </p:cNvPicPr>
          <p:nvPr/>
        </p:nvPicPr>
        <p:blipFill>
          <a:blip r:embed="rId8"/>
          <a:stretch>
            <a:fillRect/>
          </a:stretch>
        </p:blipFill>
        <p:spPr>
          <a:xfrm>
            <a:off x="6867780" y="4389538"/>
            <a:ext cx="1321933" cy="1347853"/>
          </a:xfrm>
          <a:prstGeom prst="rect">
            <a:avLst/>
          </a:prstGeom>
        </p:spPr>
      </p:pic>
      <p:pic>
        <p:nvPicPr>
          <p:cNvPr id="21" name="圖片 20">
            <a:extLst>
              <a:ext uri="{FF2B5EF4-FFF2-40B4-BE49-F238E27FC236}">
                <a16:creationId xmlns:a16="http://schemas.microsoft.com/office/drawing/2014/main" id="{E877394E-64AB-94FE-E8BA-BEB1DBB17BAD}"/>
              </a:ext>
            </a:extLst>
          </p:cNvPr>
          <p:cNvPicPr>
            <a:picLocks noChangeAspect="1"/>
          </p:cNvPicPr>
          <p:nvPr/>
        </p:nvPicPr>
        <p:blipFill>
          <a:blip r:embed="rId9"/>
          <a:stretch>
            <a:fillRect/>
          </a:stretch>
        </p:blipFill>
        <p:spPr>
          <a:xfrm>
            <a:off x="4013200" y="5366753"/>
            <a:ext cx="1117600" cy="1346200"/>
          </a:xfrm>
          <a:prstGeom prst="rect">
            <a:avLst/>
          </a:prstGeom>
        </p:spPr>
      </p:pic>
      <p:sp>
        <p:nvSpPr>
          <p:cNvPr id="22" name="向下箭號 21">
            <a:extLst>
              <a:ext uri="{FF2B5EF4-FFF2-40B4-BE49-F238E27FC236}">
                <a16:creationId xmlns:a16="http://schemas.microsoft.com/office/drawing/2014/main" id="{FF5DF6F2-940F-9D67-A3AF-D902AE202268}"/>
              </a:ext>
            </a:extLst>
          </p:cNvPr>
          <p:cNvSpPr/>
          <p:nvPr/>
        </p:nvSpPr>
        <p:spPr>
          <a:xfrm rot="10800000">
            <a:off x="3936097" y="4869487"/>
            <a:ext cx="1321933" cy="571798"/>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
        <p:nvSpPr>
          <p:cNvPr id="23" name="文字方塊 22">
            <a:extLst>
              <a:ext uri="{FF2B5EF4-FFF2-40B4-BE49-F238E27FC236}">
                <a16:creationId xmlns:a16="http://schemas.microsoft.com/office/drawing/2014/main" id="{29AD4C1E-8C0F-85BB-5CD6-FFB148D6E2B8}"/>
              </a:ext>
            </a:extLst>
          </p:cNvPr>
          <p:cNvSpPr txBox="1"/>
          <p:nvPr/>
        </p:nvSpPr>
        <p:spPr>
          <a:xfrm>
            <a:off x="4268349" y="4865210"/>
            <a:ext cx="657426" cy="646331"/>
          </a:xfrm>
          <a:prstGeom prst="rect">
            <a:avLst/>
          </a:prstGeom>
          <a:noFill/>
        </p:spPr>
        <p:txBody>
          <a:bodyPr wrap="square" rtlCol="0">
            <a:spAutoFit/>
          </a:bodyPr>
          <a:lstStyle/>
          <a:p>
            <a:r>
              <a:rPr kumimoji="1" lang="zh-TW" altLang="en-US" dirty="0">
                <a:solidFill>
                  <a:srgbClr val="7030A0"/>
                </a:solidFill>
                <a:latin typeface="Heiti SC Medium" pitchFamily="2" charset="-128"/>
                <a:ea typeface="Heiti SC Medium" pitchFamily="2" charset="-128"/>
              </a:rPr>
              <a:t>供电开关</a:t>
            </a:r>
          </a:p>
        </p:txBody>
      </p:sp>
      <p:sp>
        <p:nvSpPr>
          <p:cNvPr id="3" name="圓角矩形 2">
            <a:extLst>
              <a:ext uri="{FF2B5EF4-FFF2-40B4-BE49-F238E27FC236}">
                <a16:creationId xmlns:a16="http://schemas.microsoft.com/office/drawing/2014/main" id="{8D239917-44D2-03C9-B3E4-1483E4A68D2D}"/>
              </a:ext>
            </a:extLst>
          </p:cNvPr>
          <p:cNvSpPr/>
          <p:nvPr/>
        </p:nvSpPr>
        <p:spPr>
          <a:xfrm>
            <a:off x="3676647" y="4339123"/>
            <a:ext cx="1840831" cy="4692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dirty="0">
                <a:latin typeface="Heiti SC Medium" pitchFamily="2" charset="-128"/>
                <a:ea typeface="Heiti SC Medium" pitchFamily="2" charset="-128"/>
              </a:rPr>
              <a:t>MT3608</a:t>
            </a:r>
            <a:r>
              <a:rPr kumimoji="1" lang="zh-TW" altLang="en-US" dirty="0">
                <a:latin typeface="Heiti SC Medium" pitchFamily="2" charset="-128"/>
                <a:ea typeface="Heiti SC Medium" pitchFamily="2" charset="-128"/>
              </a:rPr>
              <a:t>升压</a:t>
            </a:r>
          </a:p>
        </p:txBody>
      </p:sp>
      <p:sp>
        <p:nvSpPr>
          <p:cNvPr id="5" name="向下箭號 4">
            <a:extLst>
              <a:ext uri="{FF2B5EF4-FFF2-40B4-BE49-F238E27FC236}">
                <a16:creationId xmlns:a16="http://schemas.microsoft.com/office/drawing/2014/main" id="{07814C4B-8E9B-F310-0518-1CCAC928CB04}"/>
              </a:ext>
            </a:extLst>
          </p:cNvPr>
          <p:cNvSpPr/>
          <p:nvPr/>
        </p:nvSpPr>
        <p:spPr>
          <a:xfrm rot="10800000">
            <a:off x="4254048" y="3888227"/>
            <a:ext cx="686028" cy="420429"/>
          </a:xfrm>
          <a:prstGeom prst="downArrow">
            <a:avLst>
              <a:gd name="adj1" fmla="val 50000"/>
              <a:gd name="adj2" fmla="val 5228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rgbClr val="7030A0"/>
              </a:solidFill>
              <a:latin typeface="Heiti SC Medium" pitchFamily="2" charset="-128"/>
              <a:ea typeface="Heiti SC Medium" pitchFamily="2" charset="-128"/>
            </a:endParaRPr>
          </a:p>
        </p:txBody>
      </p:sp>
    </p:spTree>
    <p:extLst>
      <p:ext uri="{BB962C8B-B14F-4D97-AF65-F5344CB8AC3E}">
        <p14:creationId xmlns:p14="http://schemas.microsoft.com/office/powerpoint/2010/main" val="3329669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893E9-2DA2-C491-6FD0-374D54561D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6C407B-DFB3-7F44-4FDF-E0D69C045FC5}"/>
              </a:ext>
            </a:extLst>
          </p:cNvPr>
          <p:cNvSpPr>
            <a:spLocks noGrp="1"/>
          </p:cNvSpPr>
          <p:nvPr>
            <p:ph type="title"/>
          </p:nvPr>
        </p:nvSpPr>
        <p:spPr/>
        <p:txBody>
          <a:bodyPr>
            <a:normAutofit/>
          </a:bodyPr>
          <a:lstStyle/>
          <a:p>
            <a:r>
              <a:rPr kumimoji="1" lang="zh-TW" altLang="en-US" sz="4400" i="0" dirty="0"/>
              <a:t>让我们画原理图</a:t>
            </a:r>
            <a:r>
              <a:rPr kumimoji="1" lang="zh-CN" altLang="en-US" sz="4400" i="0" dirty="0"/>
              <a:t>！</a:t>
            </a:r>
          </a:p>
        </p:txBody>
      </p:sp>
    </p:spTree>
    <p:extLst>
      <p:ext uri="{BB962C8B-B14F-4D97-AF65-F5344CB8AC3E}">
        <p14:creationId xmlns:p14="http://schemas.microsoft.com/office/powerpoint/2010/main" val="54123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B6B59-DCA3-21A4-1FE2-3562202EBA4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8EE36F-3A8E-FFA2-F9FC-07B3BA1FD9D2}"/>
              </a:ext>
            </a:extLst>
          </p:cNvPr>
          <p:cNvSpPr>
            <a:spLocks noGrp="1"/>
          </p:cNvSpPr>
          <p:nvPr>
            <p:ph type="title"/>
          </p:nvPr>
        </p:nvSpPr>
        <p:spPr>
          <a:xfrm>
            <a:off x="333124" y="855497"/>
            <a:ext cx="8623355" cy="709562"/>
          </a:xfrm>
        </p:spPr>
        <p:txBody>
          <a:bodyPr>
            <a:noAutofit/>
          </a:bodyPr>
          <a:lstStyle/>
          <a:p>
            <a:r>
              <a:rPr kumimoji="1" lang="en-US" altLang="zh-CN" sz="4400" b="1" i="0" dirty="0"/>
              <a:t>PCB</a:t>
            </a:r>
            <a:r>
              <a:rPr kumimoji="1" lang="zh-CN" altLang="en-US" sz="4400" b="1" i="0" dirty="0"/>
              <a:t>布局原则</a:t>
            </a:r>
          </a:p>
        </p:txBody>
      </p:sp>
      <p:sp>
        <p:nvSpPr>
          <p:cNvPr id="8" name="文本框 3">
            <a:extLst>
              <a:ext uri="{FF2B5EF4-FFF2-40B4-BE49-F238E27FC236}">
                <a16:creationId xmlns:a16="http://schemas.microsoft.com/office/drawing/2014/main" id="{1E2E581D-B807-1A93-0C9A-3FDC5F0C9532}"/>
              </a:ext>
            </a:extLst>
          </p:cNvPr>
          <p:cNvSpPr txBox="1"/>
          <p:nvPr/>
        </p:nvSpPr>
        <p:spPr>
          <a:xfrm>
            <a:off x="333124" y="1384950"/>
            <a:ext cx="8477752" cy="5755422"/>
          </a:xfrm>
          <a:prstGeom prst="rect">
            <a:avLst/>
          </a:prstGeom>
          <a:noFill/>
        </p:spPr>
        <p:txBody>
          <a:bodyPr wrap="square" rtlCol="0">
            <a:spAutoFit/>
          </a:bodyPr>
          <a:lstStyle/>
          <a:p>
            <a:r>
              <a:rPr lang="en-US" altLang="zh-CN" sz="2400" b="1" dirty="0">
                <a:latin typeface="HEITI SC MEDIUM" pitchFamily="2" charset="-128"/>
                <a:ea typeface="HEITI SC MEDIUM" pitchFamily="2" charset="-128"/>
              </a:rPr>
              <a:t>1</a:t>
            </a:r>
            <a:r>
              <a:rPr lang="zh-CN" altLang="en-US" sz="2400" b="1" dirty="0">
                <a:latin typeface="Heiti SC Medium" pitchFamily="2" charset="-128"/>
                <a:ea typeface="Heiti SC Medium" pitchFamily="2" charset="-128"/>
              </a:rPr>
              <a:t>、</a:t>
            </a:r>
            <a:r>
              <a:rPr lang="zh-TW" altLang="zh-TW" sz="2400" b="1" dirty="0">
                <a:latin typeface="Heiti SC Medium" pitchFamily="2" charset="-128"/>
                <a:ea typeface="Heiti SC Medium" pitchFamily="2" charset="-128"/>
              </a:rPr>
              <a:t>先分区，再摆元件</a:t>
            </a:r>
            <a:br>
              <a:rPr lang="zh-TW" altLang="zh-TW" sz="2400" b="1" dirty="0">
                <a:latin typeface="Heiti SC Medium" pitchFamily="2" charset="-128"/>
                <a:ea typeface="Heiti SC Medium" pitchFamily="2" charset="-128"/>
              </a:rPr>
            </a:br>
            <a:endParaRPr lang="en-US" altLang="zh-TW" sz="2400" b="1" dirty="0">
              <a:latin typeface="Heiti SC Medium" pitchFamily="2" charset="-128"/>
              <a:ea typeface="Heiti SC Medium" pitchFamily="2" charset="-128"/>
            </a:endParaRPr>
          </a:p>
          <a:p>
            <a:r>
              <a:rPr lang="en-US" altLang="zh-CN" sz="2400" b="1" dirty="0">
                <a:latin typeface="Heiti SC Medium" pitchFamily="2" charset="-128"/>
                <a:ea typeface="Heiti SC Medium" pitchFamily="2" charset="-128"/>
              </a:rPr>
              <a:t>2</a:t>
            </a:r>
            <a:r>
              <a:rPr lang="zh-CN" altLang="en-US" sz="2400" b="1" dirty="0">
                <a:latin typeface="Heiti SC Medium" pitchFamily="2" charset="-128"/>
                <a:ea typeface="Heiti SC Medium" pitchFamily="2" charset="-128"/>
              </a:rPr>
              <a:t>、</a:t>
            </a:r>
            <a:r>
              <a:rPr lang="zh-TW" altLang="zh-TW" sz="2400" b="1" dirty="0">
                <a:latin typeface="HEITI SC MEDIUM" pitchFamily="2" charset="-128"/>
                <a:ea typeface="HEITI SC MEDIUM" pitchFamily="2" charset="-128"/>
              </a:rPr>
              <a:t>接口</a:t>
            </a:r>
            <a:r>
              <a:rPr lang="zh-TW" altLang="zh-TW" sz="2400" b="1" dirty="0">
                <a:latin typeface="Heiti SC Medium" pitchFamily="2" charset="-128"/>
                <a:ea typeface="Heiti SC Medium" pitchFamily="2" charset="-128"/>
              </a:rPr>
              <a:t>靠边，方便使用</a:t>
            </a:r>
            <a:br>
              <a:rPr lang="zh-TW" altLang="zh-TW" sz="2400" b="1" dirty="0">
                <a:latin typeface="Heiti SC Medium" pitchFamily="2" charset="-128"/>
                <a:ea typeface="Heiti SC Medium" pitchFamily="2" charset="-128"/>
              </a:rPr>
            </a:br>
            <a:endParaRPr lang="en-US" altLang="zh-TW" sz="2400" b="1" dirty="0">
              <a:latin typeface="Heiti SC Medium" pitchFamily="2" charset="-128"/>
              <a:ea typeface="Heiti SC Medium" pitchFamily="2" charset="-128"/>
            </a:endParaRPr>
          </a:p>
          <a:p>
            <a:r>
              <a:rPr lang="en-US" altLang="zh-CN" sz="2400" b="1" dirty="0">
                <a:latin typeface="HEITI SC MEDIUM" pitchFamily="2" charset="-128"/>
                <a:ea typeface="HEITI SC MEDIUM" pitchFamily="2" charset="-128"/>
              </a:rPr>
              <a:t>3</a:t>
            </a:r>
            <a:r>
              <a:rPr lang="zh-CN" altLang="en-US" sz="2400" b="1" dirty="0">
                <a:latin typeface="Heiti SC Medium" pitchFamily="2" charset="-128"/>
                <a:ea typeface="Heiti SC Medium" pitchFamily="2" charset="-128"/>
              </a:rPr>
              <a:t>、</a:t>
            </a:r>
            <a:r>
              <a:rPr lang="zh-TW" altLang="zh-TW" sz="2400" b="1" dirty="0">
                <a:latin typeface="Heiti SC Medium" pitchFamily="2" charset="-128"/>
                <a:ea typeface="Heiti SC Medium" pitchFamily="2" charset="-128"/>
              </a:rPr>
              <a:t>主控位置居中，信号路径尽量短</a:t>
            </a:r>
            <a:br>
              <a:rPr lang="zh-TW" altLang="zh-TW" sz="2400" b="1" dirty="0">
                <a:latin typeface="Heiti SC Medium" pitchFamily="2" charset="-128"/>
                <a:ea typeface="Heiti SC Medium" pitchFamily="2" charset="-128"/>
              </a:rPr>
            </a:br>
            <a:endParaRPr lang="en-US" altLang="zh-TW" sz="2400" b="1" dirty="0">
              <a:latin typeface="Heiti SC Medium" pitchFamily="2" charset="-128"/>
              <a:ea typeface="Heiti SC Medium" pitchFamily="2" charset="-128"/>
            </a:endParaRPr>
          </a:p>
          <a:p>
            <a:r>
              <a:rPr lang="en-US" altLang="zh-CN" sz="2400" b="1" dirty="0">
                <a:latin typeface="HEITI SC MEDIUM" pitchFamily="2" charset="-128"/>
                <a:ea typeface="HEITI SC MEDIUM" pitchFamily="2" charset="-128"/>
              </a:rPr>
              <a:t>4</a:t>
            </a:r>
            <a:r>
              <a:rPr lang="zh-CN" altLang="en-US" sz="2400" b="1" dirty="0">
                <a:latin typeface="Heiti SC Medium" pitchFamily="2" charset="-128"/>
                <a:ea typeface="Heiti SC Medium" pitchFamily="2" charset="-128"/>
              </a:rPr>
              <a:t>、</a:t>
            </a:r>
            <a:r>
              <a:rPr lang="zh-TW" altLang="zh-TW" sz="2400" b="1" dirty="0">
                <a:latin typeface="Heiti SC Medium" pitchFamily="2" charset="-128"/>
                <a:ea typeface="Heiti SC Medium" pitchFamily="2" charset="-128"/>
              </a:rPr>
              <a:t>电源路径优先考虑</a:t>
            </a:r>
            <a:br>
              <a:rPr lang="zh-TW" altLang="zh-TW" sz="2400" b="1" dirty="0">
                <a:latin typeface="Heiti SC Medium" pitchFamily="2" charset="-128"/>
                <a:ea typeface="Heiti SC Medium" pitchFamily="2" charset="-128"/>
              </a:rPr>
            </a:br>
            <a:endParaRPr lang="en-US" altLang="zh-TW" sz="2400" b="1" dirty="0">
              <a:latin typeface="Heiti SC Medium" pitchFamily="2" charset="-128"/>
              <a:ea typeface="Heiti SC Medium" pitchFamily="2" charset="-128"/>
            </a:endParaRPr>
          </a:p>
          <a:p>
            <a:r>
              <a:rPr lang="en-US" altLang="zh-CN" sz="2400" b="1" dirty="0">
                <a:latin typeface="HEITI SC MEDIUM" pitchFamily="2" charset="-128"/>
                <a:ea typeface="HEITI SC MEDIUM" pitchFamily="2" charset="-128"/>
              </a:rPr>
              <a:t>5</a:t>
            </a:r>
            <a:r>
              <a:rPr lang="zh-CN" altLang="en-US" sz="2400" b="1" dirty="0">
                <a:latin typeface="Heiti SC Medium" pitchFamily="2" charset="-128"/>
                <a:ea typeface="Heiti SC Medium" pitchFamily="2" charset="-128"/>
              </a:rPr>
              <a:t>、</a:t>
            </a:r>
            <a:r>
              <a:rPr lang="zh-TW" altLang="zh-TW" sz="2400" b="1" dirty="0">
                <a:latin typeface="Heiti SC Medium" pitchFamily="2" charset="-128"/>
                <a:ea typeface="Heiti SC Medium" pitchFamily="2" charset="-128"/>
              </a:rPr>
              <a:t>去耦电容靠近芯片电源脚</a:t>
            </a:r>
            <a:endParaRPr lang="en-US" altLang="zh-TW" sz="2400" b="1" dirty="0">
              <a:latin typeface="Heiti SC Medium" pitchFamily="2" charset="-128"/>
              <a:ea typeface="Heiti SC Medium" pitchFamily="2" charset="-128"/>
            </a:endParaRPr>
          </a:p>
          <a:p>
            <a:endParaRPr lang="en-US" altLang="zh-TW" sz="2400" b="1" dirty="0">
              <a:solidFill>
                <a:srgbClr val="7030A0"/>
              </a:solidFill>
              <a:latin typeface="Heiti SC Medium" pitchFamily="2" charset="-128"/>
              <a:ea typeface="Heiti SC Medium" pitchFamily="2" charset="-128"/>
            </a:endParaRPr>
          </a:p>
          <a:p>
            <a:endParaRPr lang="en-US" altLang="zh-TW" sz="2400" b="1" dirty="0">
              <a:solidFill>
                <a:srgbClr val="7030A0"/>
              </a:solidFill>
              <a:latin typeface="Heiti SC Medium" pitchFamily="2" charset="-128"/>
              <a:ea typeface="Heiti SC Medium" pitchFamily="2" charset="-128"/>
            </a:endParaRPr>
          </a:p>
          <a:p>
            <a:r>
              <a:rPr lang="zh-TW" altLang="en-US" sz="2800" dirty="0">
                <a:solidFill>
                  <a:srgbClr val="7030A0"/>
                </a:solidFill>
                <a:latin typeface="Heiti SC Medium" pitchFamily="2" charset="-128"/>
                <a:ea typeface="Heiti SC Medium" pitchFamily="2" charset="-128"/>
              </a:rPr>
              <a:t>良好的布局设计可以减少后续的布线复杂度</a:t>
            </a:r>
            <a:r>
              <a:rPr lang="zh-CN" altLang="en-US" sz="2800" dirty="0">
                <a:solidFill>
                  <a:srgbClr val="7030A0"/>
                </a:solidFill>
                <a:latin typeface="Heiti SC Medium" pitchFamily="2" charset="-128"/>
                <a:ea typeface="Heiti SC Medium" pitchFamily="2" charset="-128"/>
              </a:rPr>
              <a:t>，还能一定程度上提高稳定程度，建议布局时一定要慎重考虑！</a:t>
            </a:r>
            <a:endParaRPr lang="en-US" altLang="zh-CN" sz="2800" dirty="0">
              <a:solidFill>
                <a:srgbClr val="7030A0"/>
              </a:solidFill>
              <a:latin typeface="Heiti SC Medium" pitchFamily="2" charset="-128"/>
              <a:ea typeface="Heiti SC Medium" pitchFamily="2" charset="-128"/>
            </a:endParaRPr>
          </a:p>
          <a:p>
            <a:r>
              <a:rPr lang="zh-CN" altLang="en-US" sz="2400" dirty="0">
                <a:latin typeface="Heiti SC Medium" pitchFamily="2" charset="-128"/>
                <a:ea typeface="Heiti SC Medium" pitchFamily="2" charset="-128"/>
              </a:rPr>
              <a:t>（不过布线时发现有更好的布局也推荐随时改）</a:t>
            </a:r>
            <a:br>
              <a:rPr lang="zh-TW" altLang="zh-TW" sz="2400" dirty="0">
                <a:latin typeface="Heiti SC Medium" pitchFamily="2" charset="-128"/>
                <a:ea typeface="Heiti SC Medium" pitchFamily="2" charset="-128"/>
              </a:rPr>
            </a:br>
            <a:endParaRPr lang="en-US" altLang="zh-CN" sz="2400" dirty="0">
              <a:latin typeface="Heiti SC Medium" pitchFamily="2" charset="-128"/>
              <a:ea typeface="Heiti SC Medium" pitchFamily="2" charset="-128"/>
            </a:endParaRPr>
          </a:p>
        </p:txBody>
      </p:sp>
    </p:spTree>
    <p:extLst>
      <p:ext uri="{BB962C8B-B14F-4D97-AF65-F5344CB8AC3E}">
        <p14:creationId xmlns:p14="http://schemas.microsoft.com/office/powerpoint/2010/main" val="3806519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4980C-0112-9D48-E7D8-AE7DAD3FD15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BD7734-234F-4C1C-7CAB-47FD85F3F4F7}"/>
              </a:ext>
            </a:extLst>
          </p:cNvPr>
          <p:cNvSpPr>
            <a:spLocks noGrp="1"/>
          </p:cNvSpPr>
          <p:nvPr>
            <p:ph type="title"/>
          </p:nvPr>
        </p:nvSpPr>
        <p:spPr/>
        <p:txBody>
          <a:bodyPr>
            <a:normAutofit/>
          </a:bodyPr>
          <a:lstStyle/>
          <a:p>
            <a:r>
              <a:rPr kumimoji="1" lang="zh-TW" altLang="en-US" sz="4400" i="0" dirty="0"/>
              <a:t>让我们布局</a:t>
            </a:r>
            <a:r>
              <a:rPr kumimoji="1" lang="en-US" altLang="zh-TW" sz="4400" i="0" dirty="0"/>
              <a:t>PCB</a:t>
            </a:r>
            <a:r>
              <a:rPr kumimoji="1" lang="zh-CN" altLang="en-US" sz="4400" i="0" dirty="0"/>
              <a:t>！</a:t>
            </a:r>
          </a:p>
        </p:txBody>
      </p:sp>
    </p:spTree>
    <p:extLst>
      <p:ext uri="{BB962C8B-B14F-4D97-AF65-F5344CB8AC3E}">
        <p14:creationId xmlns:p14="http://schemas.microsoft.com/office/powerpoint/2010/main" val="4207221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F19E2-C871-7440-3AAE-214348FD44F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A02849-E8EA-4B96-23FE-DD78329D2D06}"/>
              </a:ext>
            </a:extLst>
          </p:cNvPr>
          <p:cNvSpPr>
            <a:spLocks noGrp="1"/>
          </p:cNvSpPr>
          <p:nvPr>
            <p:ph type="title"/>
          </p:nvPr>
        </p:nvSpPr>
        <p:spPr>
          <a:xfrm>
            <a:off x="333124" y="855497"/>
            <a:ext cx="8623355" cy="709562"/>
          </a:xfrm>
        </p:spPr>
        <p:txBody>
          <a:bodyPr>
            <a:noAutofit/>
          </a:bodyPr>
          <a:lstStyle/>
          <a:p>
            <a:r>
              <a:rPr kumimoji="1" lang="en-US" altLang="zh-CN" sz="4400" b="1" i="0" dirty="0"/>
              <a:t>PCB</a:t>
            </a:r>
            <a:r>
              <a:rPr kumimoji="1" lang="zh-CN" altLang="en-US" sz="4400" b="1" i="0" dirty="0"/>
              <a:t>布线原则</a:t>
            </a:r>
          </a:p>
        </p:txBody>
      </p:sp>
      <p:sp>
        <p:nvSpPr>
          <p:cNvPr id="8" name="文本框 3">
            <a:extLst>
              <a:ext uri="{FF2B5EF4-FFF2-40B4-BE49-F238E27FC236}">
                <a16:creationId xmlns:a16="http://schemas.microsoft.com/office/drawing/2014/main" id="{C39CDA73-668F-465F-9CAC-89EF86ADD1B3}"/>
              </a:ext>
            </a:extLst>
          </p:cNvPr>
          <p:cNvSpPr txBox="1"/>
          <p:nvPr/>
        </p:nvSpPr>
        <p:spPr>
          <a:xfrm>
            <a:off x="333124" y="1565059"/>
            <a:ext cx="8477752" cy="4893647"/>
          </a:xfrm>
          <a:prstGeom prst="rect">
            <a:avLst/>
          </a:prstGeom>
          <a:noFill/>
        </p:spPr>
        <p:txBody>
          <a:bodyPr wrap="square" rtlCol="0">
            <a:spAutoFit/>
          </a:bodyPr>
          <a:lstStyle/>
          <a:p>
            <a:r>
              <a:rPr lang="en-US" altLang="zh-CN" sz="2400" dirty="0">
                <a:latin typeface="Heiti SC Medium" pitchFamily="2" charset="-128"/>
                <a:ea typeface="Heiti SC Medium" pitchFamily="2" charset="-128"/>
              </a:rPr>
              <a:t>1</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电源线和地线优先布线</a:t>
            </a:r>
            <a:endParaRPr lang="en-US" altLang="zh-TW" sz="2400" dirty="0">
              <a:latin typeface="Heiti SC Medium" pitchFamily="2" charset="-128"/>
              <a:ea typeface="Heiti SC Medium" pitchFamily="2" charset="-128"/>
            </a:endParaRPr>
          </a:p>
          <a:p>
            <a:br>
              <a:rPr lang="zh-TW" altLang="en-US" sz="2400" dirty="0">
                <a:latin typeface="Heiti SC Medium" pitchFamily="2" charset="-128"/>
                <a:ea typeface="Heiti SC Medium" pitchFamily="2" charset="-128"/>
              </a:rPr>
            </a:br>
            <a:r>
              <a:rPr lang="en-US" altLang="zh-CN" sz="2400" dirty="0">
                <a:latin typeface="Heiti SC Medium" pitchFamily="2" charset="-128"/>
                <a:ea typeface="Heiti SC Medium" pitchFamily="2" charset="-128"/>
              </a:rPr>
              <a:t>2</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信号线尽量短，少绕路</a:t>
            </a:r>
            <a:endParaRPr lang="en-US" altLang="zh-TW" sz="2400" dirty="0">
              <a:latin typeface="Heiti SC Medium" pitchFamily="2" charset="-128"/>
              <a:ea typeface="Heiti SC Medium" pitchFamily="2" charset="-128"/>
            </a:endParaRPr>
          </a:p>
          <a:p>
            <a:br>
              <a:rPr lang="zh-TW" altLang="en-US" sz="2400" dirty="0">
                <a:latin typeface="Heiti SC Medium" pitchFamily="2" charset="-128"/>
                <a:ea typeface="Heiti SC Medium" pitchFamily="2" charset="-128"/>
              </a:rPr>
            </a:br>
            <a:r>
              <a:rPr lang="en-US" altLang="zh-CN" sz="2400" dirty="0">
                <a:latin typeface="Heiti SC Medium" pitchFamily="2" charset="-128"/>
                <a:ea typeface="Heiti SC Medium" pitchFamily="2" charset="-128"/>
              </a:rPr>
              <a:t>3</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电源线要比普通信号线更宽</a:t>
            </a:r>
            <a:r>
              <a:rPr lang="zh-CN" altLang="en-US" sz="2400" dirty="0">
                <a:latin typeface="Heiti SC Medium" pitchFamily="2" charset="-128"/>
                <a:ea typeface="Heiti SC Medium" pitchFamily="2" charset="-128"/>
              </a:rPr>
              <a:t>（</a:t>
            </a:r>
            <a:r>
              <a:rPr lang="en-US" altLang="zh-CN" sz="2400" dirty="0">
                <a:latin typeface="Heiti SC Medium" pitchFamily="2" charset="-128"/>
                <a:ea typeface="Heiti SC Medium" pitchFamily="2" charset="-128"/>
              </a:rPr>
              <a:t>20mil-40mil</a:t>
            </a:r>
            <a:r>
              <a:rPr lang="zh-CN" altLang="en-US" sz="2400" dirty="0">
                <a:latin typeface="Heiti SC Medium" pitchFamily="2" charset="-128"/>
                <a:ea typeface="Heiti SC Medium" pitchFamily="2" charset="-128"/>
              </a:rPr>
              <a:t>）</a:t>
            </a:r>
            <a:endParaRPr lang="en-US" altLang="zh-CN" sz="2400" dirty="0">
              <a:latin typeface="Heiti SC Medium" pitchFamily="2" charset="-128"/>
              <a:ea typeface="Heiti SC Medium" pitchFamily="2" charset="-128"/>
            </a:endParaRPr>
          </a:p>
          <a:p>
            <a:br>
              <a:rPr lang="zh-TW" altLang="en-US" sz="2400" dirty="0">
                <a:latin typeface="Heiti SC Medium" pitchFamily="2" charset="-128"/>
                <a:ea typeface="Heiti SC Medium" pitchFamily="2" charset="-128"/>
              </a:rPr>
            </a:br>
            <a:r>
              <a:rPr lang="en-US" altLang="zh-CN" sz="2400" dirty="0">
                <a:latin typeface="Heiti SC Medium" pitchFamily="2" charset="-128"/>
                <a:ea typeface="Heiti SC Medium" pitchFamily="2" charset="-128"/>
              </a:rPr>
              <a:t>4</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不同走线之间保持足够间距</a:t>
            </a:r>
            <a:endParaRPr lang="en-US" altLang="zh-TW" sz="2400" dirty="0">
              <a:latin typeface="Heiti SC Medium" pitchFamily="2" charset="-128"/>
              <a:ea typeface="Heiti SC Medium" pitchFamily="2" charset="-128"/>
            </a:endParaRPr>
          </a:p>
          <a:p>
            <a:endParaRPr lang="en-US" altLang="zh-TW" sz="2400" dirty="0">
              <a:latin typeface="Heiti SC Medium" pitchFamily="2" charset="-128"/>
              <a:ea typeface="Heiti SC Medium" pitchFamily="2" charset="-128"/>
            </a:endParaRPr>
          </a:p>
          <a:p>
            <a:r>
              <a:rPr lang="en-US" altLang="zh-CN" sz="2400" dirty="0">
                <a:latin typeface="Heiti SC Medium" pitchFamily="2" charset="-128"/>
                <a:ea typeface="Heiti SC Medium" pitchFamily="2" charset="-128"/>
              </a:rPr>
              <a:t>5</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尽量减少过孔和换层</a:t>
            </a:r>
            <a:endParaRPr lang="en-US" altLang="zh-TW" sz="2400" dirty="0">
              <a:latin typeface="Heiti SC Medium" pitchFamily="2" charset="-128"/>
              <a:ea typeface="Heiti SC Medium" pitchFamily="2" charset="-128"/>
            </a:endParaRPr>
          </a:p>
          <a:p>
            <a:br>
              <a:rPr lang="zh-TW" altLang="en-US" sz="2400" dirty="0">
                <a:latin typeface="Heiti SC Medium" pitchFamily="2" charset="-128"/>
                <a:ea typeface="Heiti SC Medium" pitchFamily="2" charset="-128"/>
              </a:rPr>
            </a:br>
            <a:r>
              <a:rPr lang="en-US" altLang="zh-CN" sz="2400" dirty="0">
                <a:latin typeface="Heiti SC Medium" pitchFamily="2" charset="-128"/>
                <a:ea typeface="Heiti SC Medium" pitchFamily="2" charset="-128"/>
              </a:rPr>
              <a:t>6</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避免直角走线，优先使用 </a:t>
            </a:r>
            <a:r>
              <a:rPr lang="en-US" altLang="zh-TW" sz="2400" dirty="0">
                <a:latin typeface="Heiti SC Medium" pitchFamily="2" charset="-128"/>
                <a:ea typeface="Heiti SC Medium" pitchFamily="2" charset="-128"/>
              </a:rPr>
              <a:t>45° </a:t>
            </a:r>
            <a:r>
              <a:rPr lang="zh-TW" altLang="en-US" sz="2400" dirty="0">
                <a:latin typeface="Heiti SC Medium" pitchFamily="2" charset="-128"/>
                <a:ea typeface="Heiti SC Medium" pitchFamily="2" charset="-128"/>
              </a:rPr>
              <a:t>拐角</a:t>
            </a:r>
            <a:endParaRPr lang="en-US" altLang="zh-TW" sz="2400" dirty="0">
              <a:latin typeface="Heiti SC Medium" pitchFamily="2" charset="-128"/>
              <a:ea typeface="Heiti SC Medium" pitchFamily="2" charset="-128"/>
            </a:endParaRPr>
          </a:p>
          <a:p>
            <a:br>
              <a:rPr lang="zh-TW" altLang="en-US" sz="2400" dirty="0">
                <a:latin typeface="Heiti SC Medium" pitchFamily="2" charset="-128"/>
                <a:ea typeface="Heiti SC Medium" pitchFamily="2" charset="-128"/>
              </a:rPr>
            </a:br>
            <a:r>
              <a:rPr lang="en-US" altLang="zh-CN" sz="2400" dirty="0">
                <a:latin typeface="Heiti SC Medium" pitchFamily="2" charset="-128"/>
                <a:ea typeface="Heiti SC Medium" pitchFamily="2" charset="-128"/>
              </a:rPr>
              <a:t>7</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去耦电容到芯片电源脚的走线要短</a:t>
            </a:r>
          </a:p>
        </p:txBody>
      </p:sp>
    </p:spTree>
    <p:extLst>
      <p:ext uri="{BB962C8B-B14F-4D97-AF65-F5344CB8AC3E}">
        <p14:creationId xmlns:p14="http://schemas.microsoft.com/office/powerpoint/2010/main" val="211356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9BAD1-9962-DE94-1861-FD2E07B6CA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F98BF8-ED6B-8614-004B-AD5D12743A42}"/>
              </a:ext>
            </a:extLst>
          </p:cNvPr>
          <p:cNvSpPr>
            <a:spLocks noGrp="1"/>
          </p:cNvSpPr>
          <p:nvPr>
            <p:ph type="title"/>
          </p:nvPr>
        </p:nvSpPr>
        <p:spPr>
          <a:xfrm>
            <a:off x="333124" y="855497"/>
            <a:ext cx="8623355" cy="709562"/>
          </a:xfrm>
        </p:spPr>
        <p:txBody>
          <a:bodyPr>
            <a:noAutofit/>
          </a:bodyPr>
          <a:lstStyle/>
          <a:p>
            <a:r>
              <a:rPr kumimoji="1" lang="zh-CN" altLang="en-US" sz="4400" b="1" i="0" dirty="0"/>
              <a:t>厚度与宽度</a:t>
            </a:r>
            <a:r>
              <a:rPr kumimoji="1" lang="en-US" altLang="zh-CN" sz="4400" b="1" i="0" dirty="0"/>
              <a:t>——</a:t>
            </a:r>
            <a:r>
              <a:rPr kumimoji="1" lang="zh-CN" altLang="en-US" sz="4400" b="1" i="0" dirty="0"/>
              <a:t>电流承载能力</a:t>
            </a:r>
          </a:p>
        </p:txBody>
      </p:sp>
      <p:pic>
        <p:nvPicPr>
          <p:cNvPr id="5" name="圖片 4">
            <a:extLst>
              <a:ext uri="{FF2B5EF4-FFF2-40B4-BE49-F238E27FC236}">
                <a16:creationId xmlns:a16="http://schemas.microsoft.com/office/drawing/2014/main" id="{D0CDEADF-7009-388F-9C0B-73360C823C98}"/>
              </a:ext>
            </a:extLst>
          </p:cNvPr>
          <p:cNvPicPr>
            <a:picLocks noChangeAspect="1"/>
          </p:cNvPicPr>
          <p:nvPr/>
        </p:nvPicPr>
        <p:blipFill>
          <a:blip r:embed="rId3"/>
          <a:stretch>
            <a:fillRect/>
          </a:stretch>
        </p:blipFill>
        <p:spPr>
          <a:xfrm>
            <a:off x="1195754" y="1756703"/>
            <a:ext cx="6752492" cy="2817055"/>
          </a:xfrm>
          <a:prstGeom prst="rect">
            <a:avLst/>
          </a:prstGeom>
        </p:spPr>
      </p:pic>
    </p:spTree>
    <p:extLst>
      <p:ext uri="{BB962C8B-B14F-4D97-AF65-F5344CB8AC3E}">
        <p14:creationId xmlns:p14="http://schemas.microsoft.com/office/powerpoint/2010/main" val="1785870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151F7-EFF0-57DF-83F7-AC8BD02603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26428E-FAB8-CDDC-8F37-92D0B91B3ABC}"/>
              </a:ext>
            </a:extLst>
          </p:cNvPr>
          <p:cNvSpPr>
            <a:spLocks noGrp="1"/>
          </p:cNvSpPr>
          <p:nvPr>
            <p:ph type="title"/>
          </p:nvPr>
        </p:nvSpPr>
        <p:spPr>
          <a:xfrm>
            <a:off x="333124" y="855497"/>
            <a:ext cx="8623355" cy="709562"/>
          </a:xfrm>
        </p:spPr>
        <p:txBody>
          <a:bodyPr>
            <a:noAutofit/>
          </a:bodyPr>
          <a:lstStyle/>
          <a:p>
            <a:r>
              <a:rPr kumimoji="1" lang="zh-CN" altLang="en-US" sz="4400" b="1" i="0" dirty="0"/>
              <a:t>厚度与宽度</a:t>
            </a:r>
            <a:r>
              <a:rPr kumimoji="1" lang="en-US" altLang="zh-CN" sz="4400" b="1" i="0" dirty="0"/>
              <a:t>——</a:t>
            </a:r>
            <a:r>
              <a:rPr kumimoji="1" lang="zh-CN" altLang="en-US" sz="4400" b="1" i="0" dirty="0"/>
              <a:t>电流承载能力</a:t>
            </a:r>
          </a:p>
        </p:txBody>
      </p:sp>
      <p:pic>
        <p:nvPicPr>
          <p:cNvPr id="6" name="圖片 5">
            <a:extLst>
              <a:ext uri="{FF2B5EF4-FFF2-40B4-BE49-F238E27FC236}">
                <a16:creationId xmlns:a16="http://schemas.microsoft.com/office/drawing/2014/main" id="{35C046B6-6251-C75C-555D-EE3968C5D6C3}"/>
              </a:ext>
            </a:extLst>
          </p:cNvPr>
          <p:cNvPicPr>
            <a:picLocks noChangeAspect="1"/>
          </p:cNvPicPr>
          <p:nvPr/>
        </p:nvPicPr>
        <p:blipFill>
          <a:blip r:embed="rId3"/>
          <a:stretch>
            <a:fillRect/>
          </a:stretch>
        </p:blipFill>
        <p:spPr>
          <a:xfrm>
            <a:off x="1629039" y="1565059"/>
            <a:ext cx="6031523" cy="5114504"/>
          </a:xfrm>
          <a:prstGeom prst="rect">
            <a:avLst/>
          </a:prstGeom>
        </p:spPr>
      </p:pic>
    </p:spTree>
    <p:extLst>
      <p:ext uri="{BB962C8B-B14F-4D97-AF65-F5344CB8AC3E}">
        <p14:creationId xmlns:p14="http://schemas.microsoft.com/office/powerpoint/2010/main" val="3409222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0DA3-1FC9-71C8-897A-2A4821ECE94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1E4CA8D-D987-CE1E-AFBB-B07866C5495F}"/>
              </a:ext>
            </a:extLst>
          </p:cNvPr>
          <p:cNvSpPr>
            <a:spLocks noGrp="1"/>
          </p:cNvSpPr>
          <p:nvPr>
            <p:ph type="title"/>
          </p:nvPr>
        </p:nvSpPr>
        <p:spPr/>
        <p:txBody>
          <a:bodyPr>
            <a:normAutofit/>
          </a:bodyPr>
          <a:lstStyle/>
          <a:p>
            <a:r>
              <a:rPr kumimoji="1" lang="zh-TW" altLang="en-US" sz="4400" i="0" dirty="0"/>
              <a:t>让我们走线</a:t>
            </a:r>
            <a:r>
              <a:rPr kumimoji="1" lang="zh-CN" altLang="en-US" sz="4400" i="0" dirty="0"/>
              <a:t>！</a:t>
            </a:r>
          </a:p>
        </p:txBody>
      </p:sp>
    </p:spTree>
    <p:extLst>
      <p:ext uri="{BB962C8B-B14F-4D97-AF65-F5344CB8AC3E}">
        <p14:creationId xmlns:p14="http://schemas.microsoft.com/office/powerpoint/2010/main" val="598807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8AE8-ED0E-5281-5E60-98076E2BC5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38B615-1E67-220F-AF02-740EB8C8BA25}"/>
              </a:ext>
            </a:extLst>
          </p:cNvPr>
          <p:cNvSpPr>
            <a:spLocks noGrp="1"/>
          </p:cNvSpPr>
          <p:nvPr>
            <p:ph type="title"/>
          </p:nvPr>
        </p:nvSpPr>
        <p:spPr>
          <a:xfrm>
            <a:off x="333124" y="675387"/>
            <a:ext cx="9198803" cy="1291958"/>
          </a:xfrm>
        </p:spPr>
        <p:txBody>
          <a:bodyPr>
            <a:noAutofit/>
          </a:bodyPr>
          <a:lstStyle/>
          <a:p>
            <a:r>
              <a:rPr kumimoji="1" lang="en-US" altLang="zh-TW" sz="4400" b="1" i="0" dirty="0"/>
              <a:t>DRC</a:t>
            </a:r>
            <a:r>
              <a:rPr kumimoji="1" lang="zh-CN" altLang="en-US" sz="4400" b="1" i="0" dirty="0"/>
              <a:t>（</a:t>
            </a:r>
            <a:r>
              <a:rPr kumimoji="1" lang="en" altLang="zh-CN" sz="4400" b="1" i="0" dirty="0"/>
              <a:t>Design Rule Check</a:t>
            </a:r>
            <a:r>
              <a:rPr kumimoji="1" lang="zh-CN" altLang="en-US" sz="4400" b="1" i="0" dirty="0"/>
              <a:t>）</a:t>
            </a:r>
          </a:p>
        </p:txBody>
      </p:sp>
      <p:sp>
        <p:nvSpPr>
          <p:cNvPr id="8" name="文本框 3">
            <a:extLst>
              <a:ext uri="{FF2B5EF4-FFF2-40B4-BE49-F238E27FC236}">
                <a16:creationId xmlns:a16="http://schemas.microsoft.com/office/drawing/2014/main" id="{0BC194FC-5396-14E6-D2A4-73A64072C973}"/>
              </a:ext>
            </a:extLst>
          </p:cNvPr>
          <p:cNvSpPr txBox="1"/>
          <p:nvPr/>
        </p:nvSpPr>
        <p:spPr>
          <a:xfrm>
            <a:off x="333124" y="1565059"/>
            <a:ext cx="8477752" cy="5386090"/>
          </a:xfrm>
          <a:prstGeom prst="rect">
            <a:avLst/>
          </a:prstGeom>
          <a:noFill/>
        </p:spPr>
        <p:txBody>
          <a:bodyPr wrap="square" rtlCol="0">
            <a:spAutoFit/>
          </a:bodyPr>
          <a:lstStyle/>
          <a:p>
            <a:r>
              <a:rPr lang="zh-TW" altLang="zh-TW" sz="2800" b="1" dirty="0">
                <a:solidFill>
                  <a:srgbClr val="7030A0"/>
                </a:solidFill>
                <a:latin typeface="HEITI SC MEDIUM" pitchFamily="2" charset="-128"/>
                <a:ea typeface="HEITI SC MEDIUM" pitchFamily="2" charset="-128"/>
              </a:rPr>
              <a:t>能检查：</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zh-TW" sz="2400" dirty="0">
                <a:latin typeface="Heiti SC Medium" pitchFamily="2" charset="-128"/>
                <a:ea typeface="Heiti SC Medium" pitchFamily="2" charset="-128"/>
              </a:rPr>
              <a:t>线宽、线距是否符合工艺要求</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zh-TW" sz="2400" dirty="0">
                <a:latin typeface="Heiti SC Medium" pitchFamily="2" charset="-128"/>
                <a:ea typeface="Heiti SC Medium" pitchFamily="2" charset="-128"/>
              </a:rPr>
              <a:t>焊盘、过孔、铜皮之间是否太近</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zh-TW" sz="2400" dirty="0">
                <a:latin typeface="Heiti SC Medium" pitchFamily="2" charset="-128"/>
                <a:ea typeface="Heiti SC Medium" pitchFamily="2" charset="-128"/>
              </a:rPr>
              <a:t>是否有未连接网络</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zh-TW" sz="2400" dirty="0">
                <a:latin typeface="Heiti SC Medium" pitchFamily="2" charset="-128"/>
                <a:ea typeface="Heiti SC Medium" pitchFamily="2" charset="-128"/>
              </a:rPr>
              <a:t>过孔尺寸是否符合规则</a:t>
            </a:r>
          </a:p>
          <a:p>
            <a:pPr marL="342900" indent="-342900">
              <a:buFontTx/>
              <a:buChar char="-"/>
            </a:pPr>
            <a:r>
              <a:rPr lang="zh-TW" altLang="zh-TW" sz="2400" dirty="0">
                <a:latin typeface="Heiti SC Medium" pitchFamily="2" charset="-128"/>
                <a:ea typeface="Heiti SC Medium" pitchFamily="2" charset="-128"/>
              </a:rPr>
              <a:t>丝印是否压到焊盘</a:t>
            </a:r>
            <a:endParaRPr lang="en-US" altLang="zh-TW" sz="2400" dirty="0">
              <a:latin typeface="Heiti SC Medium" pitchFamily="2" charset="-128"/>
              <a:ea typeface="Heiti SC Medium" pitchFamily="2" charset="-128"/>
            </a:endParaRPr>
          </a:p>
          <a:p>
            <a:pPr marL="342900" indent="-342900">
              <a:buFontTx/>
              <a:buChar char="-"/>
            </a:pPr>
            <a:endParaRPr lang="en-US" altLang="zh-TW" sz="2400" dirty="0">
              <a:latin typeface="Heiti SC Medium" pitchFamily="2" charset="-128"/>
              <a:ea typeface="Heiti SC Medium" pitchFamily="2" charset="-128"/>
            </a:endParaRPr>
          </a:p>
          <a:p>
            <a:r>
              <a:rPr lang="zh-TW" altLang="en-US" sz="2800" b="1" dirty="0">
                <a:solidFill>
                  <a:srgbClr val="FF0000"/>
                </a:solidFill>
                <a:latin typeface="HEITI SC MEDIUM" pitchFamily="2" charset="-128"/>
                <a:ea typeface="HEITI SC MEDIUM" pitchFamily="2" charset="-128"/>
              </a:rPr>
              <a:t>不</a:t>
            </a:r>
            <a:r>
              <a:rPr lang="zh-TW" altLang="zh-TW" sz="2800" b="1" dirty="0">
                <a:solidFill>
                  <a:srgbClr val="FF0000"/>
                </a:solidFill>
                <a:latin typeface="HEITI SC MEDIUM" pitchFamily="2" charset="-128"/>
                <a:ea typeface="HEITI SC MEDIUM" pitchFamily="2" charset="-128"/>
              </a:rPr>
              <a:t>能检查：</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en-US" sz="2400" dirty="0">
                <a:latin typeface="Heiti SC Medium" pitchFamily="2" charset="-128"/>
                <a:ea typeface="Heiti SC Medium" pitchFamily="2" charset="-128"/>
              </a:rPr>
              <a:t>电路原理是否正确</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en-US" sz="2400" dirty="0">
                <a:latin typeface="Heiti SC Medium" pitchFamily="2" charset="-128"/>
                <a:ea typeface="Heiti SC Medium" pitchFamily="2" charset="-128"/>
              </a:rPr>
              <a:t>元件封装是否与实物匹配</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en-US" sz="2400" dirty="0">
                <a:latin typeface="Heiti SC Medium" pitchFamily="2" charset="-128"/>
                <a:ea typeface="Heiti SC Medium" pitchFamily="2" charset="-128"/>
              </a:rPr>
              <a:t>电阻、电容参数是否选对</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en-US" sz="2400" dirty="0">
                <a:latin typeface="Heiti SC Medium" pitchFamily="2" charset="-128"/>
                <a:ea typeface="Heiti SC Medium" pitchFamily="2" charset="-128"/>
              </a:rPr>
              <a:t>电源线是否真的能承载实际电流</a:t>
            </a:r>
          </a:p>
          <a:p>
            <a:r>
              <a:rPr lang="en-US" altLang="zh-CN" sz="2400" dirty="0">
                <a:latin typeface="Heiti SC Medium" pitchFamily="2" charset="-128"/>
                <a:ea typeface="Heiti SC Medium" pitchFamily="2" charset="-128"/>
              </a:rPr>
              <a:t>-</a:t>
            </a:r>
            <a:r>
              <a:rPr lang="zh-CN" altLang="en-US" sz="2400" dirty="0">
                <a:latin typeface="Heiti SC Medium" pitchFamily="2" charset="-128"/>
                <a:ea typeface="Heiti SC Medium" pitchFamily="2" charset="-128"/>
              </a:rPr>
              <a:t> </a:t>
            </a:r>
            <a:r>
              <a:rPr lang="zh-TW" altLang="en-US" sz="2400" dirty="0">
                <a:latin typeface="Heiti SC Medium" pitchFamily="2" charset="-128"/>
                <a:ea typeface="Heiti SC Medium" pitchFamily="2" charset="-128"/>
              </a:rPr>
              <a:t>布局是否合理、电路是否一定能正常工作</a:t>
            </a:r>
          </a:p>
          <a:p>
            <a:endParaRPr lang="zh-TW" altLang="zh-TW" sz="2400" dirty="0">
              <a:latin typeface="Heiti SC Medium" pitchFamily="2" charset="-128"/>
              <a:ea typeface="Heiti SC Medium" pitchFamily="2" charset="-128"/>
            </a:endParaRPr>
          </a:p>
        </p:txBody>
      </p:sp>
    </p:spTree>
    <p:extLst>
      <p:ext uri="{BB962C8B-B14F-4D97-AF65-F5344CB8AC3E}">
        <p14:creationId xmlns:p14="http://schemas.microsoft.com/office/powerpoint/2010/main" val="617167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0738-F78A-7136-FE03-D1FAB82E57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E077C5-C39B-E586-E91D-5FFEC581542F}"/>
              </a:ext>
            </a:extLst>
          </p:cNvPr>
          <p:cNvSpPr>
            <a:spLocks noGrp="1"/>
          </p:cNvSpPr>
          <p:nvPr>
            <p:ph type="title"/>
          </p:nvPr>
        </p:nvSpPr>
        <p:spPr>
          <a:xfrm>
            <a:off x="333124" y="675387"/>
            <a:ext cx="9198803" cy="1291958"/>
          </a:xfrm>
        </p:spPr>
        <p:txBody>
          <a:bodyPr>
            <a:noAutofit/>
          </a:bodyPr>
          <a:lstStyle/>
          <a:p>
            <a:r>
              <a:rPr kumimoji="1" lang="zh-TW" altLang="en-US" sz="4400" b="1" i="0" dirty="0"/>
              <a:t>打板</a:t>
            </a:r>
            <a:endParaRPr kumimoji="1" lang="zh-CN" altLang="en-US" sz="4400" b="1" i="0" dirty="0"/>
          </a:p>
        </p:txBody>
      </p:sp>
      <p:sp>
        <p:nvSpPr>
          <p:cNvPr id="8" name="文本框 3">
            <a:extLst>
              <a:ext uri="{FF2B5EF4-FFF2-40B4-BE49-F238E27FC236}">
                <a16:creationId xmlns:a16="http://schemas.microsoft.com/office/drawing/2014/main" id="{82702485-EB2A-C3D5-B9C8-40C1DDAD83F4}"/>
              </a:ext>
            </a:extLst>
          </p:cNvPr>
          <p:cNvSpPr txBox="1"/>
          <p:nvPr/>
        </p:nvSpPr>
        <p:spPr>
          <a:xfrm>
            <a:off x="333124" y="1565059"/>
            <a:ext cx="8477752" cy="5386090"/>
          </a:xfrm>
          <a:prstGeom prst="rect">
            <a:avLst/>
          </a:prstGeom>
          <a:noFill/>
        </p:spPr>
        <p:txBody>
          <a:bodyPr wrap="square" rtlCol="0">
            <a:spAutoFit/>
          </a:bodyPr>
          <a:lstStyle/>
          <a:p>
            <a:r>
              <a:rPr lang="zh-TW" altLang="en-US" sz="2800" dirty="0">
                <a:solidFill>
                  <a:srgbClr val="7030A0"/>
                </a:solidFill>
                <a:latin typeface="Heiti SC Medium" pitchFamily="2" charset="-128"/>
                <a:ea typeface="Heiti SC Medium" pitchFamily="2" charset="-128"/>
              </a:rPr>
              <a:t>如果只做</a:t>
            </a:r>
            <a:r>
              <a:rPr lang="en-US" altLang="zh-TW" sz="2800" dirty="0">
                <a:solidFill>
                  <a:srgbClr val="7030A0"/>
                </a:solidFill>
                <a:latin typeface="Heiti SC Medium" pitchFamily="2" charset="-128"/>
                <a:ea typeface="Heiti SC Medium" pitchFamily="2" charset="-128"/>
              </a:rPr>
              <a:t>PCB</a:t>
            </a:r>
            <a:r>
              <a:rPr lang="zh-TW" altLang="en-US" sz="2800" dirty="0">
                <a:solidFill>
                  <a:srgbClr val="7030A0"/>
                </a:solidFill>
                <a:latin typeface="Heiti SC Medium" pitchFamily="2" charset="-128"/>
                <a:ea typeface="Heiti SC Medium" pitchFamily="2" charset="-128"/>
              </a:rPr>
              <a:t>裸板</a:t>
            </a:r>
            <a:endParaRPr lang="en-US" altLang="zh-TW" sz="2800" dirty="0">
              <a:solidFill>
                <a:srgbClr val="7030A0"/>
              </a:solidFill>
              <a:latin typeface="Heiti SC Medium" pitchFamily="2" charset="-128"/>
              <a:ea typeface="Heiti SC Medium" pitchFamily="2" charset="-128"/>
            </a:endParaRPr>
          </a:p>
          <a:p>
            <a:pPr marL="342900" indent="-342900">
              <a:buFontTx/>
              <a:buChar char="-"/>
            </a:pPr>
            <a:r>
              <a:rPr lang="en" altLang="zh-CN" sz="2400" dirty="0">
                <a:latin typeface="Heiti SC Medium" pitchFamily="2" charset="-128"/>
                <a:ea typeface="Heiti SC Medium" pitchFamily="2" charset="-128"/>
              </a:rPr>
              <a:t>Gerber </a:t>
            </a:r>
            <a:r>
              <a:rPr lang="zh-CN" altLang="en-US" sz="2400" dirty="0">
                <a:latin typeface="Heiti SC Medium" pitchFamily="2" charset="-128"/>
                <a:ea typeface="Heiti SC Medium" pitchFamily="2" charset="-128"/>
              </a:rPr>
              <a:t>文件：描述每一层 </a:t>
            </a:r>
            <a:r>
              <a:rPr lang="en" altLang="zh-CN" sz="2400" dirty="0">
                <a:latin typeface="Heiti SC Medium" pitchFamily="2" charset="-128"/>
                <a:ea typeface="Heiti SC Medium" pitchFamily="2" charset="-128"/>
              </a:rPr>
              <a:t>PCB </a:t>
            </a:r>
            <a:r>
              <a:rPr lang="zh-CN" altLang="en-US" sz="2400" dirty="0">
                <a:latin typeface="Heiti SC Medium" pitchFamily="2" charset="-128"/>
                <a:ea typeface="Heiti SC Medium" pitchFamily="2" charset="-128"/>
              </a:rPr>
              <a:t>的图形包括顶层铜、底层铜、阻焊层、丝印层、板框等。</a:t>
            </a:r>
            <a:endParaRPr lang="en-US" altLang="zh-CN"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钻孔文件：描述过孔、插件孔、安装孔的位置和孔径。</a:t>
            </a:r>
          </a:p>
          <a:p>
            <a:endParaRPr lang="en-US" altLang="zh-CN" sz="2400" dirty="0">
              <a:latin typeface="Heiti SC Medium" pitchFamily="2" charset="-128"/>
              <a:ea typeface="Heiti SC Medium" pitchFamily="2" charset="-128"/>
            </a:endParaRPr>
          </a:p>
          <a:p>
            <a:r>
              <a:rPr lang="zh-CN" altLang="en-US" sz="2400" dirty="0">
                <a:latin typeface="Heiti SC Medium" pitchFamily="2" charset="-128"/>
                <a:ea typeface="Heiti SC Medium" pitchFamily="2" charset="-128"/>
              </a:rPr>
              <a:t>一般来讲，</a:t>
            </a:r>
            <a:r>
              <a:rPr lang="en-US" altLang="zh-CN" sz="2400" dirty="0">
                <a:latin typeface="Heiti SC Medium" pitchFamily="2" charset="-128"/>
                <a:ea typeface="Heiti SC Medium" pitchFamily="2" charset="-128"/>
              </a:rPr>
              <a:t>EDA</a:t>
            </a:r>
            <a:r>
              <a:rPr lang="zh-CN" altLang="en-US" sz="2400" dirty="0">
                <a:latin typeface="Heiti SC Medium" pitchFamily="2" charset="-128"/>
                <a:ea typeface="Heiti SC Medium" pitchFamily="2" charset="-128"/>
              </a:rPr>
              <a:t>软件中导出的</a:t>
            </a:r>
            <a:r>
              <a:rPr lang="en-US" altLang="zh-CN" sz="2400" dirty="0">
                <a:latin typeface="Heiti SC Medium" pitchFamily="2" charset="-128"/>
                <a:ea typeface="Heiti SC Medium" pitchFamily="2" charset="-128"/>
              </a:rPr>
              <a:t>Gerber</a:t>
            </a:r>
            <a:r>
              <a:rPr lang="zh-CN" altLang="en-US" sz="2400" dirty="0">
                <a:latin typeface="Heiti SC Medium" pitchFamily="2" charset="-128"/>
                <a:ea typeface="Heiti SC Medium" pitchFamily="2" charset="-128"/>
              </a:rPr>
              <a:t>文件包含以上两项。</a:t>
            </a:r>
            <a:endParaRPr lang="en-US" altLang="zh-CN" sz="2400" dirty="0">
              <a:latin typeface="Heiti SC Medium" pitchFamily="2" charset="-128"/>
              <a:ea typeface="Heiti SC Medium" pitchFamily="2" charset="-128"/>
            </a:endParaRPr>
          </a:p>
          <a:p>
            <a:endParaRPr lang="en-US" altLang="zh-CN" sz="2400" dirty="0">
              <a:latin typeface="Heiti SC Medium" pitchFamily="2" charset="-128"/>
              <a:ea typeface="Heiti SC Medium" pitchFamily="2" charset="-128"/>
            </a:endParaRPr>
          </a:p>
          <a:p>
            <a:r>
              <a:rPr lang="zh-TW" altLang="en-US" sz="2800" dirty="0">
                <a:solidFill>
                  <a:srgbClr val="7030A0"/>
                </a:solidFill>
                <a:latin typeface="Heiti SC Medium" pitchFamily="2" charset="-128"/>
                <a:ea typeface="Heiti SC Medium" pitchFamily="2" charset="-128"/>
              </a:rPr>
              <a:t>如果还要做</a:t>
            </a:r>
            <a:r>
              <a:rPr lang="en-US" altLang="zh-TW" sz="2800" dirty="0">
                <a:solidFill>
                  <a:srgbClr val="7030A0"/>
                </a:solidFill>
                <a:latin typeface="Heiti SC Medium" pitchFamily="2" charset="-128"/>
                <a:ea typeface="Heiti SC Medium" pitchFamily="2" charset="-128"/>
              </a:rPr>
              <a:t>SMT</a:t>
            </a:r>
            <a:r>
              <a:rPr lang="zh-TW" altLang="en-US" sz="2800" dirty="0">
                <a:solidFill>
                  <a:srgbClr val="7030A0"/>
                </a:solidFill>
                <a:latin typeface="Heiti SC Medium" pitchFamily="2" charset="-128"/>
                <a:ea typeface="Heiti SC Medium" pitchFamily="2" charset="-128"/>
              </a:rPr>
              <a:t>贴片焊接</a:t>
            </a:r>
            <a:endParaRPr lang="zh-CN" altLang="en-US" sz="2400" dirty="0">
              <a:latin typeface="Heiti SC Medium" pitchFamily="2" charset="-128"/>
              <a:ea typeface="Heiti SC Medium" pitchFamily="2" charset="-128"/>
            </a:endParaRPr>
          </a:p>
          <a:p>
            <a:r>
              <a:rPr lang="zh-TW" altLang="en-US" sz="2400" dirty="0">
                <a:latin typeface="Heiti SC Medium" pitchFamily="2" charset="-128"/>
                <a:ea typeface="Heiti SC Medium" pitchFamily="2" charset="-128"/>
              </a:rPr>
              <a:t>还需要</a:t>
            </a:r>
            <a:r>
              <a:rPr lang="zh-CN" altLang="en-US" sz="2400" dirty="0">
                <a:latin typeface="Heiti SC Medium" pitchFamily="2" charset="-128"/>
                <a:ea typeface="Heiti SC Medium" pitchFamily="2" charset="-128"/>
              </a:rPr>
              <a:t>：</a:t>
            </a:r>
            <a:endParaRPr lang="en-US" altLang="zh-CN" sz="2400" dirty="0">
              <a:latin typeface="Heiti SC Medium" pitchFamily="2" charset="-128"/>
              <a:ea typeface="Heiti SC Medium" pitchFamily="2" charset="-128"/>
            </a:endParaRPr>
          </a:p>
          <a:p>
            <a:pPr marL="342900" indent="-342900">
              <a:buFontTx/>
              <a:buChar char="-"/>
            </a:pPr>
            <a:r>
              <a:rPr lang="en-US" altLang="zh-TW" sz="2400" dirty="0">
                <a:latin typeface="Heiti SC Medium" pitchFamily="2" charset="-128"/>
                <a:ea typeface="Heiti SC Medium" pitchFamily="2" charset="-128"/>
              </a:rPr>
              <a:t>BOM</a:t>
            </a:r>
            <a:r>
              <a:rPr lang="zh-TW" altLang="en-US" sz="2400" dirty="0">
                <a:latin typeface="Heiti SC Medium" pitchFamily="2" charset="-128"/>
                <a:ea typeface="Heiti SC Medium" pitchFamily="2" charset="-128"/>
              </a:rPr>
              <a:t>表</a:t>
            </a:r>
            <a:r>
              <a:rPr lang="zh-CN" altLang="en-US" sz="2400" dirty="0">
                <a:latin typeface="Heiti SC Medium" pitchFamily="2" charset="-128"/>
                <a:ea typeface="Heiti SC Medium" pitchFamily="2" charset="-128"/>
              </a:rPr>
              <a:t>：元件清单包括元件编号、型号、封装、数量、参数等。</a:t>
            </a:r>
          </a:p>
          <a:p>
            <a:pPr marL="342900" indent="-342900">
              <a:buFontTx/>
              <a:buChar char="-"/>
            </a:pPr>
            <a:r>
              <a:rPr lang="zh-CN" altLang="en-US" sz="2400" dirty="0">
                <a:latin typeface="Heiti SC Medium" pitchFamily="2" charset="-128"/>
                <a:ea typeface="Heiti SC Medium" pitchFamily="2" charset="-128"/>
              </a:rPr>
              <a:t>坐标文件：元件贴装位置，告诉贴片机每个元件放在哪里、旋转角度是多少。</a:t>
            </a:r>
          </a:p>
          <a:p>
            <a:endParaRPr lang="zh-TW" altLang="zh-TW" sz="2400" dirty="0">
              <a:latin typeface="Heiti SC Medium" pitchFamily="2" charset="-128"/>
              <a:ea typeface="Heiti SC Medium" pitchFamily="2" charset="-128"/>
            </a:endParaRPr>
          </a:p>
        </p:txBody>
      </p:sp>
    </p:spTree>
    <p:extLst>
      <p:ext uri="{BB962C8B-B14F-4D97-AF65-F5344CB8AC3E}">
        <p14:creationId xmlns:p14="http://schemas.microsoft.com/office/powerpoint/2010/main" val="3841026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D60E-A983-4AFA-8EA8-BAB2CCCF68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FF7F27-E9F0-65AB-E8E0-35A5E19F442C}"/>
              </a:ext>
            </a:extLst>
          </p:cNvPr>
          <p:cNvSpPr>
            <a:spLocks noGrp="1"/>
          </p:cNvSpPr>
          <p:nvPr>
            <p:ph type="title"/>
          </p:nvPr>
        </p:nvSpPr>
        <p:spPr/>
        <p:txBody>
          <a:bodyPr>
            <a:normAutofit/>
          </a:bodyPr>
          <a:lstStyle/>
          <a:p>
            <a:r>
              <a:rPr kumimoji="1" lang="zh-TW" altLang="en-US" sz="4400" i="0" dirty="0"/>
              <a:t>让我们打板</a:t>
            </a:r>
            <a:r>
              <a:rPr kumimoji="1" lang="zh-CN" altLang="en-US" sz="4400" i="0" dirty="0"/>
              <a:t>！</a:t>
            </a:r>
          </a:p>
        </p:txBody>
      </p:sp>
    </p:spTree>
    <p:extLst>
      <p:ext uri="{BB962C8B-B14F-4D97-AF65-F5344CB8AC3E}">
        <p14:creationId xmlns:p14="http://schemas.microsoft.com/office/powerpoint/2010/main" val="1578267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82F99-135A-53B1-4E4A-1A67D28B81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2BBDC9-1BC5-6F26-C4B8-05B397FFABE7}"/>
              </a:ext>
            </a:extLst>
          </p:cNvPr>
          <p:cNvSpPr>
            <a:spLocks noGrp="1"/>
          </p:cNvSpPr>
          <p:nvPr>
            <p:ph type="title"/>
          </p:nvPr>
        </p:nvSpPr>
        <p:spPr>
          <a:xfrm>
            <a:off x="333124" y="675387"/>
            <a:ext cx="9198803" cy="1291958"/>
          </a:xfrm>
        </p:spPr>
        <p:txBody>
          <a:bodyPr>
            <a:noAutofit/>
          </a:bodyPr>
          <a:lstStyle/>
          <a:p>
            <a:r>
              <a:rPr kumimoji="1" lang="zh-TW" altLang="en-US" sz="4400" b="1" i="0" dirty="0"/>
              <a:t>打板之后</a:t>
            </a:r>
            <a:endParaRPr kumimoji="1" lang="zh-CN" altLang="en-US" sz="4400" b="1" i="0" dirty="0"/>
          </a:p>
        </p:txBody>
      </p:sp>
      <p:sp>
        <p:nvSpPr>
          <p:cNvPr id="8" name="文本框 3">
            <a:extLst>
              <a:ext uri="{FF2B5EF4-FFF2-40B4-BE49-F238E27FC236}">
                <a16:creationId xmlns:a16="http://schemas.microsoft.com/office/drawing/2014/main" id="{C1297556-A88F-3C8B-AD5C-33B86AA584F7}"/>
              </a:ext>
            </a:extLst>
          </p:cNvPr>
          <p:cNvSpPr txBox="1"/>
          <p:nvPr/>
        </p:nvSpPr>
        <p:spPr>
          <a:xfrm>
            <a:off x="333124" y="1565059"/>
            <a:ext cx="8477752" cy="6370975"/>
          </a:xfrm>
          <a:prstGeom prst="rect">
            <a:avLst/>
          </a:prstGeom>
          <a:noFill/>
        </p:spPr>
        <p:txBody>
          <a:bodyPr wrap="square" rtlCol="0">
            <a:spAutoFit/>
          </a:bodyPr>
          <a:lstStyle/>
          <a:p>
            <a:r>
              <a:rPr lang="en-US" altLang="zh-CN" sz="2400" dirty="0">
                <a:latin typeface="Heiti SC Medium" pitchFamily="2" charset="-128"/>
                <a:ea typeface="Heiti SC Medium" pitchFamily="2" charset="-128"/>
              </a:rPr>
              <a:t>1</a:t>
            </a:r>
            <a:r>
              <a:rPr lang="zh-CN" altLang="en-US" sz="2400" dirty="0">
                <a:latin typeface="Heiti SC Medium" pitchFamily="2" charset="-128"/>
                <a:ea typeface="Heiti SC Medium" pitchFamily="2" charset="-128"/>
              </a:rPr>
              <a:t>、</a:t>
            </a:r>
            <a:r>
              <a:rPr lang="zh-TW" altLang="en-US" sz="2400" dirty="0">
                <a:latin typeface="Heiti SC Medium" pitchFamily="2" charset="-128"/>
                <a:ea typeface="Heiti SC Medium" pitchFamily="2" charset="-128"/>
              </a:rPr>
              <a:t>断线或漏连</a:t>
            </a:r>
            <a:endParaRPr lang="en-US" altLang="zh-TW"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用飞线连接两个本应相连的焊点。</a:t>
            </a:r>
            <a:endParaRPr lang="en-US" altLang="zh-CN"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用万用表确认已经连接，且飞线周围焊点</a:t>
            </a:r>
            <a:r>
              <a:rPr lang="zh-TW" altLang="en-US" sz="2400" dirty="0">
                <a:latin typeface="Heiti SC Medium" pitchFamily="2" charset="-128"/>
                <a:ea typeface="Heiti SC Medium" pitchFamily="2" charset="-128"/>
              </a:rPr>
              <a:t>未短路</a:t>
            </a:r>
            <a:r>
              <a:rPr lang="zh-CN" altLang="en-US" sz="2400" dirty="0">
                <a:latin typeface="Heiti SC Medium" pitchFamily="2" charset="-128"/>
                <a:ea typeface="Heiti SC Medium" pitchFamily="2" charset="-128"/>
              </a:rPr>
              <a:t>。</a:t>
            </a:r>
            <a:endParaRPr lang="en-US" altLang="zh-CN" sz="2400" dirty="0">
              <a:latin typeface="Heiti SC Medium" pitchFamily="2" charset="-128"/>
              <a:ea typeface="Heiti SC Medium" pitchFamily="2" charset="-128"/>
            </a:endParaRPr>
          </a:p>
          <a:p>
            <a:endParaRPr lang="en-US" altLang="zh-CN" sz="2400" dirty="0">
              <a:latin typeface="Heiti SC Medium" pitchFamily="2" charset="-128"/>
              <a:ea typeface="Heiti SC Medium" pitchFamily="2" charset="-128"/>
            </a:endParaRPr>
          </a:p>
          <a:p>
            <a:r>
              <a:rPr lang="en-US" altLang="zh-CN" sz="2400" dirty="0">
                <a:latin typeface="Heiti SC Medium" pitchFamily="2" charset="-128"/>
                <a:ea typeface="Heiti SC Medium" pitchFamily="2" charset="-128"/>
              </a:rPr>
              <a:t>2</a:t>
            </a:r>
            <a:r>
              <a:rPr lang="zh-CN" altLang="en-US" sz="2400" dirty="0">
                <a:latin typeface="Heiti SC Medium" pitchFamily="2" charset="-128"/>
                <a:ea typeface="Heiti SC Medium" pitchFamily="2" charset="-128"/>
              </a:rPr>
              <a:t>、短路或</a:t>
            </a:r>
            <a:r>
              <a:rPr lang="zh-TW" altLang="en-US" sz="2400" dirty="0">
                <a:latin typeface="Heiti SC Medium" pitchFamily="2" charset="-128"/>
                <a:ea typeface="Heiti SC Medium" pitchFamily="2" charset="-128"/>
              </a:rPr>
              <a:t>多连</a:t>
            </a:r>
            <a:endParaRPr lang="en-US" altLang="zh-TW"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用刀片割断错误铜线。</a:t>
            </a:r>
            <a:endParaRPr lang="en-US" altLang="zh-CN"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用万用表确认两点是否已经断开。</a:t>
            </a:r>
            <a:endParaRPr lang="en-US" altLang="zh-CN" sz="2400" dirty="0">
              <a:latin typeface="Heiti SC Medium" pitchFamily="2" charset="-128"/>
              <a:ea typeface="Heiti SC Medium" pitchFamily="2" charset="-128"/>
            </a:endParaRPr>
          </a:p>
          <a:p>
            <a:endParaRPr lang="en-US" altLang="zh-CN" sz="2400" dirty="0">
              <a:latin typeface="Heiti SC Medium" pitchFamily="2" charset="-128"/>
              <a:ea typeface="Heiti SC Medium" pitchFamily="2" charset="-128"/>
            </a:endParaRPr>
          </a:p>
          <a:p>
            <a:r>
              <a:rPr lang="en-US" altLang="zh-CN" sz="2400" dirty="0">
                <a:latin typeface="Heiti SC Medium" pitchFamily="2" charset="-128"/>
                <a:ea typeface="Heiti SC Medium" pitchFamily="2" charset="-128"/>
              </a:rPr>
              <a:t>3</a:t>
            </a:r>
            <a:r>
              <a:rPr lang="zh-CN" altLang="en-US" sz="2400" dirty="0">
                <a:latin typeface="Heiti SC Medium" pitchFamily="2" charset="-128"/>
                <a:ea typeface="Heiti SC Medium" pitchFamily="2" charset="-128"/>
              </a:rPr>
              <a:t>、封装尺寸不匹配</a:t>
            </a:r>
            <a:endParaRPr lang="en-US" altLang="zh-CN"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焊盘略小或略大时，可以斜焊、飞线或用转接板。</a:t>
            </a:r>
            <a:endParaRPr lang="en-US" altLang="zh-CN" sz="2400" dirty="0">
              <a:latin typeface="Heiti SC Medium" pitchFamily="2" charset="-128"/>
              <a:ea typeface="Heiti SC Medium" pitchFamily="2" charset="-128"/>
            </a:endParaRPr>
          </a:p>
          <a:p>
            <a:endParaRPr lang="en-US" altLang="zh-CN" sz="2400" dirty="0">
              <a:latin typeface="Heiti SC Medium" pitchFamily="2" charset="-128"/>
              <a:ea typeface="Heiti SC Medium" pitchFamily="2" charset="-128"/>
            </a:endParaRPr>
          </a:p>
          <a:p>
            <a:r>
              <a:rPr lang="en-US" altLang="zh-CN" sz="2400" dirty="0">
                <a:latin typeface="Heiti SC Medium" pitchFamily="2" charset="-128"/>
                <a:ea typeface="Heiti SC Medium" pitchFamily="2" charset="-128"/>
              </a:rPr>
              <a:t>4</a:t>
            </a:r>
            <a:r>
              <a:rPr lang="zh-CN" altLang="en-US" sz="2400" dirty="0">
                <a:latin typeface="Heiti SC Medium" pitchFamily="2" charset="-128"/>
                <a:ea typeface="Heiti SC Medium" pitchFamily="2" charset="-128"/>
              </a:rPr>
              <a:t>、电源设计错误</a:t>
            </a:r>
            <a:endParaRPr lang="en-US" altLang="zh-CN"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暂时用直流电源调试。</a:t>
            </a:r>
            <a:endParaRPr lang="en-US" altLang="zh-CN" sz="2400" dirty="0">
              <a:latin typeface="Heiti SC Medium" pitchFamily="2" charset="-128"/>
              <a:ea typeface="Heiti SC Medium" pitchFamily="2" charset="-128"/>
            </a:endParaRPr>
          </a:p>
          <a:p>
            <a:pPr marL="342900" indent="-342900">
              <a:buFontTx/>
              <a:buChar char="-"/>
            </a:pPr>
            <a:r>
              <a:rPr lang="zh-CN" altLang="en-US" sz="2400" dirty="0">
                <a:latin typeface="Heiti SC Medium" pitchFamily="2" charset="-128"/>
                <a:ea typeface="Heiti SC Medium" pitchFamily="2" charset="-128"/>
              </a:rPr>
              <a:t>临时外接稳压模块、升压模块或降压模块。</a:t>
            </a:r>
          </a:p>
          <a:p>
            <a:endParaRPr lang="zh-CN" altLang="en-US" sz="2400" dirty="0">
              <a:latin typeface="Heiti SC Medium" pitchFamily="2" charset="-128"/>
              <a:ea typeface="Heiti SC Medium" pitchFamily="2" charset="-128"/>
            </a:endParaRPr>
          </a:p>
          <a:p>
            <a:endParaRPr lang="zh-CN" altLang="en-US" sz="2400" dirty="0">
              <a:latin typeface="Heiti SC Medium" pitchFamily="2" charset="-128"/>
              <a:ea typeface="Heiti SC Medium" pitchFamily="2" charset="-128"/>
            </a:endParaRPr>
          </a:p>
          <a:p>
            <a:endParaRPr lang="zh-TW" altLang="zh-TW" sz="2400" dirty="0">
              <a:latin typeface="Heiti SC Medium" pitchFamily="2" charset="-128"/>
              <a:ea typeface="Heiti SC Medium" pitchFamily="2" charset="-128"/>
            </a:endParaRPr>
          </a:p>
        </p:txBody>
      </p:sp>
    </p:spTree>
    <p:extLst>
      <p:ext uri="{BB962C8B-B14F-4D97-AF65-F5344CB8AC3E}">
        <p14:creationId xmlns:p14="http://schemas.microsoft.com/office/powerpoint/2010/main" val="2494083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CB6FA-2B69-0251-038D-AB63E80A81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DCCF47D-2AF2-F9DD-68CF-B2DB8F7C9056}"/>
              </a:ext>
            </a:extLst>
          </p:cNvPr>
          <p:cNvSpPr>
            <a:spLocks noGrp="1"/>
          </p:cNvSpPr>
          <p:nvPr>
            <p:ph type="title"/>
          </p:nvPr>
        </p:nvSpPr>
        <p:spPr/>
        <p:txBody>
          <a:bodyPr>
            <a:normAutofit/>
          </a:bodyPr>
          <a:lstStyle/>
          <a:p>
            <a:r>
              <a:rPr kumimoji="1" lang="en-US" altLang="zh-CN" sz="4400" i="0" dirty="0"/>
              <a:t>04</a:t>
            </a:r>
            <a:r>
              <a:rPr kumimoji="1" lang="zh-CN" altLang="en-US" sz="4400" i="0" dirty="0"/>
              <a:t> </a:t>
            </a:r>
            <a:r>
              <a:rPr kumimoji="1" lang="zh-TW" altLang="en-US" sz="4400" i="0" dirty="0"/>
              <a:t>选修部分介绍</a:t>
            </a:r>
            <a:endParaRPr kumimoji="1" lang="zh-CN" altLang="en-US" sz="4400" i="0" dirty="0"/>
          </a:p>
        </p:txBody>
      </p:sp>
    </p:spTree>
    <p:extLst>
      <p:ext uri="{BB962C8B-B14F-4D97-AF65-F5344CB8AC3E}">
        <p14:creationId xmlns:p14="http://schemas.microsoft.com/office/powerpoint/2010/main" val="114739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D0B8-12A0-53F0-BFF7-A958B0F849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64D9E5-70AC-3805-00BB-7F9EA1F02960}"/>
              </a:ext>
            </a:extLst>
          </p:cNvPr>
          <p:cNvSpPr>
            <a:spLocks noGrp="1"/>
          </p:cNvSpPr>
          <p:nvPr>
            <p:ph type="title"/>
          </p:nvPr>
        </p:nvSpPr>
        <p:spPr>
          <a:xfrm>
            <a:off x="352202" y="937846"/>
            <a:ext cx="8623355" cy="709562"/>
          </a:xfrm>
        </p:spPr>
        <p:txBody>
          <a:bodyPr>
            <a:noAutofit/>
          </a:bodyPr>
          <a:lstStyle/>
          <a:p>
            <a:r>
              <a:rPr kumimoji="1" lang="zh-TW" altLang="en-US" sz="4400" b="1" i="0" dirty="0"/>
              <a:t>选修第一讲</a:t>
            </a:r>
            <a:r>
              <a:rPr kumimoji="1" lang="zh-CN" altLang="en-US" sz="4400" b="1" i="0" dirty="0"/>
              <a:t> </a:t>
            </a:r>
            <a:r>
              <a:rPr kumimoji="1" lang="en-US" altLang="zh-CN" sz="4400" b="1" i="0" dirty="0"/>
              <a:t>PID</a:t>
            </a:r>
            <a:r>
              <a:rPr kumimoji="1" lang="zh-CN" altLang="en-US" sz="4400" b="1" i="0" dirty="0"/>
              <a:t>控制 </a:t>
            </a:r>
            <a:r>
              <a:rPr kumimoji="1" lang="en-US" altLang="zh-CN" sz="4400" b="1" i="0" dirty="0"/>
              <a:t>1cr</a:t>
            </a:r>
            <a:endParaRPr kumimoji="1" lang="zh-CN" altLang="en-US" sz="4400" b="1" i="0" dirty="0"/>
          </a:p>
        </p:txBody>
      </p:sp>
      <p:sp>
        <p:nvSpPr>
          <p:cNvPr id="9" name="文本框 3">
            <a:extLst>
              <a:ext uri="{FF2B5EF4-FFF2-40B4-BE49-F238E27FC236}">
                <a16:creationId xmlns:a16="http://schemas.microsoft.com/office/drawing/2014/main" id="{DA7D0B0C-E7A5-B138-01DC-D0B576BF089C}"/>
              </a:ext>
            </a:extLst>
          </p:cNvPr>
          <p:cNvSpPr txBox="1"/>
          <p:nvPr/>
        </p:nvSpPr>
        <p:spPr>
          <a:xfrm>
            <a:off x="352203" y="1758244"/>
            <a:ext cx="8623354" cy="4708981"/>
          </a:xfrm>
          <a:prstGeom prst="rect">
            <a:avLst/>
          </a:prstGeom>
          <a:noFill/>
        </p:spPr>
        <p:txBody>
          <a:bodyPr wrap="square" rtlCol="0">
            <a:spAutoFit/>
          </a:bodyPr>
          <a:lstStyle/>
          <a:p>
            <a:r>
              <a:rPr lang="zh-TW" altLang="en-US" sz="2400" b="1" dirty="0">
                <a:solidFill>
                  <a:srgbClr val="7030A0"/>
                </a:solidFill>
                <a:latin typeface="微软雅黑" panose="020B0503020204020204" pitchFamily="34" charset="-122"/>
                <a:ea typeface="微软雅黑" panose="020B0503020204020204" pitchFamily="34" charset="-122"/>
              </a:rPr>
              <a:t>如果只用一个水龙头</a:t>
            </a:r>
            <a:r>
              <a:rPr lang="zh-CN" altLang="en-US" sz="2400" b="1" dirty="0">
                <a:solidFill>
                  <a:srgbClr val="7030A0"/>
                </a:solidFill>
                <a:latin typeface="微软雅黑" panose="020B0503020204020204" pitchFamily="34" charset="-122"/>
                <a:ea typeface="微软雅黑" panose="020B0503020204020204" pitchFamily="34" charset="-122"/>
              </a:rPr>
              <a:t>，你能精准控制水位吗？</a:t>
            </a:r>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400" b="1" dirty="0">
                <a:solidFill>
                  <a:srgbClr val="7030A0"/>
                </a:solidFill>
                <a:latin typeface="微软雅黑" panose="020B0503020204020204" pitchFamily="34" charset="-122"/>
                <a:ea typeface="微软雅黑" panose="020B0503020204020204" pitchFamily="34" charset="-122"/>
              </a:rPr>
              <a:t>如果只给你刹车和油门，你能维持住车速吗？</a:t>
            </a:r>
            <a:endParaRPr lang="en-US" altLang="zh-CN" sz="2400" b="1" dirty="0">
              <a:solidFill>
                <a:srgbClr val="7030A0"/>
              </a:solidFill>
              <a:latin typeface="微软雅黑" panose="020B0503020204020204" pitchFamily="34" charset="-122"/>
              <a:ea typeface="微软雅黑" panose="020B0503020204020204" pitchFamily="34" charset="-122"/>
            </a:endParaRPr>
          </a:p>
          <a:p>
            <a:endParaRPr lang="en-US" altLang="zh-CN" sz="2400" b="1" dirty="0">
              <a:solidFill>
                <a:srgbClr val="7030A0"/>
              </a:solidFill>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学完本讲，你便能掌握经典控制理论的基石</a:t>
            </a:r>
            <a:r>
              <a:rPr lang="en-US" altLang="zh-CN" sz="2800" b="1" dirty="0">
                <a:latin typeface="微软雅黑" panose="020B0503020204020204" pitchFamily="34" charset="-122"/>
                <a:ea typeface="微软雅黑" panose="020B0503020204020204" pitchFamily="34" charset="-122"/>
              </a:rPr>
              <a:t>——</a:t>
            </a:r>
          </a:p>
          <a:p>
            <a:pPr algn="ctr"/>
            <a:r>
              <a:rPr lang="en-US" altLang="zh-CN" sz="3600" b="1" dirty="0">
                <a:latin typeface="微软雅黑" panose="020B0503020204020204" pitchFamily="34" charset="-122"/>
                <a:ea typeface="微软雅黑" panose="020B0503020204020204" pitchFamily="34" charset="-122"/>
              </a:rPr>
              <a:t>PID</a:t>
            </a:r>
            <a:r>
              <a:rPr lang="zh-CN" altLang="en-US" sz="3600" b="1" dirty="0">
                <a:latin typeface="微软雅黑" panose="020B0503020204020204" pitchFamily="34" charset="-122"/>
                <a:ea typeface="微软雅黑" panose="020B0503020204020204" pitchFamily="34" charset="-122"/>
              </a:rPr>
              <a:t>算法</a:t>
            </a:r>
            <a:endParaRPr lang="en-US" altLang="zh-CN" sz="32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‌‌它涵盖了过去、现在和未来：</a:t>
            </a:r>
            <a:endParaRPr lang="en-US" altLang="zh-CN" sz="2400" dirty="0">
              <a:latin typeface="微软雅黑" panose="020B0503020204020204" pitchFamily="34" charset="-122"/>
              <a:ea typeface="微软雅黑" panose="020B0503020204020204" pitchFamily="34" charset="-122"/>
            </a:endParaRPr>
          </a:p>
          <a:p>
            <a:pPr marL="342900" indent="-342900">
              <a:buFontTx/>
              <a:buChar char="-"/>
            </a:pPr>
            <a:r>
              <a:rPr lang="en-US" altLang="zh-CN" sz="2400" dirty="0">
                <a:latin typeface="微软雅黑" panose="020B0503020204020204" pitchFamily="34" charset="-122"/>
                <a:ea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rPr>
              <a:t>：现在差多少，就修正多少</a:t>
            </a:r>
            <a:endParaRPr lang="en-US" altLang="zh-CN" sz="2400" dirty="0">
              <a:latin typeface="微软雅黑" panose="020B0503020204020204" pitchFamily="34" charset="-122"/>
              <a:ea typeface="微软雅黑" panose="020B0503020204020204" pitchFamily="34" charset="-122"/>
            </a:endParaRPr>
          </a:p>
          <a:p>
            <a:pPr marL="342900" indent="-342900">
              <a:buFontTx/>
              <a:buChar char="-"/>
            </a:pPr>
            <a:r>
              <a:rPr lang="en-US" altLang="zh-CN" sz="2400" dirty="0">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 ：长期偏差会被累积补偿</a:t>
            </a:r>
            <a:endParaRPr lang="en-US" altLang="zh-CN" sz="2400" dirty="0">
              <a:latin typeface="微软雅黑" panose="020B0503020204020204" pitchFamily="34" charset="-122"/>
              <a:ea typeface="微软雅黑" panose="020B0503020204020204" pitchFamily="34" charset="-122"/>
            </a:endParaRPr>
          </a:p>
          <a:p>
            <a:pPr marL="342900" indent="-342900">
              <a:buFontTx/>
              <a:buChar char="-"/>
            </a:pP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：提前预测变化并“刹车”</a:t>
            </a:r>
            <a:endParaRPr lang="en-US" altLang="zh-CN" sz="2400" dirty="0">
              <a:latin typeface="微软雅黑" panose="020B0503020204020204" pitchFamily="34" charset="-122"/>
              <a:ea typeface="微软雅黑" panose="020B0503020204020204" pitchFamily="34" charset="-122"/>
            </a:endParaRPr>
          </a:p>
          <a:p>
            <a:pPr marL="342900" indent="-342900">
              <a:buFontTx/>
              <a:buChar char="-"/>
            </a:pP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利用</a:t>
            </a:r>
            <a:r>
              <a:rPr lang="en-US" altLang="zh-CN" sz="2400" dirty="0">
                <a:latin typeface="微软雅黑" panose="020B0503020204020204" pitchFamily="34" charset="-122"/>
                <a:ea typeface="微软雅黑" panose="020B0503020204020204" pitchFamily="34" charset="-122"/>
              </a:rPr>
              <a:t>PID</a:t>
            </a:r>
            <a:r>
              <a:rPr lang="zh-CN" altLang="en-US" sz="2400" dirty="0">
                <a:latin typeface="微软雅黑" panose="020B0503020204020204" pitchFamily="34" charset="-122"/>
                <a:ea typeface="微软雅黑" panose="020B0503020204020204" pitchFamily="34" charset="-122"/>
              </a:rPr>
              <a:t>算法，系统便能维持稳定并具备一定抗干扰能力。</a:t>
            </a:r>
          </a:p>
        </p:txBody>
      </p:sp>
      <p:pic>
        <p:nvPicPr>
          <p:cNvPr id="5" name="圖片 4">
            <a:extLst>
              <a:ext uri="{FF2B5EF4-FFF2-40B4-BE49-F238E27FC236}">
                <a16:creationId xmlns:a16="http://schemas.microsoft.com/office/drawing/2014/main" id="{12E795E9-7E75-FE57-5A9E-A1F5D649A2C1}"/>
              </a:ext>
            </a:extLst>
          </p:cNvPr>
          <p:cNvPicPr>
            <a:picLocks noChangeAspect="1"/>
          </p:cNvPicPr>
          <p:nvPr/>
        </p:nvPicPr>
        <p:blipFill>
          <a:blip r:embed="rId3"/>
          <a:stretch>
            <a:fillRect/>
          </a:stretch>
        </p:blipFill>
        <p:spPr>
          <a:xfrm>
            <a:off x="6159433" y="3526067"/>
            <a:ext cx="2632364" cy="2303319"/>
          </a:xfrm>
          <a:prstGeom prst="rect">
            <a:avLst/>
          </a:prstGeom>
        </p:spPr>
      </p:pic>
    </p:spTree>
    <p:extLst>
      <p:ext uri="{BB962C8B-B14F-4D97-AF65-F5344CB8AC3E}">
        <p14:creationId xmlns:p14="http://schemas.microsoft.com/office/powerpoint/2010/main" val="312420156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438</TotalTime>
  <Words>2616</Words>
  <Application>Microsoft Macintosh PowerPoint</Application>
  <PresentationFormat>如螢幕大小 (4:3)</PresentationFormat>
  <Paragraphs>271</Paragraphs>
  <Slides>28</Slides>
  <Notes>20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28</vt:i4>
      </vt:variant>
    </vt:vector>
  </HeadingPairs>
  <TitlesOfParts>
    <vt:vector size="38" baseType="lpstr">
      <vt:lpstr>HEITI SC MEDIUM</vt:lpstr>
      <vt:lpstr>HEITI SC MEDIUM</vt:lpstr>
      <vt:lpstr>Microsoft YaHei</vt:lpstr>
      <vt:lpstr>Microsoft YaHei</vt:lpstr>
      <vt:lpstr>Aptos</vt:lpstr>
      <vt:lpstr>Arial</vt:lpstr>
      <vt:lpstr>Calibri</vt:lpstr>
      <vt:lpstr>Calibri Light</vt:lpstr>
      <vt:lpstr>Wingdings</vt:lpstr>
      <vt:lpstr>Office 主题​​</vt:lpstr>
      <vt:lpstr>第五讲 PCB原理与EDA使用</vt:lpstr>
      <vt:lpstr>01 什么是PCB？</vt:lpstr>
      <vt:lpstr>从面包板到PCB</vt:lpstr>
      <vt:lpstr>PCB（Printed Circuit Board）</vt:lpstr>
      <vt:lpstr>PCB层数</vt:lpstr>
      <vt:lpstr>02 从电路图到PCB</vt:lpstr>
      <vt:lpstr>设计流程</vt:lpstr>
      <vt:lpstr>封装</vt:lpstr>
      <vt:lpstr>其他常见封装</vt:lpstr>
      <vt:lpstr>03 实战演练</vt:lpstr>
      <vt:lpstr>需求分析</vt:lpstr>
      <vt:lpstr>框架设计</vt:lpstr>
      <vt:lpstr>框架设计</vt:lpstr>
      <vt:lpstr>数据手册（Datasheet）</vt:lpstr>
      <vt:lpstr>总览</vt:lpstr>
      <vt:lpstr>让我们画原理图！</vt:lpstr>
      <vt:lpstr>PCB布局原则</vt:lpstr>
      <vt:lpstr>让我们布局PCB！</vt:lpstr>
      <vt:lpstr>PCB布线原则</vt:lpstr>
      <vt:lpstr>厚度与宽度——电流承载能力</vt:lpstr>
      <vt:lpstr>厚度与宽度——电流承载能力</vt:lpstr>
      <vt:lpstr>让我们走线！</vt:lpstr>
      <vt:lpstr>DRC（Design Rule Check）</vt:lpstr>
      <vt:lpstr>打板</vt:lpstr>
      <vt:lpstr>让我们打板！</vt:lpstr>
      <vt:lpstr>打板之后</vt:lpstr>
      <vt:lpstr>04 选修部分介绍</vt:lpstr>
      <vt:lpstr>选修第一讲 PID控制 1cr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Lee Johnny</cp:lastModifiedBy>
  <cp:revision>21</cp:revision>
  <dcterms:created xsi:type="dcterms:W3CDTF">2021-12-22T10:15:29Z</dcterms:created>
  <dcterms:modified xsi:type="dcterms:W3CDTF">2026-07-02T16:36:32Z</dcterms:modified>
</cp:coreProperties>
</file>
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22a9c3f7474efa" /><Relationship Type="http://schemas.openxmlformats.org/officeDocument/2006/relationships/extended-properties" Target="/docProps/app.xml" Id="Rb495d333cb364551" /><Relationship Type="http://schemas.openxmlformats.org/officeDocument/2006/relationships/officeDocument" Target="/ppt/presentation.xml" Id="Raeb8c188d3bb42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48c45018294a37"/>
  </p:sldMasterIdLst>
  <p:notesMasterIdLst>
    <p:notesMasterId xmlns:r="http://schemas.openxmlformats.org/officeDocument/2006/relationships" r:id="R919f543bc9b4420b"/>
  </p:notesMasterIdLst>
  <p:sldIdLst>
    <p:sldId xmlns:r="http://schemas.openxmlformats.org/officeDocument/2006/relationships" id="256" r:id="R35f5e44259b54ed5"/>
    <p:sldId xmlns:r="http://schemas.openxmlformats.org/officeDocument/2006/relationships" id="257" r:id="R9fd237f5f9634408"/>
    <p:sldId xmlns:r="http://schemas.openxmlformats.org/officeDocument/2006/relationships" id="258" r:id="R57dd454da4eb43bf"/>
    <p:sldId xmlns:r="http://schemas.openxmlformats.org/officeDocument/2006/relationships" id="259" r:id="Rd06af513ead749a9"/>
    <p:sldId xmlns:r="http://schemas.openxmlformats.org/officeDocument/2006/relationships" id="260" r:id="Rcd7a7529b9cd4185"/>
    <p:sldId xmlns:r="http://schemas.openxmlformats.org/officeDocument/2006/relationships" id="261" r:id="Rffb5eeec788042f1"/>
    <p:sldId xmlns:r="http://schemas.openxmlformats.org/officeDocument/2006/relationships" id="262" r:id="R9874013103b446f2"/>
    <p:sldId xmlns:r="http://schemas.openxmlformats.org/officeDocument/2006/relationships" id="263" r:id="Re87877eaf0bb43d5"/>
    <p:sldId xmlns:r="http://schemas.openxmlformats.org/officeDocument/2006/relationships" id="264" r:id="Rd97acf1406bb4743"/>
    <p:sldId xmlns:r="http://schemas.openxmlformats.org/officeDocument/2006/relationships" id="265" r:id="R8be630b2a3d844e5"/>
    <p:sldId xmlns:r="http://schemas.openxmlformats.org/officeDocument/2006/relationships" id="266" r:id="R69783957c15d4417"/>
    <p:sldId xmlns:r="http://schemas.openxmlformats.org/officeDocument/2006/relationships" id="267" r:id="Rdd958aa2d9f54b15"/>
    <p:sldId xmlns:r="http://schemas.openxmlformats.org/officeDocument/2006/relationships" id="268" r:id="R44aa57b584904e79"/>
    <p:sldId xmlns:r="http://schemas.openxmlformats.org/officeDocument/2006/relationships" id="269" r:id="Rb6998db4c563473a"/>
    <p:sldId xmlns:r="http://schemas.openxmlformats.org/officeDocument/2006/relationships" id="270" r:id="R1c147677096e4510"/>
    <p:sldId xmlns:r="http://schemas.openxmlformats.org/officeDocument/2006/relationships" id="271" r:id="R841ab633ec354874"/>
    <p:sldId xmlns:r="http://schemas.openxmlformats.org/officeDocument/2006/relationships" id="272" r:id="R01a72ea65e9e4ad7"/>
    <p:sldId xmlns:r="http://schemas.openxmlformats.org/officeDocument/2006/relationships" id="273" r:id="R9765d96e8e8346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5e18590b094618" /><Relationship Type="http://schemas.openxmlformats.org/officeDocument/2006/relationships/slideMaster" Target="/ppt/slideMasters/slideMaster1.xml" Id="R2348c45018294a37" /><Relationship Type="http://schemas.openxmlformats.org/officeDocument/2006/relationships/notesMaster" Target="/ppt/notesMasters/notesMaster1.xml" Id="R919f543bc9b4420b" /><Relationship Type="http://schemas.openxmlformats.org/officeDocument/2006/relationships/presProps" Target="/ppt/presProps.xml" Id="R99a0d0ca87da4852" /><Relationship Type="http://schemas.openxmlformats.org/officeDocument/2006/relationships/tableStyles" Target="/ppt/tableStyles.xml" Id="R88f5f4fd31794a92" /><Relationship Type="http://schemas.openxmlformats.org/officeDocument/2006/relationships/slide" Target="/ppt/slides/slide1.xml" Id="R35f5e44259b54ed5" /><Relationship Type="http://schemas.openxmlformats.org/officeDocument/2006/relationships/slide" Target="/ppt/slides/slide2.xml" Id="R9fd237f5f9634408" /><Relationship Type="http://schemas.openxmlformats.org/officeDocument/2006/relationships/slide" Target="/ppt/slides/slide3.xml" Id="R57dd454da4eb43bf" /><Relationship Type="http://schemas.openxmlformats.org/officeDocument/2006/relationships/slide" Target="/ppt/slides/slide4.xml" Id="Rd06af513ead749a9" /><Relationship Type="http://schemas.openxmlformats.org/officeDocument/2006/relationships/slide" Target="/ppt/slides/slide5.xml" Id="Rcd7a7529b9cd4185" /><Relationship Type="http://schemas.openxmlformats.org/officeDocument/2006/relationships/slide" Target="/ppt/slides/slide6.xml" Id="Rffb5eeec788042f1" /><Relationship Type="http://schemas.openxmlformats.org/officeDocument/2006/relationships/slide" Target="/ppt/slides/slide7.xml" Id="R9874013103b446f2" /><Relationship Type="http://schemas.openxmlformats.org/officeDocument/2006/relationships/slide" Target="/ppt/slides/slide8.xml" Id="Re87877eaf0bb43d5" /><Relationship Type="http://schemas.openxmlformats.org/officeDocument/2006/relationships/slide" Target="/ppt/slides/slide9.xml" Id="Rd97acf1406bb4743" /><Relationship Type="http://schemas.openxmlformats.org/officeDocument/2006/relationships/slide" Target="/ppt/slides/slide10.xml" Id="R8be630b2a3d844e5" /><Relationship Type="http://schemas.openxmlformats.org/officeDocument/2006/relationships/slide" Target="/ppt/slides/slide11.xml" Id="R69783957c15d4417" /><Relationship Type="http://schemas.openxmlformats.org/officeDocument/2006/relationships/slide" Target="/ppt/slides/slide12.xml" Id="Rdd958aa2d9f54b15" /><Relationship Type="http://schemas.openxmlformats.org/officeDocument/2006/relationships/slide" Target="/ppt/slides/slide13.xml" Id="R44aa57b584904e79" /><Relationship Type="http://schemas.openxmlformats.org/officeDocument/2006/relationships/slide" Target="/ppt/slides/slide14.xml" Id="Rb6998db4c563473a" /><Relationship Type="http://schemas.openxmlformats.org/officeDocument/2006/relationships/slide" Target="/ppt/slides/slide15.xml" Id="R1c147677096e4510" /><Relationship Type="http://schemas.openxmlformats.org/officeDocument/2006/relationships/slide" Target="/ppt/slides/slide16.xml" Id="R841ab633ec354874" /><Relationship Type="http://schemas.openxmlformats.org/officeDocument/2006/relationships/slide" Target="/ppt/slides/slide17.xml" Id="R01a72ea65e9e4ad7" /><Relationship Type="http://schemas.openxmlformats.org/officeDocument/2006/relationships/slide" Target="/ppt/slides/slide18.xml" Id="R9765d96e8e8346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af05b9940d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a12e30dc004e96" /><Relationship Type="http://schemas.openxmlformats.org/officeDocument/2006/relationships/notesMaster" Target="/ppt/notesMasters/notesMaster1.xml" Id="R3fdd7847c82742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49f6086afd42b9" /><Relationship Type="http://schemas.openxmlformats.org/officeDocument/2006/relationships/notesMaster" Target="/ppt/notesMasters/notesMaster1.xml" Id="R55227b8ddbc240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9472ec73e44c2c" /><Relationship Type="http://schemas.openxmlformats.org/officeDocument/2006/relationships/notesMaster" Target="/ppt/notesMasters/notesMaster1.xml" Id="Rbe8442bc1de84b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354f9f271b4b16" /><Relationship Type="http://schemas.openxmlformats.org/officeDocument/2006/relationships/notesMaster" Target="/ppt/notesMasters/notesMaster1.xml" Id="R58f8a1c223b542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fd813c4ab347a6" /><Relationship Type="http://schemas.openxmlformats.org/officeDocument/2006/relationships/notesMaster" Target="/ppt/notesMasters/notesMaster1.xml" Id="Rd146bc6f45e145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a2987577594ce9" /><Relationship Type="http://schemas.openxmlformats.org/officeDocument/2006/relationships/notesMaster" Target="/ppt/notesMasters/notesMaster1.xml" Id="R43b4ffbdef0b44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38799de89349f2" /><Relationship Type="http://schemas.openxmlformats.org/officeDocument/2006/relationships/notesMaster" Target="/ppt/notesMasters/notesMaster1.xml" Id="R44853070a5fe47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c0c476f37b4dbf" /><Relationship Type="http://schemas.openxmlformats.org/officeDocument/2006/relationships/notesMaster" Target="/ppt/notesMasters/notesMaster1.xml" Id="R8ee6d10faec54f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2bfbeace03462e" /><Relationship Type="http://schemas.openxmlformats.org/officeDocument/2006/relationships/notesMaster" Target="/ppt/notesMasters/notesMaster1.xml" Id="R525aa62f1dc843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33ea140e0442b1" /><Relationship Type="http://schemas.openxmlformats.org/officeDocument/2006/relationships/notesMaster" Target="/ppt/notesMasters/notesMaster1.xml" Id="Rda4d64c2312245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ea4b60659248fc" /><Relationship Type="http://schemas.openxmlformats.org/officeDocument/2006/relationships/notesMaster" Target="/ppt/notesMasters/notesMaster1.xml" Id="Rb15ab091841845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31f8934e124786" /><Relationship Type="http://schemas.openxmlformats.org/officeDocument/2006/relationships/notesMaster" Target="/ppt/notesMasters/notesMaster1.xml" Id="R90f9f67193e94a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d1c27a537c466b" /><Relationship Type="http://schemas.openxmlformats.org/officeDocument/2006/relationships/notesMaster" Target="/ppt/notesMasters/notesMaster1.xml" Id="Rbd1f22ce493048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c6faa106f84ac6" /><Relationship Type="http://schemas.openxmlformats.org/officeDocument/2006/relationships/notesMaster" Target="/ppt/notesMasters/notesMaster1.xml" Id="R0cac2d510f1c44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a08580deed45a5" /><Relationship Type="http://schemas.openxmlformats.org/officeDocument/2006/relationships/notesMaster" Target="/ppt/notesMasters/notesMaster1.xml" Id="R0e32778dc90742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0b8616190b4748" /><Relationship Type="http://schemas.openxmlformats.org/officeDocument/2006/relationships/notesMaster" Target="/ppt/notesMasters/notesMaster1.xml" Id="Rd300dac031e345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dd1319b0414aec" /><Relationship Type="http://schemas.openxmlformats.org/officeDocument/2006/relationships/notesMaster" Target="/ppt/notesMasters/notesMaster1.xml" Id="Rde1666969e4b4f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9d94be75e2436e" /><Relationship Type="http://schemas.openxmlformats.org/officeDocument/2006/relationships/notesMaster" Target="/ppt/notesMasters/notesMaster1.xml" Id="R367b2ab05c9644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开场可以直接说：这不是一堂编程课，也不是让你马上学会 GitHub。今天只解决四件事：我们做的是什么、现在真的能做到什么、哪里还不稳、接下来一周我们两个人怎么分工。听完以后，你应该能独立完成测试、整理素材、记录问题和参与演示，不需要碰核心代码。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Knowledge Garden local repository status, verified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这里不要先讲 LangChain、数据库或 Agent。先让队友抓住产品本质：普通聊天机器人结束后只剩一段答案；知识花园希望把可信答案、用户的理解过程、复习任务和新联系写回长期知识库。我们的独特点是 Obsidian 知识生长闭环，而不是单次问答。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Agent positioning and core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后面分工的总地图。请队友记住：我们的比赛演示不是功能菜单巡游，而是一条因果链。后面的每个功能都应该服务于这条路径。若某项功能不能让这条闭环更稳定、更可信或更好理解，这一周就不应优先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Observe → compile → connect → question → review → writeback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这一页是建立信任。我们不把‘有代码’等同于‘比赛现场一定稳定’，也不把‘想做’写成‘已经做到’。67 项测试通过说明核心逻辑不是纯 PPT；但在线服务和本机应用仍有运行条件，必须在现场前做预检和替代方案。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command: .venv\Scripts\python.exe -m unittest discover -s tests -v; 67 tests passed on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 Obsidian 理解成项目的‘长期书架’，但园丁不是简单搬运文件。真正的价值是把原始材料编译成概念页、关系和学习任务。当前规则已经要求概念页不能只是‘等待补充’的空壳，并且教材页面不会直接以‘第 70 页’这种形式挤满知识图谱。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current capabilities; tests: ingest idempotency, body-evidence classification, PDF pages hidden and replaced by branches.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不用向队友解释 LangGraph 的代码。只要说清：一个人写论文也会先理解题目、查资料、判断证据、组织表达、最后校对。我们把这些角色拆开，避免一个模型一边找资料一边急着编答案。规划者还会判断‘这题用文字更好，还是需要流程图、对比图或空间图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core/gardener_graph.py; tests: structured state handoff, planner visual selection, reflector hard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这一页是比赛叙事中很重要的差异点。系统可能回答‘当前材料不足以支撑’，这不是偷懒，而是证据门控生效。我们需要继续改善的是：证据不足时不仅拒绝，还应提出下一步检索或让用户选择是否联网探究。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tests: evidence gate blocks factual generation without direct source; placeholder cannot become citation; revised answer cannot drop direct citation.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向队友强调两个反常识点。第一，Map 的节点应该是学科知识层级，不是教材名和页码。第二，个性化不是看见一次‘我想画出来’就永久判定用户是视觉型。系统现在用 9 张表保存会话、L1 事件、长期声明及证据、概念掌握度；长期画像需要重复且跨会话证据。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nine-table memory foundation and mastery dimensions; tests: alias merge, evidence-based classification lifecycle, memory scope gating.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这部分目前已有在线学术推荐的主备来源、去重与导读结构，但外部服务不能承诺永远成功。比赛现场不应该依赖当天临时抓到的文章，建议提前缓存 3 篇稳定样例，同时保留实时推荐作为加分项。队友可以负责每天用 3 组兴趣画像检查推荐质量。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core/web_research.py; tests: daily digest profile effect, deduplication, fallback diagnostics, guided reading carries source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灵感模式追求可能性，但不能把想象伪装成事实。微信读取也不应自动吞掉所有聊天：TraceMemo 只负责在本地提供数据，知识花园负责筛选、脱敏、审核和沉淀。当前仍是按需读取历史数据，不是微信实时监听。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TraceMemo read-only integration; tests: inspiration L1-only, official account normalization, WeChat candidate requires explicit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这页建议直接留在内部培训，不一定放进比赛主稿。它能防止我们在写介绍时把条件句删掉。例如‘支持微信内容读取’必须补充‘TraceMemo 正常运行且用户授权后’；‘支持图解’必须说明完整服务失败时会退回本地图解。诚实边界不会削弱项目，反而让演示更可信。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conditional capabilities and privacy boundaries; local repository review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这里最意外的事实是：当前最大风险不是 Agent 结构，而是仓库合并冲突和演示依赖。README 里能看到冲突标记，Git 状态显示 README.md 与 .gitignore 为 AA。必须先解决，否则后面任何协作都可能覆盖或丢失改动。第二个风险是现场依赖：要让启动、密钥、端口、TraceMemo 与样例数据有统一预检。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status --short --branch, verified 2026-08-24; README.md contains merge conflict markers.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演示的目标不是证明我们做了多少页面，而是证明系统能把一次学习行为变成长期资产。请队友负责计时并观察每一步是否一眼可懂。主问题要提前固定，来源要提前核验，写回前后的页面要准备对比截图。现场如果在线能力失败，主闭环仍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demo recommendation based on verified local capabilities,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建议这一周强迫队友学会分支、合并和冲突解决。这样只会增加事故。由你做唯一代码负责人，每天给队友一个可运行版本或固定测试地址；队友通过共享文件夹交付素材、截图、问题单和演示稿。比赛后再逐步把协作迁移到 GitHub。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collaboration design for a novice contributor,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队友的工作不是‘帮忙看看’，而是有明确所有权：测试材料、验收标准、演示资产和答辩表达。技术负责人也不能每天随意改方向，必须给出稳定版本。每天同步只回答三件事，不开长会。任何新想法先进入赛后清单，除非它能修复主闭环中的致命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sprint ownership plan,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这是一周版本控制规则。D1-D3 解决正确性和稳定性；D4-D5 把价值讲清楚；D6-D7 不再加新模块。每天结束时保存：可运行版本、测试记录、演示素材、风险清单。队友应在 D3 之前交付第一轮问题单，在 D4 主导讲稿和视觉表达。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sprint plan,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给队友演示一次怎样提问题单。不要只发一句‘打不开’，因为技术负责人无法复现。严重度由对比赛主线的影响决定：P0 是程序打不开或演示中断；P1 是答案、证据、分类或写回错误；P2 是排版、措辞和次要体验。每个 Bug 修复后由原报告人复测关闭。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QA protocol,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最后不要用‘还有问题吗’收尾，而是当场做四个决定。建议会议结束后立即建立共享文件夹、分配 D1 任务，并约好第二天的 20 分钟验收时间。如果队友还担心自己不会代码，明确告诉她：她对产品质量、材料真实性和演示表达负有独立而重要的责任。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decision checklist,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a8192da7c47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c56f8009074231" /><Relationship Type="http://schemas.openxmlformats.org/officeDocument/2006/relationships/slideLayout" Target="/ppt/slideLayouts/slideLayout1.xml" Id="R35153fecdf8a4c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153fecdf8a4c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bc0ad78c64996" /><Relationship Type="http://schemas.openxmlformats.org/officeDocument/2006/relationships/notesSlide" Target="/ppt/notesSlides/notesSlide1.xml" Id="Rfe50294317ac4e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585e45dd144b7" /><Relationship Type="http://schemas.openxmlformats.org/officeDocument/2006/relationships/notesSlide" Target="/ppt/notesSlides/notesSlide2.xml" Id="Rb832bc9250914b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03111ade6452e" /><Relationship Type="http://schemas.openxmlformats.org/officeDocument/2006/relationships/notesSlide" Target="/ppt/notesSlides/notesSlide3.xml" Id="R119850f0c9904a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dde30e9fc4c94" /><Relationship Type="http://schemas.openxmlformats.org/officeDocument/2006/relationships/notesSlide" Target="/ppt/notesSlides/notesSlide4.xml" Id="R6455a689519b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aa9b04a4c46a4" /><Relationship Type="http://schemas.openxmlformats.org/officeDocument/2006/relationships/notesSlide" Target="/ppt/notesSlides/notesSlide5.xml" Id="R5c113e43f27c4e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d094ca93e462a" /><Relationship Type="http://schemas.openxmlformats.org/officeDocument/2006/relationships/notesSlide" Target="/ppt/notesSlides/notesSlide6.xml" Id="R881f6a54916647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6bf2ba0aa475a" /><Relationship Type="http://schemas.openxmlformats.org/officeDocument/2006/relationships/notesSlide" Target="/ppt/notesSlides/notesSlide7.xml" Id="R1771e651e6ab43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e6c6831c74089" /><Relationship Type="http://schemas.openxmlformats.org/officeDocument/2006/relationships/notesSlide" Target="/ppt/notesSlides/notesSlide8.xml" Id="Rcf29c728f2ef49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67d1c103e4eb6" /><Relationship Type="http://schemas.openxmlformats.org/officeDocument/2006/relationships/notesSlide" Target="/ppt/notesSlides/notesSlide9.xml" Id="Rc8170b3b76d941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535ddf7274611" /><Relationship Type="http://schemas.openxmlformats.org/officeDocument/2006/relationships/notesSlide" Target="/ppt/notesSlides/notesSlide10.xml" Id="R1dcf301d2f4d4c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fd14f2bed47e3" /><Relationship Type="http://schemas.openxmlformats.org/officeDocument/2006/relationships/notesSlide" Target="/ppt/notesSlides/notesSlide11.xml" Id="R1ca63261a1ea42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e05e6d2ac4bde" /><Relationship Type="http://schemas.openxmlformats.org/officeDocument/2006/relationships/notesSlide" Target="/ppt/notesSlides/notesSlide12.xml" Id="R3a5f050e5cd542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fbb10028444ad" /><Relationship Type="http://schemas.openxmlformats.org/officeDocument/2006/relationships/notesSlide" Target="/ppt/notesSlides/notesSlide13.xml" Id="R6e33f06a7c7946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5fd50c7004c1f" /><Relationship Type="http://schemas.openxmlformats.org/officeDocument/2006/relationships/notesSlide" Target="/ppt/notesSlides/notesSlide14.xml" Id="Rac9ed64ebce94d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299517ad345b7" /><Relationship Type="http://schemas.openxmlformats.org/officeDocument/2006/relationships/notesSlide" Target="/ppt/notesSlides/notesSlide15.xml" Id="R391e3feb6b6743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1738d45254c66" /><Relationship Type="http://schemas.openxmlformats.org/officeDocument/2006/relationships/notesSlide" Target="/ppt/notesSlides/notesSlide16.xml" Id="Rbfcd3a41f66e4f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f96c14dc64f78" /><Relationship Type="http://schemas.openxmlformats.org/officeDocument/2006/relationships/notesSlide" Target="/ppt/notesSlides/notesSlide17.xml" Id="Rec19f78a321c47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7df4316cb431e" /><Relationship Type="http://schemas.openxmlformats.org/officeDocument/2006/relationships/notesSlide" Target="/ppt/notesSlides/notesSlide18.xml" Id="Rb1a4e4ee45d44c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0821F-02A5-4A9D-BBB5-CF21CCBC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8078"/>
                </a:solidFill>
              </a:defRPr>
            </a:pPr>
            <a:r>
              <a:rPr sz="1350" b="1">
                <a:solidFill>
                  <a:srgbClr val="718078"/>
                </a:solidFill>
              </a:rPr>
              <a:t>知识花园 · 队友协作说明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D4D34-7FFF-40B2-ABFD-836DD01D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85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211B"/>
                </a:solidFill>
              </a:defRPr>
            </a:pPr>
            <a:r>
              <a:rPr sz="4350" b="1">
                <a:solidFill>
                  <a:srgbClr val="0A211B"/>
                </a:solidFill>
              </a:rPr>
              <a:t>我们现在站在哪里，</a:t>
            </a:r>
          </a:p>
          <a:p xmlns:a="http://schemas.openxmlformats.org/drawingml/2006/main">
            <a:pPr algn="l">
              <a:defRPr sz="4350" b="1">
                <a:solidFill>
                  <a:srgbClr val="0A211B"/>
                </a:solidFill>
              </a:defRPr>
            </a:pPr>
            <a:r>
              <a:rPr sz="4350" b="1">
                <a:solidFill>
                  <a:srgbClr val="0A211B"/>
                </a:solidFill>
              </a:rPr>
              <a:t>这一周怎样一起把它讲清楚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AA5E1-B947-4EBD-A738-72733C5B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814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9A085"/>
                </a:solidFill>
              </a:defRPr>
            </a:pPr>
            <a:r>
              <a:rPr sz="1875" b="0">
                <a:solidFill>
                  <a:srgbClr val="79A085"/>
                </a:solidFill>
              </a:rPr>
              <a:t>给第一次接触代码与 GitHub 的队友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2EA6E-E306-4342-8902-75A72A6E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38275"/>
            <a:ext cx="3000375" cy="3000375"/>
          </a:xfrm>
          <a:prstGeom xmlns:a="http://schemas.openxmlformats.org/drawingml/2006/main" prst="roundRect">
            <a:avLst>
              <a:gd name="adj" fmla="val 5079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0B860-789B-4AF9-8016-2E8DB835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190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FFDF8"/>
                </a:solidFill>
              </a:defRPr>
            </a:pPr>
            <a:r>
              <a:rPr sz="8100" b="1">
                <a:solidFill>
                  <a:srgbClr val="FFFDF8"/>
                </a:solidFill>
              </a:rPr>
              <a:t>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BCAA9-42F7-4CEE-A4DF-4F47FEE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09950"/>
            <a:ext cx="2076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DF8"/>
                </a:solidFill>
              </a:defRPr>
            </a:pPr>
            <a:r>
              <a:rPr sz="1500" b="0">
                <a:solidFill>
                  <a:srgbClr val="FFFDF8"/>
                </a:solidFill>
              </a:rPr>
              <a:t>资料长成知识</a:t>
            </a:r>
          </a:p>
          <a:p xmlns:a="http://schemas.openxmlformats.org/drawingml/2006/main">
            <a:pPr algn="ctr">
              <a:defRPr sz="1500" b="0">
                <a:solidFill>
                  <a:srgbClr val="FFFDF8"/>
                </a:solidFill>
              </a:defRPr>
            </a:pPr>
            <a:r>
              <a:rPr sz="1500" b="0">
                <a:solidFill>
                  <a:srgbClr val="FFFDF8"/>
                </a:solidFill>
              </a:rPr>
              <a:t>知识变成行动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EAACF-E42E-4D46-AC9B-49E859F6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78"/>
                </a:solidFill>
              </a:defRPr>
            </a:pPr>
            <a:r>
              <a:rPr sz="1050" b="0">
                <a:solidFill>
                  <a:srgbClr val="718078"/>
                </a:solidFill>
              </a:rPr>
              <a:t>2026.08.24  ·  冲刺协作版</a:t>
            </a:r>
          </a:p>
        </p:txBody>
      </p:sp>
    </p:spTree>
    <p:extLst>
      <p:ext uri="{BB962C8B-B14F-4D97-AF65-F5344CB8AC3E}">
        <p14:creationId xmlns:p14="http://schemas.microsoft.com/office/powerpoint/2010/main" val="276871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2D587-8588-44D0-8E5C-3E142B3A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01 /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9CF10-4081-4559-A4AD-2AA3DA9A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先用一句话说清楚：我们到底在做什么？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824C0-15EC-4CDF-95CE-8ED438F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81411-2576-47DF-B928-1FFBBE78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DEE9C-A053-4B7A-8F16-116C1FFE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0972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B3C38"/>
                </a:solidFill>
              </a:defRPr>
            </a:pPr>
            <a:r>
              <a:rPr sz="2250" b="1">
                <a:solidFill>
                  <a:srgbClr val="8B3C38"/>
                </a:solidFill>
              </a:rPr>
              <a:t>它不是一个“会回答问题的网页”。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87D96-2D7D-46FF-A167-04A8FA75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382F"/>
                </a:solidFill>
              </a:defRPr>
            </a:pPr>
            <a:r>
              <a:rPr sz="2925" b="1">
                <a:solidFill>
                  <a:srgbClr val="16382F"/>
                </a:solidFill>
              </a:rPr>
              <a:t>它是一个会把资料、提问、复习和灵感持续组织起来的“知识园丁”。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DD5BB-B7F7-408C-A946-C6DE0DED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0"/>
            <a:ext cx="11239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B2163-6E78-48A6-B97F-9864497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321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82F"/>
                </a:solidFill>
              </a:defRPr>
            </a:pPr>
            <a:r>
              <a:rPr sz="1650" b="1">
                <a:solidFill>
                  <a:srgbClr val="16382F"/>
                </a:solidFill>
              </a:rPr>
              <a:t>用户放进教材、文章、收藏或问题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AABEA-D8F0-4A78-A741-0609FB41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290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9A085"/>
                </a:solidFill>
              </a:defRPr>
            </a:pPr>
            <a:r>
              <a:rPr sz="2400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27890-898C-49E0-8CEF-A93CBD28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00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82F"/>
                </a:solidFill>
              </a:defRPr>
            </a:pPr>
            <a:r>
              <a:rPr sz="1650" b="1">
                <a:solidFill>
                  <a:srgbClr val="16382F"/>
                </a:solidFill>
              </a:rPr>
              <a:t>园丁理解、查证、组织、追问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2CA95-9DA0-477C-A3AE-BA076A20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290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9A085"/>
                </a:solidFill>
              </a:defRPr>
            </a:pPr>
            <a:r>
              <a:rPr sz="2400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39FBE-11EA-445C-A4D1-AEFE1FF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0050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82F"/>
                </a:solidFill>
              </a:defRPr>
            </a:pPr>
            <a:r>
              <a:rPr sz="1650" b="1">
                <a:solidFill>
                  <a:srgbClr val="16382F"/>
                </a:solidFill>
              </a:rPr>
              <a:t>知识库和知识图谱长期生长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571C8-E86F-4A36-B3D3-EE45EC38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22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18078"/>
                </a:solidFill>
              </a:defRPr>
            </a:pPr>
            <a:r>
              <a:rPr sz="1650" b="0">
                <a:solidFill>
                  <a:srgbClr val="718078"/>
                </a:solidFill>
              </a:rPr>
              <a:t>核心价值：不是一次性生成，而是留下可追溯、可复习、可继续讨论的知识资产。</a:t>
            </a:r>
          </a:p>
        </p:txBody>
      </p:sp>
    </p:spTree>
    <p:extLst>
      <p:ext uri="{BB962C8B-B14F-4D97-AF65-F5344CB8AC3E}">
        <p14:creationId xmlns:p14="http://schemas.microsoft.com/office/powerpoint/2010/main" val="990702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DB4FBC-1BD2-4EC2-A430-AA0DF0BC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02 / 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D9147-5B34-4156-B4BC-7C619688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用户实际会经历怎样的一条完整路径？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F8FE0-D23E-4082-BFF9-5C9B74E0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98D1-7EE4-4500-8E69-D295139B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27B2F-9DA1-4F1B-8751-CB414FAA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9A0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D1C29-C1D6-42B9-AE98-192AE971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D6F94-54F6-49AD-AB2B-26AC86EB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81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9A085"/>
                </a:solidFill>
              </a:defRPr>
            </a:pPr>
            <a:r>
              <a:rPr sz="1500" b="1">
                <a:solidFill>
                  <a:srgbClr val="79A08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40BD3-2C81-4026-AE49-19E8A8AB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放入资料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9218C-E734-4864-8AF2-0A061FE2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2410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78"/>
                </a:solidFill>
              </a:defRPr>
            </a:pPr>
            <a:r>
              <a:rPr sz="1125" b="0">
                <a:solidFill>
                  <a:srgbClr val="718078"/>
                </a:solidFill>
              </a:rPr>
              <a:t>教材 / 网页 / 微信文章 / 碎片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DD5F8-1563-4025-A902-5AD835D9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908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D04F2-54F3-4680-9D67-AB4DF25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90E0C-8DF7-4B42-8DF4-0C132F3A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81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9A085"/>
                </a:solidFill>
              </a:defRPr>
            </a:pPr>
            <a:r>
              <a:rPr sz="1500" b="1">
                <a:solidFill>
                  <a:srgbClr val="79A085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A9F11-AEEC-45E2-8026-52374591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526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园丁理解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53280-5EB9-4CF0-B1D6-79772CCB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2410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78"/>
                </a:solidFill>
              </a:defRPr>
            </a:pPr>
            <a:r>
              <a:rPr sz="1125" b="0">
                <a:solidFill>
                  <a:srgbClr val="718078"/>
                </a:solidFill>
              </a:rPr>
              <a:t>识别问题、用户状态与知识缺口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D8D87-EA92-4DAB-B5D0-D4DF5008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908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9FA3A-FB88-4CEC-BD25-C0834B11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66900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ABB02-CB0A-4167-B40B-9CE0C37E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981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9A085"/>
                </a:solidFill>
              </a:defRPr>
            </a:pPr>
            <a:r>
              <a:rPr sz="1500" b="1">
                <a:solidFill>
                  <a:srgbClr val="79A08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C95C7-FF2B-462B-8060-5BBCD163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9526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检索查证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33D09-344E-4AD1-8025-A3D02ED9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2410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78"/>
                </a:solidFill>
              </a:defRPr>
            </a:pPr>
            <a:r>
              <a:rPr sz="1125" b="0">
                <a:solidFill>
                  <a:srgbClr val="718078"/>
                </a:solidFill>
              </a:rPr>
              <a:t>优先本地知识，再找可信外部来源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FC575-B5DE-4ECF-9E28-E8D59909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56C41-FF2E-4459-A6BD-3D85D0F8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66900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742DC-1461-48D4-92F1-D5DB39CA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9A085"/>
                </a:solidFill>
              </a:defRPr>
            </a:pPr>
            <a:r>
              <a:rPr sz="1500" b="1">
                <a:solidFill>
                  <a:srgbClr val="79A0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569CE-A3BD-432D-93D7-B6EA9E10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讲解互动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4CE4D-87B9-4856-BF58-A30FEF14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78"/>
                </a:solidFill>
              </a:defRPr>
            </a:pPr>
            <a:r>
              <a:rPr sz="1125" b="0">
                <a:solidFill>
                  <a:srgbClr val="718078"/>
                </a:solidFill>
              </a:rPr>
              <a:t>文字、图解、追问、自由继续讨论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03385-0FAF-461E-A80B-583F55EC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ACFE2-F413-4101-84E7-35F5B8D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866900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3ECE1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B61FA-3268-4CDA-A3F7-56AA3D2B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981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9A085"/>
                </a:solidFill>
              </a:defRPr>
            </a:pPr>
            <a:r>
              <a:rPr sz="1500" b="1">
                <a:solidFill>
                  <a:srgbClr val="79A085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FF9DB-7312-4263-A781-F0D2FD73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9526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沉淀生长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31CA8C-D747-467F-B2CE-EF680E8A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2410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78"/>
                </a:solidFill>
              </a:defRPr>
            </a:pPr>
            <a:r>
              <a:rPr sz="1125" b="0">
                <a:solidFill>
                  <a:srgbClr val="718078"/>
                </a:solidFill>
              </a:rPr>
              <a:t>确认后写回 Obsidian、Map 与复习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62531B-1583-4FA3-B43A-565E2269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7908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F15DC8-4985-41E7-990A-F631065F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111347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F028D9-F276-4C6A-9AEA-65169FBF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82F"/>
                </a:solidFill>
              </a:defRPr>
            </a:pPr>
            <a:r>
              <a:rPr sz="1800" b="1">
                <a:solidFill>
                  <a:srgbClr val="16382F"/>
                </a:solidFill>
              </a:rPr>
              <a:t>比赛演示时必须走完闭环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B9664B-CE72-47A9-B1D1-C5581913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E80067-EC4A-4C3F-AA41-03051C0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973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只展示“回答得像 AI”不够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B2A6BE-CB6C-4448-873D-B1807DBD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B3E6DE-7CA2-4F32-8E23-33B47252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14900"/>
            <a:ext cx="973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至少要看到一次写回与图谱更新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006A01-C6D5-43A5-A1C9-F4BBBDD7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A2D37F-4A19-44A1-99E2-6C39A4C1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76850"/>
            <a:ext cx="973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所有在线能力都要准备离线替代方案</a:t>
            </a:r>
          </a:p>
        </p:txBody>
      </p:sp>
    </p:spTree>
    <p:extLst>
      <p:ext uri="{BB962C8B-B14F-4D97-AF65-F5344CB8AC3E}">
        <p14:creationId xmlns:p14="http://schemas.microsoft.com/office/powerpoint/2010/main" val="171915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735686-D0F8-4CB5-AB65-3A70F7E1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03 / HONEST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3997E-D51F-4763-831F-0C72C27C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先讲真话：现在不是“全完成”，而是三种状态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36E06-B916-4D8E-80DC-5996CC9F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33E83-6765-4FAA-9171-08214757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D251B-3A57-4371-97FE-6213C27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333750" cy="36766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3ECE1"/>
          </a:solidFill>
          <a:ln xmlns:a="http://schemas.openxmlformats.org/drawingml/2006/main" w="9525">
            <a:solidFill>
              <a:srgbClr val="E3EC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32D72-DC9C-4221-BC3D-A5F5B69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82F"/>
                </a:solidFill>
              </a:defRPr>
            </a:pPr>
            <a:r>
              <a:rPr sz="2025" b="1">
                <a:solidFill>
                  <a:srgbClr val="16382F"/>
                </a:solidFill>
              </a:rPr>
              <a:t>已可稳定演示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80672-D22A-4735-97B0-4AF5A2EC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57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82F"/>
                </a:solidFill>
              </a:defRPr>
            </a:pPr>
            <a:r>
              <a:rPr sz="1350" b="0">
                <a:solidFill>
                  <a:srgbClr val="16382F"/>
                </a:solidFill>
              </a:rPr>
              <a:t>核心流程已有代码与测试支撑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14D05-8F19-46BC-B1CF-E3E05A46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194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99521-0870-4B7F-B463-E4DAD93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Obsidian 同步与写回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2056A-47DC-40D6-99CC-5BCCE986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623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1174C-0019-4449-86BB-10D6E6D2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问园丁多阶段流程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E8CDE-9DA8-4D04-A586-1FB83C38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053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68B31-5CDB-43A8-A200-F2709904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复习与知识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E3FC4-6F8A-44C4-A6FF-1DF3CE7C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76400"/>
            <a:ext cx="3333750" cy="36766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1D89D"/>
          </a:solidFill>
          <a:ln xmlns:a="http://schemas.openxmlformats.org/drawingml/2006/main" w="9525">
            <a:solidFill>
              <a:srgbClr val="F1D89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73EBB-869A-483B-8619-6E24CE09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24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7581D"/>
                </a:solidFill>
              </a:defRPr>
            </a:pPr>
            <a:r>
              <a:rPr sz="2025" b="1">
                <a:solidFill>
                  <a:srgbClr val="77581D"/>
                </a:solidFill>
              </a:rPr>
              <a:t>有条件可用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2844F-1123-452F-8886-29748037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57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581D"/>
                </a:solidFill>
              </a:defRPr>
            </a:pPr>
            <a:r>
              <a:rPr sz="1350" b="0">
                <a:solidFill>
                  <a:srgbClr val="77581D"/>
                </a:solidFill>
              </a:rPr>
              <a:t>依赖本地服务、API 或外部网站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B4E2B-296D-468B-82A8-38E7593D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194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368B1-DF7F-4DCC-BCAD-628E5776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581D"/>
                </a:solidFill>
              </a:defRPr>
            </a:pPr>
            <a:r>
              <a:rPr sz="1425" b="0">
                <a:solidFill>
                  <a:srgbClr val="77581D"/>
                </a:solidFill>
              </a:rPr>
              <a:t>在线推荐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9C0D8-402A-4406-A0FB-92DC06A4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623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49CB3-D97D-4358-A8FA-8DA4F982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62375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581D"/>
                </a:solidFill>
              </a:defRPr>
            </a:pPr>
            <a:r>
              <a:rPr sz="1425" b="0">
                <a:solidFill>
                  <a:srgbClr val="77581D"/>
                </a:solidFill>
              </a:rPr>
              <a:t>TraceMemo 微信读取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ECB2E-D323-4541-8543-657F7D37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053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1B9A6-AA9C-4B66-B647-4554FFCF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05300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581D"/>
                </a:solidFill>
              </a:defRPr>
            </a:pPr>
            <a:r>
              <a:rPr sz="1425" b="0">
                <a:solidFill>
                  <a:srgbClr val="77581D"/>
                </a:solidFill>
              </a:rPr>
              <a:t>完整 DeepDiagram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8B933-B0B0-4116-9018-D6665333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333750" cy="36766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1D5D3"/>
          </a:solidFill>
          <a:ln xmlns:a="http://schemas.openxmlformats.org/drawingml/2006/main" w="9525">
            <a:solidFill>
              <a:srgbClr val="F1D5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8BF057-8F28-4716-AF26-AC48CE01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24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B3C38"/>
                </a:solidFill>
              </a:defRPr>
            </a:pPr>
            <a:r>
              <a:rPr sz="2025" b="1">
                <a:solidFill>
                  <a:srgbClr val="8B3C38"/>
                </a:solidFill>
              </a:rPr>
              <a:t>不能承诺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C7906D-4AB4-49BD-8496-3037AFA3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57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3C38"/>
                </a:solidFill>
              </a:defRPr>
            </a:pPr>
            <a:r>
              <a:rPr sz="1350" b="0">
                <a:solidFill>
                  <a:srgbClr val="8B3C38"/>
                </a:solidFill>
              </a:rPr>
              <a:t>尚未达到无人值守与零错误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2E43C1-305D-4520-B101-DCAC8179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194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5C128-1C2B-4337-8D9F-5C2F2C05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9450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B3C38"/>
                </a:solidFill>
              </a:defRPr>
            </a:pPr>
            <a:r>
              <a:rPr sz="1425" b="0">
                <a:solidFill>
                  <a:srgbClr val="8B3C38"/>
                </a:solidFill>
              </a:rPr>
              <a:t>24 小时自主运行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35DE46-B49B-40D7-B83D-C4C45010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623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602EBD-28E1-4FA6-A213-FE1D32DA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62375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B3C38"/>
                </a:solidFill>
              </a:defRPr>
            </a:pPr>
            <a:r>
              <a:rPr sz="1425" b="0">
                <a:solidFill>
                  <a:srgbClr val="8B3C38"/>
                </a:solidFill>
              </a:rPr>
              <a:t>100% 自动正确分类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E6EBB8-5C36-4D1F-875E-7EC24586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053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5FC2AF-75E0-4B8F-A565-1E4B2702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05300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B3C38"/>
                </a:solidFill>
              </a:defRPr>
            </a:pPr>
            <a:r>
              <a:rPr sz="1425" b="0">
                <a:solidFill>
                  <a:srgbClr val="8B3C38"/>
                </a:solidFill>
              </a:rPr>
              <a:t>任何来源永不失败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7AEF69-AFFA-4BB2-B43D-B630DCE1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762625"/>
            <a:ext cx="4143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696935-BF74-4980-B1BB-DAB38FB0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81675"/>
            <a:ext cx="399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67 项自动化测试通过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38508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C818C5-8D04-4B8A-8B76-1F3B5CB1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04 / CAPABILITY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AD079-41B6-45A8-A782-2DDF9076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已经能做①：资料进入后，不只是“存起来”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665E1-2DFE-4B46-93E5-D03BBE93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84894-2F64-499B-ACAC-E4DB8B69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54784-4988-4A53-8C65-FF4CF2E0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18078"/>
                </a:solidFill>
              </a:defRPr>
            </a:pPr>
            <a:r>
              <a:rPr sz="1800" b="1">
                <a:solidFill>
                  <a:srgbClr val="718078"/>
                </a:solidFill>
              </a:rPr>
              <a:t>资料入口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D44A1-DFFE-421B-AB5D-3EDD8153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A085"/>
                </a:solidFill>
              </a:defRPr>
            </a:pPr>
            <a:r>
              <a:rPr sz="172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B4306-7766-4FE2-AC24-7E0ACBF7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82F"/>
                </a:solidFill>
              </a:defRPr>
            </a:pPr>
            <a:r>
              <a:rPr sz="1575" b="0">
                <a:solidFill>
                  <a:srgbClr val="16382F"/>
                </a:solidFill>
              </a:rPr>
              <a:t>PDF 教材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C9AAD-4021-4BC3-9911-6304B3C8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A085"/>
                </a:solidFill>
              </a:defRPr>
            </a:pPr>
            <a:r>
              <a:rPr sz="172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06C3D-25AE-4050-86E9-5A793BC2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82F"/>
                </a:solidFill>
              </a:defRPr>
            </a:pPr>
            <a:r>
              <a:rPr sz="1575" b="0">
                <a:solidFill>
                  <a:srgbClr val="16382F"/>
                </a:solidFill>
              </a:rPr>
              <a:t>网页与前沿文章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D8F26-A8DE-4762-AE21-3EED7E04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9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A085"/>
                </a:solidFill>
              </a:defRPr>
            </a:pPr>
            <a:r>
              <a:rPr sz="172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A1E0F-02E3-44C4-97B7-CBC23FEE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82F"/>
                </a:solidFill>
              </a:defRPr>
            </a:pPr>
            <a:r>
              <a:rPr sz="1575" b="0">
                <a:solidFill>
                  <a:srgbClr val="16382F"/>
                </a:solidFill>
              </a:rPr>
              <a:t>Obsidian 笔记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FC69F-3128-4119-BAE0-B4B2CA97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A085"/>
                </a:solidFill>
              </a:defRPr>
            </a:pPr>
            <a:r>
              <a:rPr sz="172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E2D42-9F6E-49C1-9CAF-087B0EF2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82F"/>
                </a:solidFill>
              </a:defRPr>
            </a:pPr>
            <a:r>
              <a:rPr sz="1575" b="0">
                <a:solidFill>
                  <a:srgbClr val="16382F"/>
                </a:solidFill>
              </a:rPr>
              <a:t>微信候选内容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5C438-E759-4A1D-AC29-2E92F836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95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9A085"/>
                </a:solidFill>
              </a:defRPr>
            </a:pPr>
            <a:r>
              <a:rPr sz="2850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AEE78-77D6-4FBA-864B-6632FB9A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76400"/>
            <a:ext cx="3295650" cy="3676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1D948-B239-4497-8C7A-973BA7B0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82F"/>
                </a:solidFill>
              </a:defRPr>
            </a:pPr>
            <a:r>
              <a:rPr sz="1875" b="1">
                <a:solidFill>
                  <a:srgbClr val="16382F"/>
                </a:solidFill>
              </a:rPr>
              <a:t>园丁会做的处理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E490F-A581-4487-986B-D6365D81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7EF55-761C-4B2E-A32A-F6CE7A59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读取正文，不拿文件名冒充知识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D8F0A-E7DB-4540-9203-E3773145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194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CBC27-95D6-4462-A312-58EF0071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提取概念、机制、边界和来源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1FFE5-AD63-47C6-9F1E-B35AAA45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100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82088-483D-4FD0-86F0-EAC2E002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建立双向链接与主题索引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4C1A1-A15F-40BC-8338-F6465D52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DA41F-9DDD-4EFB-8DA9-9C7FF3C2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重复导入时尽量去重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66038-F339-4010-94AF-F2D38482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95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9A085"/>
                </a:solidFill>
              </a:defRPr>
            </a:pPr>
            <a:r>
              <a:rPr sz="2850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2EFE0-7F37-483F-A758-DD0EF5C6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62350" cy="36766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E3ECE1"/>
          </a:solidFill>
          <a:ln xmlns:a="http://schemas.openxmlformats.org/drawingml/2006/main" w="9525">
            <a:solidFill>
              <a:srgbClr val="E3E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27BD8D-D9E3-43F5-8882-F5A75741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82F"/>
                </a:solidFill>
              </a:defRPr>
            </a:pPr>
            <a:r>
              <a:rPr sz="1875" b="1">
                <a:solidFill>
                  <a:srgbClr val="16382F"/>
                </a:solidFill>
              </a:rPr>
              <a:t>最终留下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477E4-E2A7-45EB-9B03-9C2F2F33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28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4B7B0E-173E-41DF-B010-01869BB8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可读的概念页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17FF35-4165-4FB5-B4EE-78104038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194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4EF063-F9A8-4229-9AF3-56472116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194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教材—前沿对照卡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631A36-43D1-4F1E-BD69-B87598D7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00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8DFD9B-6A68-4E09-BBDF-6E1E8711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主题 MOC 与层级 Map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8F5CB7-8FD0-4B5B-87E3-45FBDEB6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A6C375-874C-4F0E-9133-2AC5A538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005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可追问、可复习的知识资产</a:t>
            </a:r>
          </a:p>
        </p:txBody>
      </p:sp>
    </p:spTree>
    <p:extLst>
      <p:ext uri="{BB962C8B-B14F-4D97-AF65-F5344CB8AC3E}">
        <p14:creationId xmlns:p14="http://schemas.microsoft.com/office/powerpoint/2010/main" val="2000192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EC90B0-2A69-4042-AD32-19F1D123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05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97C97-FFA4-4634-8315-7E80BA68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已经能做②：“问园丁”不是一个 Prompt 从头答到尾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A85D9-7BED-45D5-80E3-DD0EB336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19BF9-1DF4-4266-AD0E-4A3F06CE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1AF8C-CFF0-4460-862D-E1DF08F2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7275F-5E26-4830-9A3A-69610E3F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82F"/>
                </a:solidFill>
              </a:defRPr>
            </a:pPr>
            <a:r>
              <a:rPr sz="1500" b="1">
                <a:solidFill>
                  <a:srgbClr val="16382F"/>
                </a:solidFill>
              </a:rPr>
              <a:t>问题理解者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631AB-7976-459C-BC78-307D9C5D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判断问题性质</a:t>
            </a:r>
          </a:p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与用户当前状态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DC08F-4EA2-4A08-946C-7DBA7330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38375"/>
            <a:ext cx="152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9A085"/>
                </a:solidFill>
              </a:defRPr>
            </a:pPr>
            <a:r>
              <a:rPr sz="1800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0541B-74DF-48B2-A82F-AA8F8C28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B7EF7-0941-4525-8F78-747C0218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82F"/>
                </a:solidFill>
              </a:defRPr>
            </a:pPr>
            <a:r>
              <a:rPr sz="1500" b="1">
                <a:solidFill>
                  <a:srgbClr val="16382F"/>
                </a:solidFill>
              </a:rPr>
              <a:t>规划者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8663B-1937-4318-B2EA-1A6CC7E3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52675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决定先查什么、</a:t>
            </a:r>
          </a:p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是否需要图解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8A751-F481-4D02-AEDF-4BB1B8C5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152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9A085"/>
                </a:solidFill>
              </a:defRPr>
            </a:pPr>
            <a:r>
              <a:rPr sz="1800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EF130-BCE9-4E78-82DA-0FDD69D6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3F4C4-9615-4140-89C5-8D273318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82F"/>
                </a:solidFill>
              </a:defRPr>
            </a:pPr>
            <a:r>
              <a:rPr sz="1500" b="1">
                <a:solidFill>
                  <a:srgbClr val="16382F"/>
                </a:solidFill>
              </a:rPr>
              <a:t>记忆读取者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8BF66-3B7A-42BC-98C3-CC465A68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52675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只读取有证据且</a:t>
            </a:r>
          </a:p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与本题相关的记忆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1DF7C-9A1C-437E-B359-CE77A1D5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152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9A085"/>
                </a:solidFill>
              </a:defRPr>
            </a:pPr>
            <a:r>
              <a:rPr sz="1800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51A8F-F414-48AE-8407-F0F35F4C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53D53-2CC9-4179-B25F-71C3BB7C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82F"/>
                </a:solidFill>
              </a:defRPr>
            </a:pPr>
            <a:r>
              <a:rPr sz="1500" b="1">
                <a:solidFill>
                  <a:srgbClr val="16382F"/>
                </a:solidFill>
              </a:rPr>
              <a:t>来源与查证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31DEA-70BD-42B5-BB5C-4AB77D0C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52675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检索 → 相关性 →</a:t>
            </a:r>
          </a:p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证据审查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35707-9127-4124-9593-B170B1D7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38375"/>
            <a:ext cx="152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9A085"/>
                </a:solidFill>
              </a:defRPr>
            </a:pPr>
            <a:r>
              <a:rPr sz="1800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AF173-D610-436D-964B-9A075DAF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2293D-1FF3-4555-A4AC-48419D69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82F"/>
                </a:solidFill>
              </a:defRPr>
            </a:pPr>
            <a:r>
              <a:rPr sz="1500" b="1">
                <a:solidFill>
                  <a:srgbClr val="16382F"/>
                </a:solidFill>
              </a:rPr>
              <a:t>教学与生成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6DD8F-0609-4AC5-8274-4DE840B2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52675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文本与图解可并行</a:t>
            </a:r>
          </a:p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ECD09-F1B0-4BD1-B17C-63DF5114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64770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6B4FEC-F2D5-46F1-A1D6-1FCD98B1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290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DF8"/>
                </a:solidFill>
              </a:defRPr>
            </a:pPr>
            <a:r>
              <a:rPr sz="1950" b="1">
                <a:solidFill>
                  <a:srgbClr val="FFFDF8"/>
                </a:solidFill>
              </a:rPr>
              <a:t>最后由 Reflector 复核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0CA85F-1CC2-4298-89FA-11EE4962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检查：有没有答非所问？证据是否支撑？图是否真的有帮助？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05D31-0C51-4136-B169-CDD3003C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18078"/>
                </a:solidFill>
              </a:defRPr>
            </a:pPr>
            <a:r>
              <a:rPr sz="1500" b="0">
                <a:solidFill>
                  <a:srgbClr val="718078"/>
                </a:solidFill>
              </a:rPr>
              <a:t>这就是 Agent 属性：部分控制流由模型根据问题动态决定，而不是用户点一个固定按钮。</a:t>
            </a:r>
          </a:p>
        </p:txBody>
      </p:sp>
    </p:spTree>
    <p:extLst>
      <p:ext uri="{BB962C8B-B14F-4D97-AF65-F5344CB8AC3E}">
        <p14:creationId xmlns:p14="http://schemas.microsoft.com/office/powerpoint/2010/main" val="86075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B6B1F8-2450-43A8-B0E7-EE63C7AB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06 / EVIDENCE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024CA-0C31-4389-8057-E2F4FA0D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已经能做③：宁可承认证据不足，也不装懂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10A41-7C6C-46C7-91C6-21B6697A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036C3-6CA3-4935-B951-C82B3F56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20F65-7AD4-411A-BF02-D8629AA5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495300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1D5D3"/>
          </a:solidFill>
          <a:ln xmlns:a="http://schemas.openxmlformats.org/drawingml/2006/main" w="9525">
            <a:solidFill>
              <a:srgbClr val="F1D5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12418-07C2-437F-A01D-756B3194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B3C38"/>
                </a:solidFill>
              </a:defRPr>
            </a:pPr>
            <a:r>
              <a:rPr sz="1875" b="1">
                <a:solidFill>
                  <a:srgbClr val="8B3C38"/>
                </a:solidFill>
              </a:rPr>
              <a:t>普通生成最容易出现的问题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BE305-EBDD-42B6-BF23-6C3CDE3D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30CA6-BA43-49D8-B73D-E3E54B54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97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3C38"/>
                </a:solidFill>
              </a:defRPr>
            </a:pPr>
            <a:r>
              <a:rPr sz="1500" b="0">
                <a:solidFill>
                  <a:srgbClr val="8B3C38"/>
                </a:solidFill>
              </a:rPr>
              <a:t>拿不相关课本生搬硬套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6BF3A-3295-413D-AFD2-0D6A3752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F65F0-51E9-49BF-9C3C-FBF14324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397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3C38"/>
                </a:solidFill>
              </a:defRPr>
            </a:pPr>
            <a:r>
              <a:rPr sz="1500" b="0">
                <a:solidFill>
                  <a:srgbClr val="8B3C38"/>
                </a:solidFill>
              </a:rPr>
              <a:t>把搜索摘要当作完整原文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9A612-F9B9-465E-B235-08D730E8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E0E5F-96F5-4670-B938-820BBC45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397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3C38"/>
                </a:solidFill>
              </a:defRPr>
            </a:pPr>
            <a:r>
              <a:rPr sz="1500" b="0">
                <a:solidFill>
                  <a:srgbClr val="8B3C38"/>
                </a:solidFill>
              </a:rPr>
              <a:t>用“听起来合理”替代真实依据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1E26F-5184-41AD-BD1D-20C56066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1E6BC-41E7-4057-B1F5-4AF33175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397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3C38"/>
                </a:solidFill>
              </a:defRPr>
            </a:pPr>
            <a:r>
              <a:rPr sz="1500" b="0">
                <a:solidFill>
                  <a:srgbClr val="8B3C38"/>
                </a:solidFill>
              </a:rPr>
              <a:t>引用了来源，却没有支撑具体结论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C4240-6F9A-4602-8E24-F9D5E74B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0037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79A085"/>
                </a:solidFill>
              </a:defRPr>
            </a:pPr>
            <a:r>
              <a:rPr sz="3000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D279F-893C-4531-8721-82587316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1625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E3ECE1"/>
          </a:solidFill>
          <a:ln xmlns:a="http://schemas.openxmlformats.org/drawingml/2006/main" w="9525">
            <a:solidFill>
              <a:srgbClr val="E3E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E3DCA-25A6-4FA5-9C21-DBC91B66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82F"/>
                </a:solidFill>
              </a:defRPr>
            </a:pPr>
            <a:r>
              <a:rPr sz="1875" b="1">
                <a:solidFill>
                  <a:srgbClr val="16382F"/>
                </a:solidFill>
              </a:rPr>
              <a:t>知识花园的硬门槛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2718F-95C3-469B-B14B-B35824A2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E4BD4-16E5-4ED4-894A-BF31E480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47950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先拆分主张，再逐条找证据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B5F07-D1B1-46F0-BE15-5D2E0CE7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07F4F-18C5-48D4-971C-346D6F34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00400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检查来源等级、相关性与适用边界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20376-0693-4C7E-B136-98F19510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7F825-413C-4E44-9BDC-7288E64E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找不到直接证据时降级回答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2F84E0-8F85-4B08-8780-716EF9A1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CC9BCE-963F-4950-A371-D632C71E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写回前必须预览并由用户确认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CAF4D-EF00-40DC-94D8-C9DA865F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62600"/>
            <a:ext cx="6762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EDB8D-7036-4A49-99FF-634D2ADF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8165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可信不是“从不犯错”，而是“错误能被看见、追溯和阻止”</a:t>
            </a:r>
          </a:p>
        </p:txBody>
      </p:sp>
    </p:spTree>
    <p:extLst>
      <p:ext uri="{BB962C8B-B14F-4D97-AF65-F5344CB8AC3E}">
        <p14:creationId xmlns:p14="http://schemas.microsoft.com/office/powerpoint/2010/main" val="316167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7CA9A4-6735-454F-A9A7-E72CFC70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07 /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E1A3C-3C6E-460F-8B42-F2EE175B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已经能做④：知识 Map 与学习记忆不是装饰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05305-BB46-43DA-8BBF-2B1FAC6C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ED537-014A-4585-A604-F57740B3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EE10F-4C44-44E9-8423-07833F7C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42925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E0FBA-A857-4421-A806-103476D4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82F"/>
                </a:solidFill>
              </a:defRPr>
            </a:pPr>
            <a:r>
              <a:rPr sz="1800" b="1">
                <a:solidFill>
                  <a:srgbClr val="16382F"/>
                </a:solidFill>
              </a:rPr>
              <a:t>知识 Map：画“知识”，不画文件清单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8E32E-1E09-40AC-9CA4-A8AB1685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428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2314A-AAC7-40F4-A0F0-DB6703DF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DF8"/>
                </a:solidFill>
              </a:defRPr>
            </a:pPr>
            <a:r>
              <a:rPr sz="1650" b="1">
                <a:solidFill>
                  <a:srgbClr val="FFFDF8"/>
                </a:solidFill>
              </a:rPr>
              <a:t>学科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D18EA-786E-42D9-8CA2-04B92612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→  分支  →  学习方向  →  知识点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247F9-D427-4FFC-8D6C-E4F8102B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74CE8-6F41-43C1-8D5B-7D40233B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4352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同义词与中英文别名尽量合并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0C392-E370-443C-9407-EEF19590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CFFEF-E3F3-49A9-926C-97A5A40C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0025"/>
            <a:ext cx="4352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证据不足的节点进入待分类队列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4C74A-F6F1-4B85-8076-D6C05CAD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78A49-9789-4338-914A-CF294BFE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4352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虚线关系可由用户接受或驳回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4CE69-5F47-46E4-AF45-9D2F5A96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00200"/>
            <a:ext cx="542925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3ECE1"/>
          </a:solidFill>
          <a:ln xmlns:a="http://schemas.openxmlformats.org/drawingml/2006/main" w="9525">
            <a:solidFill>
              <a:srgbClr val="E3E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0231E-F60E-431B-8E85-9B8357C6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82F"/>
                </a:solidFill>
              </a:defRPr>
            </a:pPr>
            <a:r>
              <a:rPr sz="1800" b="1">
                <a:solidFill>
                  <a:srgbClr val="16382F"/>
                </a:solidFill>
              </a:rPr>
              <a:t>学习记忆：不是贴“视觉型人格”标签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D3A71-BE0D-444E-B14F-80389A6B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9C527-206B-4928-889C-3C69E349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0800"/>
            <a:ext cx="4352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L1：发生过什么学习事件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5A99C-B53D-4E02-9380-4261D1B0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765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C1C64-4375-4AE0-8A36-AC6B430E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6575"/>
            <a:ext cx="4352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L2：多次证据支持的场景规律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17B10-47AE-46FD-A18F-51DA51C4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41AEB-40C8-4553-8B83-A88F3245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62350"/>
            <a:ext cx="4352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L3：跨场景、可反驳的长期画像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41534-3F55-4522-A1B5-BC70DD37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394D24-6B99-447F-A384-6395FEA3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48125"/>
            <a:ext cx="4352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掌握度拆为识别 / 解释 / 应用 / 迁移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2D9430-1443-4354-A49D-BB81F6E1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583A72-47FE-40E6-9F7B-B4458E5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33900"/>
            <a:ext cx="4352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调用与复习会改变知识活跃度</a:t>
            </a:r>
          </a:p>
        </p:txBody>
      </p:sp>
    </p:spTree>
    <p:extLst>
      <p:ext uri="{BB962C8B-B14F-4D97-AF65-F5344CB8AC3E}">
        <p14:creationId xmlns:p14="http://schemas.microsoft.com/office/powerpoint/2010/main" val="292529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79BF08-3916-40DB-A83D-E456D95C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08 / FRONTIER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950DD-870C-452F-B8D6-EE12CF77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已经能做⑤：前沿推荐不只是扔一个链接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C9231-5AA7-4730-8C66-F4DDE171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5D132-179C-40E2-9EF4-8930B2E0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A4273-CD72-425D-9530-62B21137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9240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9066F-EF4B-45F1-BA74-65FA3DD5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兴趣画像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A1947-C14D-4FC3-9286-8AF56CEF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只使用当前设置与</a:t>
            </a:r>
          </a:p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有证据的兴趣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C67A7-8E7F-46C3-8F69-834F327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9A085"/>
                </a:solidFill>
              </a:defRPr>
            </a:pPr>
            <a:r>
              <a:rPr sz="1875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88F72-C186-4C65-924A-077C7DA0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85950"/>
            <a:ext cx="19240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61E2-13BF-40D0-9543-551F9930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95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在线检索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6D705-BF3B-4370-8FF0-AADCCFF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57475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OpenAlex 优先</a:t>
            </a:r>
          </a:p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Crossref 备用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7D436-5B23-4229-B8B9-1DF8E68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527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9A085"/>
                </a:solidFill>
              </a:defRPr>
            </a:pPr>
            <a:r>
              <a:rPr sz="1875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09E5A-244C-432F-B887-D0AF3B3E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85950"/>
            <a:ext cx="19240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29404-7C31-4F9A-9533-2D06C6E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95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筛选去重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8C0B9-4848-4BA4-AEB2-B15F3BAD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57475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领域相关性、重复标题、</a:t>
            </a:r>
          </a:p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临时失败不缓存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708B8-BB60-445F-A15B-73B0ED29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527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9A085"/>
                </a:solidFill>
              </a:defRPr>
            </a:pPr>
            <a:r>
              <a:rPr sz="1875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287C9-35D8-4C04-916D-F9B6DF24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85950"/>
            <a:ext cx="19240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1C1D9-7C78-4A64-92B0-EBC990C6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95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文章导读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FB20B-B0B1-4099-9846-B3FE29C8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57475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摘要、领域、知识点、</a:t>
            </a:r>
          </a:p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阅读时间与互动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90C92-404E-4A78-8BE5-B5E987FD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527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9A085"/>
                </a:solidFill>
              </a:defRPr>
            </a:pPr>
            <a:r>
              <a:rPr sz="1875" b="1">
                <a:solidFill>
                  <a:srgbClr val="79A08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D6426-5F42-44EE-A95D-51DC5FC8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85950"/>
            <a:ext cx="19240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5170B-C14E-4D1F-B4ED-51ADB1BE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95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确认沉淀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5B6666-D56C-4FA0-A9D3-4C8C3AA2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57475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用户决定是否</a:t>
            </a:r>
          </a:p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加入知识库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0E7F7-988D-46C1-ABC1-0398CF8A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11068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3ECE1"/>
          </a:solidFill>
          <a:ln xmlns:a="http://schemas.openxmlformats.org/drawingml/2006/main" w="9525">
            <a:solidFill>
              <a:srgbClr val="E3E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9ED99-FC31-4BFC-BDB9-89F0AA81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82F"/>
                </a:solidFill>
              </a:defRPr>
            </a:pPr>
            <a:r>
              <a:rPr sz="1575" b="1">
                <a:solidFill>
                  <a:srgbClr val="16382F"/>
                </a:solidFill>
              </a:rPr>
              <a:t>对队友最有价值的测试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72E8D-A985-43DA-94AB-35F58F0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91025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同一兴趣画像下，推荐是否相关？摘要能否第一眼看懂？点击导读后能否继续自由提问？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42939C-3417-495D-B2B9-C1BC1346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705475"/>
            <a:ext cx="3810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89D"/>
          </a:solidFill>
          <a:ln xmlns:a="http://schemas.openxmlformats.org/drawingml/2006/main" w="9525">
            <a:solidFill>
              <a:srgbClr val="F1D89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F664DB-9184-4AB8-9BE9-2AB4F4EF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7245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7581D"/>
                </a:solidFill>
              </a:defRPr>
            </a:pPr>
            <a:r>
              <a:rPr sz="1125" b="1">
                <a:solidFill>
                  <a:srgbClr val="77581D"/>
                </a:solidFill>
              </a:rPr>
              <a:t>风险：在线来源会限流或暂时失败</a:t>
            </a:r>
          </a:p>
        </p:txBody>
      </p:sp>
    </p:spTree>
    <p:extLst>
      <p:ext uri="{BB962C8B-B14F-4D97-AF65-F5344CB8AC3E}">
        <p14:creationId xmlns:p14="http://schemas.microsoft.com/office/powerpoint/2010/main" val="41735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0E29CB-20BA-47FC-8E97-52545D35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09 / EXPLORATION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5A41B-951B-4A2E-9610-165A7C7E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已经能做⑥：灵感与微信内容有自己的安全边界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C46ED-5FC5-46AB-BB76-41E7DEB3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2CD8F-7FB6-4272-A559-FEABDA38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67BBD-A891-40BF-8C2A-25640F3F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23875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710AE-E709-4021-A359-1F02CEC4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5B83"/>
                </a:solidFill>
              </a:defRPr>
            </a:pPr>
            <a:r>
              <a:rPr sz="1950" b="1">
                <a:solidFill>
                  <a:srgbClr val="365B83"/>
                </a:solidFill>
              </a:rPr>
              <a:t>灵感模式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E8B19-24A7-478B-AF6A-3A6D748F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5585A-DA89-49AB-97F3-AF6A20BA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5B83"/>
                </a:solidFill>
              </a:defRPr>
            </a:pPr>
            <a:r>
              <a:rPr sz="1500" b="0">
                <a:solidFill>
                  <a:srgbClr val="365B83"/>
                </a:solidFill>
              </a:rPr>
              <a:t>区分 [事实] / [推测] / [灵感]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C1951-B7DD-4745-A4E4-98E3D406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E808A-60B6-44E1-8EF8-99A62FF6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5B83"/>
                </a:solidFill>
              </a:defRPr>
            </a:pPr>
            <a:r>
              <a:rPr sz="1500" b="0">
                <a:solidFill>
                  <a:srgbClr val="365B83"/>
                </a:solidFill>
              </a:rPr>
              <a:t>第一次回答后可自由输入继续聊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9FCCD-22F0-495A-A4C9-BED6F60C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92A9A-C169-4B6F-BF65-9FE51502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5B83"/>
                </a:solidFill>
              </a:defRPr>
            </a:pPr>
            <a:r>
              <a:rPr sz="1500" b="0">
                <a:solidFill>
                  <a:srgbClr val="365B83"/>
                </a:solidFill>
              </a:rPr>
              <a:t>灵感默认只进入 L1，不更新掌握度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B71F0-314E-4A43-B811-304B84F5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72CE4-6D01-487D-A73B-744054B6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910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5B83"/>
                </a:solidFill>
              </a:defRPr>
            </a:pPr>
            <a:r>
              <a:rPr sz="1500" b="0">
                <a:solidFill>
                  <a:srgbClr val="365B83"/>
                </a:solidFill>
              </a:rPr>
              <a:t>点击“转为探究”才进入严格查证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A40E6-E85C-4A48-B06D-BC855AED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46735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E3ECE1"/>
          </a:solidFill>
          <a:ln xmlns:a="http://schemas.openxmlformats.org/drawingml/2006/main" w="9525">
            <a:solidFill>
              <a:srgbClr val="E3EC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C8388-DDA8-4441-8587-FA818143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82F"/>
                </a:solidFill>
              </a:defRPr>
            </a:pPr>
            <a:r>
              <a:rPr sz="1950" b="1">
                <a:solidFill>
                  <a:srgbClr val="16382F"/>
                </a:solidFill>
              </a:rPr>
              <a:t>微信苗圃（TraceMemo）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A0A4A-2774-4BAA-A0A3-712CFED1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58F14-5D8B-412A-85D4-FF37CEAB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只调用本机 127.0.0.1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37A21-58A0-4748-807A-66A94BF4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527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8B38E-8690-4F15-B383-5FF3BF50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5277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更聚焦公众号文章候选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DC184-F639-415F-A3BF-7AD4D93D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5B08F0-3238-4088-A1B2-6FC9C054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先预览、逐条勾选，再进入 L1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9F30D-42DF-40C9-AAFB-DE7ADD60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624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A6A998-BE82-47AA-B501-45438AF2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用户确认后才写入 Obsidian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572695-CDC5-4F80-BE13-14AA10EA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085"/>
                </a:solidFill>
              </a:defRPr>
            </a:pPr>
            <a:r>
              <a:rPr sz="1650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C7EA65-6AC0-4FA8-B3E3-2DDE5852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82F"/>
                </a:solidFill>
              </a:defRPr>
            </a:pPr>
            <a:r>
              <a:rPr sz="1500" b="0">
                <a:solidFill>
                  <a:srgbClr val="16382F"/>
                </a:solidFill>
              </a:rPr>
              <a:t>TraceMemo 关闭时无法读取</a:t>
            </a:r>
          </a:p>
        </p:txBody>
      </p:sp>
    </p:spTree>
    <p:extLst>
      <p:ext uri="{BB962C8B-B14F-4D97-AF65-F5344CB8AC3E}">
        <p14:creationId xmlns:p14="http://schemas.microsoft.com/office/powerpoint/2010/main" val="4625505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585C01-5BF2-4570-BA85-2A7554B9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10 /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79078-7EC5-4177-BED2-206ACE6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现在能承诺什么，不能承诺什么？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D1C3B-325A-4347-969F-EFD00D3A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FCEE7-7F71-4813-9D75-A8E623E5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33F8D-955B-438D-B191-80E14913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CE1"/>
          </a:solidFill>
          <a:ln xmlns:a="http://schemas.openxmlformats.org/drawingml/2006/main" w="9525">
            <a:solidFill>
              <a:srgbClr val="E3EC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0F8B8-7A3F-4B5B-8BED-6DD08964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002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82F"/>
                </a:solidFill>
              </a:defRPr>
            </a:pPr>
            <a:r>
              <a:rPr sz="1125" b="1">
                <a:solidFill>
                  <a:srgbClr val="16382F"/>
                </a:solidFill>
              </a:rPr>
              <a:t>可以对外说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8B082-34C6-469D-BEA9-E0EFE43E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5D3"/>
          </a:solidFill>
          <a:ln xmlns:a="http://schemas.openxmlformats.org/drawingml/2006/main" w="9525">
            <a:solidFill>
              <a:srgbClr val="F1D5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A15B7-B970-4700-A9B6-4C9A5F7C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3C38"/>
                </a:solidFill>
              </a:defRPr>
            </a:pPr>
            <a:r>
              <a:rPr sz="1125" b="1">
                <a:solidFill>
                  <a:srgbClr val="8B3C38"/>
                </a:solidFill>
              </a:rPr>
              <a:t>暂时不要说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A5E07-327C-4AE9-96BC-B20869EC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72C1F-8C0B-44EF-BCF2-89BDE522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193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82F"/>
                </a:solidFill>
              </a:defRPr>
            </a:pPr>
            <a:r>
              <a:rPr sz="1425" b="1">
                <a:solidFill>
                  <a:srgbClr val="16382F"/>
                </a:solidFill>
              </a:rPr>
              <a:t>✓  本地优先、可追溯的知识生长闭环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103CB-262C-47C1-9CC6-5DB252FF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86E9E-C08F-4781-85C4-1CEA281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860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✓  多阶段 Agent 规划与证据审查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F6C92-D906-4912-A208-399D841F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F2CEE-F45F-4A3D-938F-EA182C9E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✓  Obsidian 双向同步、写回与 Map 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E952D-A933-45A7-8EE6-D3296A97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5290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B3FC2-B34D-4C46-B414-EDBB9D01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95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✓  带作答与间隔安排的复习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FBAEA-FF05-4675-B42C-0FC2C880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965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88863-8715-48F6-91D0-F46B37F3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863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✓  有条件的在线推荐、图解与微信读取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A4C15-63AA-45C7-BAC4-5EFF9E72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238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52567-30F9-4535-B077-6FB65811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193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B3C38"/>
                </a:solidFill>
              </a:defRPr>
            </a:pPr>
            <a:r>
              <a:rPr sz="1425" b="1">
                <a:solidFill>
                  <a:srgbClr val="8B3C38"/>
                </a:solidFill>
              </a:rPr>
              <a:t>×  它已经能 24 小时完全自主工作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1166C-EBC2-439E-9D70-F284FF53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5238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210A5-6B77-4EF2-A942-29A2EB6D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860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B3C38"/>
                </a:solidFill>
              </a:defRPr>
            </a:pPr>
            <a:r>
              <a:rPr sz="1425" b="0">
                <a:solidFill>
                  <a:srgbClr val="8B3C38"/>
                </a:solidFill>
              </a:rPr>
              <a:t>×  知识分类和关联永远正确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CD0C8-52BE-4077-AAB9-C4E0FF89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5238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99BF4-DAA5-4C4D-B831-F16ADAF6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528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B3C38"/>
                </a:solidFill>
              </a:defRPr>
            </a:pPr>
            <a:r>
              <a:rPr sz="1425" b="0">
                <a:solidFill>
                  <a:srgbClr val="8B3C38"/>
                </a:solidFill>
              </a:rPr>
              <a:t>×  任何问题都一定能找到权威证据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0AA28-7950-4CAA-9874-AB1B78F1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5238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2C5B4-CB11-4912-9691-283C187B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B3C38"/>
                </a:solidFill>
              </a:defRPr>
            </a:pPr>
            <a:r>
              <a:rPr sz="1425" b="0">
                <a:solidFill>
                  <a:srgbClr val="8B3C38"/>
                </a:solidFill>
              </a:rPr>
              <a:t>×  DeepDiagram 官方服务已完整部署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B93237-7CCC-4DDA-ABD5-296A2CB4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5238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79D5AC-6260-4E6C-8085-E8BD7B46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863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B3C38"/>
                </a:solidFill>
              </a:defRPr>
            </a:pPr>
            <a:r>
              <a:rPr sz="1425" b="0">
                <a:solidFill>
                  <a:srgbClr val="8B3C38"/>
                </a:solidFill>
              </a:rPr>
              <a:t>×  TraceMemo 关闭后仍能访问微信数据</a:t>
            </a:r>
          </a:p>
        </p:txBody>
      </p:sp>
    </p:spTree>
    <p:extLst>
      <p:ext uri="{BB962C8B-B14F-4D97-AF65-F5344CB8AC3E}">
        <p14:creationId xmlns:p14="http://schemas.microsoft.com/office/powerpoint/2010/main" val="3788726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1C7901-CF6F-4DE5-BFB1-05BC2FE6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11 / BLOCKERS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E4F22-4026-4CBB-9E92-1A6B4712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真正卡在哪里？按优先级看，不按焦虑程度看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29FAC-F256-4941-A678-A50B0285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1AE05-D12D-4E54-B760-2002C229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496A2-9B74-4D03-AC57-215B8586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078"/>
                </a:solidFill>
              </a:defRPr>
            </a:pPr>
            <a:r>
              <a:rPr sz="1125" b="1">
                <a:solidFill>
                  <a:srgbClr val="718078"/>
                </a:solidFill>
              </a:rPr>
              <a:t>等级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89CAD-9426-4994-BBBA-0DE93EA5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078"/>
                </a:solidFill>
              </a:defRPr>
            </a:pPr>
            <a:r>
              <a:rPr sz="1125" b="1">
                <a:solidFill>
                  <a:srgbClr val="718078"/>
                </a:solidFill>
              </a:rPr>
              <a:t>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D5A04-62DB-4F31-B079-FB3BC001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078"/>
                </a:solidFill>
              </a:defRPr>
            </a:pPr>
            <a:r>
              <a:rPr sz="1125" b="1">
                <a:solidFill>
                  <a:srgbClr val="718078"/>
                </a:solidFill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356B4-6482-4BE0-A074-30FDAA06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81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078"/>
                </a:solidFill>
              </a:defRPr>
            </a:pPr>
            <a:r>
              <a:rPr sz="1125" b="1">
                <a:solidFill>
                  <a:srgbClr val="718078"/>
                </a:solidFill>
              </a:rPr>
              <a:t>负责人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9114D-5CD3-45B7-ACA2-52B271A7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71675"/>
            <a:ext cx="11191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06027-48D9-4B0C-B3E5-7D0EE0EE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24075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5D3"/>
          </a:solidFill>
          <a:ln xmlns:a="http://schemas.openxmlformats.org/drawingml/2006/main" w="9525">
            <a:solidFill>
              <a:srgbClr val="F1D5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27737-4D4A-4A28-9BE1-9C57E33A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431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3C38"/>
                </a:solidFill>
              </a:defRPr>
            </a:pPr>
            <a:r>
              <a:rPr sz="1125" b="1">
                <a:solidFill>
                  <a:srgbClr val="8B3C38"/>
                </a:solidFill>
              </a:rPr>
              <a:t>P0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9E68C-3DB8-4E24-815C-39333C0B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57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82F"/>
                </a:solidFill>
              </a:defRPr>
            </a:pPr>
            <a:r>
              <a:rPr sz="1425" b="1">
                <a:solidFill>
                  <a:srgbClr val="16382F"/>
                </a:solidFill>
              </a:rPr>
              <a:t>仓库存在 Git 合并冲突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D54F2-7770-4505-A67E-6EDF8B31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78"/>
                </a:solidFill>
              </a:defRPr>
            </a:pPr>
            <a:r>
              <a:rPr sz="1275" b="0">
                <a:solidFill>
                  <a:srgbClr val="718078"/>
                </a:solidFill>
              </a:rPr>
              <a:t>README.md、.gitignore 处于 AA；会妨碍提交与协作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6191F-D937-4EEC-85C1-9F847288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574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82F"/>
                </a:solidFill>
              </a:defRPr>
            </a:pPr>
            <a:r>
              <a:rPr sz="1275" b="1">
                <a:solidFill>
                  <a:srgbClr val="16382F"/>
                </a:solidFill>
              </a:rPr>
              <a:t>技术负责人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9740E-36E4-460E-BA0C-FDE3583C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52725"/>
            <a:ext cx="11191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8CA9D-F74B-45D0-B4B5-6F32CD26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5D3"/>
          </a:solidFill>
          <a:ln xmlns:a="http://schemas.openxmlformats.org/drawingml/2006/main" w="9525">
            <a:solidFill>
              <a:srgbClr val="F1D5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A12B6-36C6-4AC9-8A20-95E5FABD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24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3C38"/>
                </a:solidFill>
              </a:defRPr>
            </a:pPr>
            <a:r>
              <a:rPr sz="1125" b="1">
                <a:solidFill>
                  <a:srgbClr val="8B3C38"/>
                </a:solidFill>
              </a:rPr>
              <a:t>P0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2152D-C4E5-4516-85F5-CFA305F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82F"/>
                </a:solidFill>
              </a:defRPr>
            </a:pPr>
            <a:r>
              <a:rPr sz="1425" b="1">
                <a:solidFill>
                  <a:srgbClr val="16382F"/>
                </a:solidFill>
              </a:rPr>
              <a:t>演示依赖尚未完全固化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15B2B-6AE1-4820-9B58-260D5356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78"/>
                </a:solidFill>
              </a:defRPr>
            </a:pPr>
            <a:r>
              <a:rPr sz="1275" b="0">
                <a:solidFill>
                  <a:srgbClr val="718078"/>
                </a:solidFill>
              </a:rPr>
              <a:t>API、TraceMemo、端口、数据集需要一键预检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EF357-8FE5-4821-A486-F20AD2F8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82F"/>
                </a:solidFill>
              </a:defRPr>
            </a:pPr>
            <a:r>
              <a:rPr sz="1275" b="1">
                <a:solidFill>
                  <a:srgbClr val="16382F"/>
                </a:solidFill>
              </a:rPr>
              <a:t>技术负责人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26D37-EDC5-4D75-BF01-E255A9ED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3775"/>
            <a:ext cx="11191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537C8-E375-46DA-B21F-1EF0814E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89D"/>
          </a:solidFill>
          <a:ln xmlns:a="http://schemas.openxmlformats.org/drawingml/2006/main" w="9525">
            <a:solidFill>
              <a:srgbClr val="F1D89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FF9C0-D2FB-4CD6-B14B-3543A0FA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052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7581D"/>
                </a:solidFill>
              </a:defRPr>
            </a:pPr>
            <a:r>
              <a:rPr sz="1125" b="1">
                <a:solidFill>
                  <a:srgbClr val="77581D"/>
                </a:solidFill>
              </a:rPr>
              <a:t>P1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55D0C-9A1D-4387-B7F1-C5F30783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82F"/>
                </a:solidFill>
              </a:defRPr>
            </a:pPr>
            <a:r>
              <a:rPr sz="1425" b="1">
                <a:solidFill>
                  <a:srgbClr val="16382F"/>
                </a:solidFill>
              </a:rPr>
              <a:t>功能多，但主故事容易散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8F175-4E85-44ED-A315-3CB9E5C0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78"/>
                </a:solidFill>
              </a:defRPr>
            </a:pPr>
            <a:r>
              <a:rPr sz="1275" b="0">
                <a:solidFill>
                  <a:srgbClr val="718078"/>
                </a:solidFill>
              </a:rPr>
              <a:t>评委可能看见很多按钮，却看不见一个闭环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4E0A9-EE15-4D23-BA86-A2CDC8FE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82F"/>
                </a:solidFill>
              </a:defRPr>
            </a:pPr>
            <a:r>
              <a:rPr sz="1275" b="1">
                <a:solidFill>
                  <a:srgbClr val="16382F"/>
                </a:solidFill>
              </a:rPr>
              <a:t>两人共同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4920F-AEAE-43C1-ADC3-92C9F657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14825"/>
            <a:ext cx="11191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32837F-650B-4956-AB45-9724BF72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89D"/>
          </a:solidFill>
          <a:ln xmlns:a="http://schemas.openxmlformats.org/drawingml/2006/main" w="9525">
            <a:solidFill>
              <a:srgbClr val="F1D89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309FB-4E34-445E-B4E3-274E32EE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862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7581D"/>
                </a:solidFill>
              </a:defRPr>
            </a:pPr>
            <a:r>
              <a:rPr sz="1125" b="1">
                <a:solidFill>
                  <a:srgbClr val="77581D"/>
                </a:solidFill>
              </a:rPr>
              <a:t>P1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C19C8C-86D9-425A-B647-15AA52E5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00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82F"/>
                </a:solidFill>
              </a:defRPr>
            </a:pPr>
            <a:r>
              <a:rPr sz="1425" b="1">
                <a:solidFill>
                  <a:srgbClr val="16382F"/>
                </a:solidFill>
              </a:rPr>
              <a:t>自动分类仍需人工抽查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11BF53-DD43-4917-8509-C307D993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78"/>
                </a:solidFill>
              </a:defRPr>
            </a:pPr>
            <a:r>
              <a:rPr sz="1275" b="0">
                <a:solidFill>
                  <a:srgbClr val="718078"/>
                </a:solidFill>
              </a:rPr>
              <a:t>待分类节点与错误挂载要有审核流程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275CE6-1604-43DE-968F-C9152B22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005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82F"/>
                </a:solidFill>
              </a:defRPr>
            </a:pPr>
            <a:r>
              <a:rPr sz="1275" b="1">
                <a:solidFill>
                  <a:srgbClr val="16382F"/>
                </a:solidFill>
              </a:rPr>
              <a:t>队友主测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02C91D-DD0A-4C52-8E07-DB747862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11191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3BA3E6-30F3-4BE5-ADF7-D77205FD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48275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4CC582-B69E-48BE-AD2B-37BEC505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673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5B83"/>
                </a:solidFill>
              </a:defRPr>
            </a:pPr>
            <a:r>
              <a:rPr sz="1125" b="1">
                <a:solidFill>
                  <a:srgbClr val="365B83"/>
                </a:solidFill>
              </a:rPr>
              <a:t>P2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745B6F-7556-48BB-90E8-022C32C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816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82F"/>
                </a:solidFill>
              </a:defRPr>
            </a:pPr>
            <a:r>
              <a:rPr sz="1425" b="1">
                <a:solidFill>
                  <a:srgbClr val="16382F"/>
                </a:solidFill>
              </a:rPr>
              <a:t>视觉与文案仍需统一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DF168B-D07B-41E1-90C4-EB6D32B6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816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78"/>
                </a:solidFill>
              </a:defRPr>
            </a:pPr>
            <a:r>
              <a:rPr sz="1275" b="0">
                <a:solidFill>
                  <a:srgbClr val="718078"/>
                </a:solidFill>
              </a:rPr>
              <a:t>不影响逻辑，但影响第一印象与讲解效率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C14913-CE19-4A89-AD14-F985AC1A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816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82F"/>
                </a:solidFill>
              </a:defRPr>
            </a:pPr>
            <a:r>
              <a:rPr sz="1275" b="1">
                <a:solidFill>
                  <a:srgbClr val="16382F"/>
                </a:solidFill>
              </a:rPr>
              <a:t>队友主导</a:t>
            </a:r>
          </a:p>
        </p:txBody>
      </p:sp>
    </p:spTree>
    <p:extLst>
      <p:ext uri="{BB962C8B-B14F-4D97-AF65-F5344CB8AC3E}">
        <p14:creationId xmlns:p14="http://schemas.microsoft.com/office/powerpoint/2010/main" val="12499654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524CF6-4AC5-4300-A229-385DFC1A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12 /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711D2-93BF-4750-9EFD-7CAE4D0A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建议固定成一条 5 分钟演示，而不是浏览所有页面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3A21E-E9C3-4F85-A526-3F394A74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C6AC8-70D9-4A10-AFB1-B9542E1F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8DFD1-B870-4FBC-B33D-C5561B32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9A0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E4898-23D3-41DB-81B1-83BE5654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25A40-D3AD-4851-A502-E192BB34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5B83"/>
                </a:solidFill>
              </a:defRPr>
            </a:pPr>
            <a:r>
              <a:rPr sz="1125" b="1">
                <a:solidFill>
                  <a:srgbClr val="365B83"/>
                </a:solidFill>
              </a:rPr>
              <a:t>00:00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F2A51-A88E-4DA2-8FB6-D35A1E22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76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F6414-FB1C-413B-A370-0B7DCB6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82F"/>
                </a:solidFill>
              </a:defRPr>
            </a:pPr>
            <a:r>
              <a:rPr sz="1500" b="1">
                <a:solidFill>
                  <a:srgbClr val="16382F"/>
                </a:solidFill>
              </a:rPr>
              <a:t>输入一份可信资料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A463F-51CA-4923-A7C9-125EC62E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1 篇文章 + 1 段教材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282BD-046B-4281-B824-16E294DA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192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501F9-F6BF-4E18-848D-0B79311F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383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5B83"/>
                </a:solidFill>
              </a:defRPr>
            </a:pPr>
            <a:r>
              <a:rPr sz="1125" b="1">
                <a:solidFill>
                  <a:srgbClr val="365B83"/>
                </a:solidFill>
              </a:rPr>
              <a:t>00:50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B2C62-2DA2-4218-973F-D3EF8803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B6285-6E13-4831-9AE4-F28AAFAB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14675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82F"/>
                </a:solidFill>
              </a:defRPr>
            </a:pPr>
            <a:r>
              <a:rPr sz="1500" b="1">
                <a:solidFill>
                  <a:srgbClr val="16382F"/>
                </a:solidFill>
              </a:rPr>
              <a:t>看到知识长出来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BCC23-08B3-4D80-BF3E-234FD544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5285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概念页、层级 Map、来源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646E2-D309-4E42-9662-7083F61D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192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48B48-F67C-4B2C-B1F0-779973E2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383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5B83"/>
                </a:solidFill>
              </a:defRPr>
            </a:pPr>
            <a:r>
              <a:rPr sz="1125" b="1">
                <a:solidFill>
                  <a:srgbClr val="365B83"/>
                </a:solidFill>
              </a:rPr>
              <a:t>01:45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2CB97-5063-4BFD-ABEE-865106AC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354A9-84B2-4AB2-9FA4-48FCFF3B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14675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82F"/>
                </a:solidFill>
              </a:defRPr>
            </a:pPr>
            <a:r>
              <a:rPr sz="1500" b="1">
                <a:solidFill>
                  <a:srgbClr val="16382F"/>
                </a:solidFill>
              </a:rPr>
              <a:t>问园丁一个关键问题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C8438-E931-49FF-A6ED-752AE457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5285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展示证据 + 有意义的图解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95EE7-6316-4FBD-9C86-9DFD158D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53710-D968-4076-B660-88E06B6C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383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5B83"/>
                </a:solidFill>
              </a:defRPr>
            </a:pPr>
            <a:r>
              <a:rPr sz="1125" b="1">
                <a:solidFill>
                  <a:srgbClr val="365B83"/>
                </a:solidFill>
              </a:rPr>
              <a:t>03:10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1143E-F0C6-4848-856C-34E420F1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76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059EFB-FB92-4C7B-A633-E63F526D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82F"/>
                </a:solidFill>
              </a:defRPr>
            </a:pPr>
            <a:r>
              <a:rPr sz="1500" b="1">
                <a:solidFill>
                  <a:srgbClr val="16382F"/>
                </a:solidFill>
              </a:rPr>
              <a:t>自由追问或完成复习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94128-442A-49C4-8988-A623B7B3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5285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证明不是预设二选一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BA416-E2FB-44AF-A032-CF6ECAB9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6192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3596C-6C08-471E-8065-EE64D197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6383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04:15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A7894F-8E11-4ACE-8223-031779E7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76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8A1006-6E0F-4826-80A6-9215FA4D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14675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82F"/>
                </a:solidFill>
              </a:defRPr>
            </a:pPr>
            <a:r>
              <a:rPr sz="1500" b="1">
                <a:solidFill>
                  <a:srgbClr val="16382F"/>
                </a:solidFill>
              </a:rPr>
              <a:t>确认沉淀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9C1EA-3B0B-496D-BAFE-CBE57789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5285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78"/>
                </a:solidFill>
              </a:defRPr>
            </a:pPr>
            <a:r>
              <a:rPr sz="1200" b="0">
                <a:solidFill>
                  <a:srgbClr val="718078"/>
                </a:solidFill>
              </a:rPr>
              <a:t>Obsidian 与 Map 更新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59EC28-540C-4BE0-A0D0-6FA714F7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D89D"/>
          </a:solidFill>
          <a:ln xmlns:a="http://schemas.openxmlformats.org/drawingml/2006/main" w="9525">
            <a:solidFill>
              <a:srgbClr val="F1D89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F63C3A-0B7E-4928-9D60-02C4D050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577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7581D"/>
                </a:solidFill>
              </a:defRPr>
            </a:pPr>
            <a:r>
              <a:rPr sz="1575" b="1">
                <a:solidFill>
                  <a:srgbClr val="77581D"/>
                </a:solidFill>
              </a:rPr>
              <a:t>现场原则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85CEE7-5390-43AF-AE1A-E6662162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8157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7581D"/>
                </a:solidFill>
              </a:defRPr>
            </a:pPr>
            <a:r>
              <a:rPr sz="1500" b="1">
                <a:solidFill>
                  <a:srgbClr val="77581D"/>
                </a:solidFill>
              </a:rPr>
              <a:t>在线推荐、TraceMemo、完整 DeepDiagram 只做加分支线；主闭环必须断网也能演。</a:t>
            </a:r>
          </a:p>
        </p:txBody>
      </p:sp>
    </p:spTree>
    <p:extLst>
      <p:ext uri="{BB962C8B-B14F-4D97-AF65-F5344CB8AC3E}">
        <p14:creationId xmlns:p14="http://schemas.microsoft.com/office/powerpoint/2010/main" val="1532514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EDEB89-E0B1-43F5-A3A6-E0A9607C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13 /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99EA6-11C4-49CA-8060-3A89F677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不会 GitHub 也能协作：只保留一个代码入口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7662C-90D2-4E0C-ABDB-954D2006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7D06A-680F-4786-B90F-69C94B5C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4D081-D67B-42CD-A8ED-6F7DFE65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371850" cy="36385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67A45-9C31-4406-8CC6-EFEBD713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8"/>
                </a:solidFill>
              </a:defRPr>
            </a:pPr>
            <a:r>
              <a:rPr sz="2025" b="1">
                <a:solidFill>
                  <a:srgbClr val="FFFDF8"/>
                </a:solidFill>
              </a:rPr>
              <a:t>技术负责人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0DFD6-340B-474E-A5F6-543D8D17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40ABD-3C1B-4139-870B-2009E686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DF8"/>
                </a:solidFill>
              </a:defRPr>
            </a:pPr>
            <a:r>
              <a:rPr sz="1425" b="0">
                <a:solidFill>
                  <a:srgbClr val="FFFDF8"/>
                </a:solidFill>
              </a:rPr>
              <a:t>唯一合并代码的人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63801-57FF-486C-8E6C-A7686C04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C82ED-A895-4B80-BD9C-DF26F584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DF8"/>
                </a:solidFill>
              </a:defRPr>
            </a:pPr>
            <a:r>
              <a:rPr sz="1425" b="0">
                <a:solidFill>
                  <a:srgbClr val="FFFDF8"/>
                </a:solidFill>
              </a:rPr>
              <a:t>管理 API 与运行环境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BDA7C-5408-4627-9CE4-A41EF1E9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79EDF-2B41-474A-A2CF-69D1DDA0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DF8"/>
                </a:solidFill>
              </a:defRPr>
            </a:pPr>
            <a:r>
              <a:rPr sz="1425" b="0">
                <a:solidFill>
                  <a:srgbClr val="FFFDF8"/>
                </a:solidFill>
              </a:rPr>
              <a:t>修复 P0/P1 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10115-3F41-4A72-A659-EF72880E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98C01-5F9F-44FA-ABC0-20C0A3F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DF8"/>
                </a:solidFill>
              </a:defRPr>
            </a:pPr>
            <a:r>
              <a:rPr sz="1425" b="0">
                <a:solidFill>
                  <a:srgbClr val="FFFDF8"/>
                </a:solidFill>
              </a:rPr>
              <a:t>每天发布一个可测试版本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478E0-4135-486F-8DD7-8DF4D44D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57350"/>
            <a:ext cx="3371850" cy="36385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5BA95-99A2-4D38-910F-E4335DC7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4310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5B83"/>
                </a:solidFill>
              </a:defRPr>
            </a:pPr>
            <a:r>
              <a:rPr sz="2025" b="1">
                <a:solidFill>
                  <a:srgbClr val="365B83"/>
                </a:solidFill>
              </a:rPr>
              <a:t>队友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D4175-D3F3-4C8A-A433-608ACD40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860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CD518-E0CE-4010-AE8B-9C9FECEC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8605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B83"/>
                </a:solidFill>
              </a:defRPr>
            </a:pPr>
            <a:r>
              <a:rPr sz="1425" b="0">
                <a:solidFill>
                  <a:srgbClr val="365B83"/>
                </a:solidFill>
              </a:rPr>
              <a:t>不直接改核心代码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51000-3472-4C97-A841-4BB486F0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38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5B4AC-B0CC-4961-9E6C-8F8A72B7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3850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B83"/>
                </a:solidFill>
              </a:defRPr>
            </a:pPr>
            <a:r>
              <a:rPr sz="1425" b="0">
                <a:solidFill>
                  <a:srgbClr val="365B83"/>
                </a:solidFill>
              </a:rPr>
              <a:t>按清单测试与录屏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218BE-E960-4EF5-A7D0-B7296778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F2A7A4-DF20-485F-9D74-7F29FA22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79095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B83"/>
                </a:solidFill>
              </a:defRPr>
            </a:pPr>
            <a:r>
              <a:rPr sz="1425" b="0">
                <a:solidFill>
                  <a:srgbClr val="365B83"/>
                </a:solidFill>
              </a:rPr>
              <a:t>整理演示素材和语言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88D098-2B30-4F4C-9FA0-A0607A17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434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BEADA-B772-494D-A707-319C453C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34340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B83"/>
                </a:solidFill>
              </a:defRPr>
            </a:pPr>
            <a:r>
              <a:rPr sz="1425" b="0">
                <a:solidFill>
                  <a:srgbClr val="365B83"/>
                </a:solidFill>
              </a:rPr>
              <a:t>用统一模板反馈问题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DE7B7-0A1F-4451-A9A5-89F63E34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57350"/>
            <a:ext cx="3371850" cy="36385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3ECE1"/>
          </a:solidFill>
          <a:ln xmlns:a="http://schemas.openxmlformats.org/drawingml/2006/main" w="9525">
            <a:solidFill>
              <a:srgbClr val="E3EC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A97498-13CD-4F83-A35B-11C562F7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82F"/>
                </a:solidFill>
              </a:defRPr>
            </a:pPr>
            <a:r>
              <a:rPr sz="2025" b="1">
                <a:solidFill>
                  <a:srgbClr val="16382F"/>
                </a:solidFill>
              </a:rPr>
              <a:t>共享工作区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582541-B135-46F9-A29D-EADB26A0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B79E66-1B79-420C-89A7-82063D79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01_需求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11D811-6E80-4CBB-9CAD-4D5A199C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623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9855EE-68B9-4446-A8B8-DD554280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02_测试素材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7E3634-A144-4BB1-8FCA-4A087F20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385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D00E7-78E5-4227-8718-81CD1FB9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03_截图录屏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126117-19BC-47E1-BD0E-32BFA57F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148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46B77E-F762-4CB7-A5E5-47C6B876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1480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04_演示稿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AE9741-BAB5-47EE-AA56-DFC42C12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910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973067-6204-4E26-94E4-03F38A9D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91050"/>
            <a:ext cx="2447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82F"/>
                </a:solidFill>
              </a:defRPr>
            </a:pPr>
            <a:r>
              <a:rPr sz="1425" b="0">
                <a:solidFill>
                  <a:srgbClr val="16382F"/>
                </a:solidFill>
              </a:rPr>
              <a:t>05_问题单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13670B-A494-4938-BA17-6C35ABE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43575"/>
            <a:ext cx="636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18078"/>
                </a:solidFill>
              </a:defRPr>
            </a:pPr>
            <a:r>
              <a:rPr sz="1425" b="1">
                <a:solidFill>
                  <a:srgbClr val="718078"/>
                </a:solidFill>
              </a:rPr>
              <a:t>文件命名：20260824_主题_v01_姓名</a:t>
            </a:r>
          </a:p>
        </p:txBody>
      </p:sp>
    </p:spTree>
    <p:extLst>
      <p:ext uri="{BB962C8B-B14F-4D97-AF65-F5344CB8AC3E}">
        <p14:creationId xmlns:p14="http://schemas.microsoft.com/office/powerpoint/2010/main" val="2359609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59BB8-8C55-4BF0-BDE2-FA270438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14 /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62EA0-BD51-4A8D-9014-6CC3B338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两个人怎样分工，才能不是“一个人写代码，一个人等”？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39947-BC3F-4E52-A427-5DE64477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BE283-4ACA-45FC-9283-DD0A1969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BEF00-A9B5-401E-9A55-EAAA64A8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82F"/>
                </a:solidFill>
              </a:defRPr>
            </a:pPr>
            <a:r>
              <a:rPr sz="1875" b="1">
                <a:solidFill>
                  <a:srgbClr val="16382F"/>
                </a:solidFill>
              </a:rPr>
              <a:t>你：技术与系统负责人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1CF6B-1B62-4BCB-ADE4-27656E45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65B83"/>
                </a:solidFill>
              </a:defRPr>
            </a:pPr>
            <a:r>
              <a:rPr sz="1875" b="1">
                <a:solidFill>
                  <a:srgbClr val="365B83"/>
                </a:solidFill>
              </a:rPr>
              <a:t>队友：产品、内容与验收负责人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2F6E0-846D-43A3-9F07-8E86724E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5048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F1623-2875-4B5B-8F51-02AC8545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82F"/>
                </a:solidFill>
              </a:defRPr>
            </a:pPr>
            <a:r>
              <a:rPr sz="1350" b="1">
                <a:solidFill>
                  <a:srgbClr val="16382F"/>
                </a:solidFill>
              </a:rPr>
              <a:t>1.  解决 Git 冲突并冻结主分支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AFBEA-DC63-42AF-924A-FEE7FBAA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9875"/>
            <a:ext cx="5048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F87C3-4C3C-40D6-9267-BC73E351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82F"/>
                </a:solidFill>
              </a:defRPr>
            </a:pPr>
            <a:r>
              <a:rPr sz="1350" b="0">
                <a:solidFill>
                  <a:srgbClr val="16382F"/>
                </a:solidFill>
              </a:rPr>
              <a:t>2.  做一键启动与演示前预检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16738-4D33-40AA-8362-644AE711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48050"/>
            <a:ext cx="5048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60E92-5245-4E0E-9845-B94BB55D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82F"/>
                </a:solidFill>
              </a:defRPr>
            </a:pPr>
            <a:r>
              <a:rPr sz="1350" b="0">
                <a:solidFill>
                  <a:srgbClr val="16382F"/>
                </a:solidFill>
              </a:rPr>
              <a:t>3.  修复证据、分类、写回的 P0/P1 Bug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4C720-53F2-4AFC-8484-37A56CC8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6225"/>
            <a:ext cx="5048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9FA7E-C026-4687-A0A7-0592CBE5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4337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82F"/>
                </a:solidFill>
              </a:defRPr>
            </a:pPr>
            <a:r>
              <a:rPr sz="1350" b="0">
                <a:solidFill>
                  <a:srgbClr val="16382F"/>
                </a:solidFill>
              </a:rPr>
              <a:t>4.  准备离线降级与数据备份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6FC49-1E40-49B0-B174-E8C61F66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048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95FA8-1A2B-4F43-9E38-52D315D0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82F"/>
                </a:solidFill>
              </a:defRPr>
            </a:pPr>
            <a:r>
              <a:rPr sz="1350" b="0">
                <a:solidFill>
                  <a:srgbClr val="16382F"/>
                </a:solidFill>
              </a:rPr>
              <a:t>5.  每天交付一个可测试版本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FF351-E194-48F0-89BC-262FE59A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71700"/>
            <a:ext cx="519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5A921-6B2B-445C-9918-2F4C2ADC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28850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5B83"/>
                </a:solidFill>
              </a:defRPr>
            </a:pPr>
            <a:r>
              <a:rPr sz="1350" b="1">
                <a:solidFill>
                  <a:srgbClr val="365B83"/>
                </a:solidFill>
              </a:rPr>
              <a:t>1.  选 3 组代表性教材 / 文章 / 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7679A-D8C8-4103-94AC-747D9BDF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519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BBFF6-D2B6-445B-846A-C0B3BE99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6702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5B83"/>
                </a:solidFill>
              </a:defRPr>
            </a:pPr>
            <a:r>
              <a:rPr sz="1350" b="0">
                <a:solidFill>
                  <a:srgbClr val="365B83"/>
                </a:solidFill>
              </a:rPr>
              <a:t>2.  执行测试脚本并提交证据化问题单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AB521-944D-4C8D-BA08-AE0612A2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48050"/>
            <a:ext cx="519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76129-92E2-4023-8241-71ED5D0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05200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5B83"/>
                </a:solidFill>
              </a:defRPr>
            </a:pPr>
            <a:r>
              <a:rPr sz="1350" b="0">
                <a:solidFill>
                  <a:srgbClr val="365B83"/>
                </a:solidFill>
              </a:rPr>
              <a:t>3.  检查回答是否真的易懂且不敷衍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33DD7-631F-40FC-917D-41ECDB5D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86225"/>
            <a:ext cx="519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04CF4-A4E6-41BB-99EB-C8827E17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4337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5B83"/>
                </a:solidFill>
              </a:defRPr>
            </a:pPr>
            <a:r>
              <a:rPr sz="1350" b="0">
                <a:solidFill>
                  <a:srgbClr val="365B83"/>
                </a:solidFill>
              </a:rPr>
              <a:t>4.  制作截图、录屏、讲稿与答辩问答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0FC552-36F7-4F2D-8836-A549256A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24400"/>
            <a:ext cx="519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FBB564-080F-497C-81F5-165C395E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81550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5B83"/>
                </a:solidFill>
              </a:defRPr>
            </a:pPr>
            <a:r>
              <a:rPr sz="1350" b="0">
                <a:solidFill>
                  <a:srgbClr val="365B83"/>
                </a:solidFill>
              </a:rPr>
              <a:t>5.  维护每日验收结果和未解决风险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7A9A07-7EA7-457F-B1DE-657EEB2F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695950"/>
            <a:ext cx="5572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E2DAFC-22DF-4A48-B79C-D75AC5D1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15000"/>
            <a:ext cx="541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每天 20 分钟同步：昨天完成 / 今天目标 / 当前阻塞</a:t>
            </a:r>
          </a:p>
        </p:txBody>
      </p:sp>
    </p:spTree>
    <p:extLst>
      <p:ext uri="{BB962C8B-B14F-4D97-AF65-F5344CB8AC3E}">
        <p14:creationId xmlns:p14="http://schemas.microsoft.com/office/powerpoint/2010/main" val="7468493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1A7C98-856F-4FD8-A075-8AF935D1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15 / 7-DAY SPRINT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90EA6-80B0-4F34-998C-F10EB054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一周冲刺：先稳定，再讲清楚，最后才美化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AF211-B28F-4A3D-830F-50255790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B738C-DDB8-46D2-978A-48ABB149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BD459-C864-414D-834A-955A50A0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76400"/>
            <a:ext cx="1476375" cy="358140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1D5D3"/>
          </a:solidFill>
          <a:ln xmlns:a="http://schemas.openxmlformats.org/drawingml/2006/main" w="9525">
            <a:solidFill>
              <a:srgbClr val="F1D5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72357-3AC9-4B50-B1CF-5384095F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B3C38"/>
                </a:solidFill>
              </a:defRPr>
            </a:pPr>
            <a:r>
              <a:rPr sz="2025" b="1">
                <a:solidFill>
                  <a:srgbClr val="8B3C38"/>
                </a:solidFill>
              </a:rPr>
              <a:t>D1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23F82-5215-4C8C-B126-F08FF3D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3C38"/>
                </a:solidFill>
              </a:defRPr>
            </a:pPr>
            <a:r>
              <a:rPr sz="1650" b="1">
                <a:solidFill>
                  <a:srgbClr val="8B3C38"/>
                </a:solidFill>
              </a:rPr>
              <a:t>止血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05E2F-86D3-4A7A-9BF9-2F4A0799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C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AA0ED-131A-46FE-A17B-B1F1C419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67075"/>
            <a:ext cx="1209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B3C38"/>
                </a:solidFill>
              </a:defRPr>
            </a:pPr>
            <a:r>
              <a:rPr sz="1200" b="0">
                <a:solidFill>
                  <a:srgbClr val="8B3C38"/>
                </a:solidFill>
              </a:rPr>
              <a:t>解决冲突、冻结范围</a:t>
            </a:r>
          </a:p>
          <a:p xmlns:a="http://schemas.openxmlformats.org/drawingml/2006/main">
            <a:pPr algn="ctr">
              <a:defRPr sz="1200" b="0">
                <a:solidFill>
                  <a:srgbClr val="8B3C38"/>
                </a:solidFill>
              </a:defRPr>
            </a:pPr>
            <a:r>
              <a:rPr sz="1200" b="0">
                <a:solidFill>
                  <a:srgbClr val="8B3C38"/>
                </a:solidFill>
              </a:rPr>
              <a:t>确定 5 分钟主线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745ED-B592-4FAD-AA87-FDDF0AC2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76400"/>
            <a:ext cx="1476375" cy="358140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1D5D3"/>
          </a:solidFill>
          <a:ln xmlns:a="http://schemas.openxmlformats.org/drawingml/2006/main" w="9525">
            <a:solidFill>
              <a:srgbClr val="F1D5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8C129-81F7-452A-9D81-B76888B4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66900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B3C38"/>
                </a:solidFill>
              </a:defRPr>
            </a:pPr>
            <a:r>
              <a:rPr sz="2025" b="1">
                <a:solidFill>
                  <a:srgbClr val="8B3C38"/>
                </a:solidFill>
              </a:rPr>
              <a:t>D2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98A77-42FB-4804-AF4A-538262B3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384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3C38"/>
                </a:solidFill>
              </a:defRPr>
            </a:pPr>
            <a:r>
              <a:rPr sz="1650" b="1">
                <a:solidFill>
                  <a:srgbClr val="8B3C38"/>
                </a:solidFill>
              </a:rPr>
              <a:t>固化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7BC5E-C0D3-4725-B754-81B8B720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00990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C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791C0-6632-482D-AF36-BBC34F6F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67075"/>
            <a:ext cx="1209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B3C38"/>
                </a:solidFill>
              </a:defRPr>
            </a:pPr>
            <a:r>
              <a:rPr sz="1200" b="0">
                <a:solidFill>
                  <a:srgbClr val="8B3C38"/>
                </a:solidFill>
              </a:rPr>
              <a:t>一键启动、预检</a:t>
            </a:r>
          </a:p>
          <a:p xmlns:a="http://schemas.openxmlformats.org/drawingml/2006/main">
            <a:pPr algn="ctr">
              <a:defRPr sz="1200" b="0">
                <a:solidFill>
                  <a:srgbClr val="8B3C38"/>
                </a:solidFill>
              </a:defRPr>
            </a:pPr>
            <a:r>
              <a:rPr sz="1200" b="0">
                <a:solidFill>
                  <a:srgbClr val="8B3C38"/>
                </a:solidFill>
              </a:rPr>
              <a:t>准备 3 组演示数据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E192A-DDA2-4D9D-AF89-BD8E6FAE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76400"/>
            <a:ext cx="1476375" cy="358140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1D89D"/>
          </a:solidFill>
          <a:ln xmlns:a="http://schemas.openxmlformats.org/drawingml/2006/main" w="9525">
            <a:solidFill>
              <a:srgbClr val="F1D89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9461F-DC97-485F-ACBF-678CB08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66900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7581D"/>
                </a:solidFill>
              </a:defRPr>
            </a:pPr>
            <a:r>
              <a:rPr sz="2025" b="1">
                <a:solidFill>
                  <a:srgbClr val="77581D"/>
                </a:solidFill>
              </a:rPr>
              <a:t>D3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8DB60-505C-4160-BB16-F73C8BBE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384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7581D"/>
                </a:solidFill>
              </a:defRPr>
            </a:pPr>
            <a:r>
              <a:rPr sz="1650" b="1">
                <a:solidFill>
                  <a:srgbClr val="77581D"/>
                </a:solidFill>
              </a:rPr>
              <a:t>质量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66CBD-A211-4803-A339-835A86F7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0990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581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DC2A6-0F31-4380-B9B2-C46ED346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67075"/>
            <a:ext cx="1209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7581D"/>
                </a:solidFill>
              </a:defRPr>
            </a:pPr>
            <a:r>
              <a:rPr sz="1200" b="0">
                <a:solidFill>
                  <a:srgbClr val="77581D"/>
                </a:solidFill>
              </a:rPr>
              <a:t>10 个问题 + 5 篇材料</a:t>
            </a:r>
          </a:p>
          <a:p xmlns:a="http://schemas.openxmlformats.org/drawingml/2006/main">
            <a:pPr algn="ctr">
              <a:defRPr sz="1200" b="0">
                <a:solidFill>
                  <a:srgbClr val="77581D"/>
                </a:solidFill>
              </a:defRPr>
            </a:pPr>
            <a:r>
              <a:rPr sz="1200" b="0">
                <a:solidFill>
                  <a:srgbClr val="77581D"/>
                </a:solidFill>
              </a:rPr>
              <a:t>查证回答与分类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DB958-6891-4CF7-845E-E311EA48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76400"/>
            <a:ext cx="1476375" cy="358140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1D89D"/>
          </a:solidFill>
          <a:ln xmlns:a="http://schemas.openxmlformats.org/drawingml/2006/main" w="9525">
            <a:solidFill>
              <a:srgbClr val="F1D89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ACD23-E795-468A-BA0A-B83C8963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866900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7581D"/>
                </a:solidFill>
              </a:defRPr>
            </a:pPr>
            <a:r>
              <a:rPr sz="2025" b="1">
                <a:solidFill>
                  <a:srgbClr val="77581D"/>
                </a:solidFill>
              </a:rPr>
              <a:t>D4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3516B-1003-482F-8AC8-C472DB8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4384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7581D"/>
                </a:solidFill>
              </a:defRPr>
            </a:pPr>
            <a:r>
              <a:rPr sz="1650" b="1">
                <a:solidFill>
                  <a:srgbClr val="77581D"/>
                </a:solidFill>
              </a:rPr>
              <a:t>叙事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770CA-81FB-433F-966F-5236E03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0990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581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6B163-41CE-4198-8F50-7155B703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267075"/>
            <a:ext cx="1209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7581D"/>
                </a:solidFill>
              </a:defRPr>
            </a:pPr>
            <a:r>
              <a:rPr sz="1200" b="0">
                <a:solidFill>
                  <a:srgbClr val="77581D"/>
                </a:solidFill>
              </a:rPr>
              <a:t>完成主 PPT、讲稿</a:t>
            </a:r>
          </a:p>
          <a:p xmlns:a="http://schemas.openxmlformats.org/drawingml/2006/main">
            <a:pPr algn="ctr">
              <a:defRPr sz="1200" b="0">
                <a:solidFill>
                  <a:srgbClr val="77581D"/>
                </a:solidFill>
              </a:defRPr>
            </a:pPr>
            <a:r>
              <a:rPr sz="1200" b="0">
                <a:solidFill>
                  <a:srgbClr val="77581D"/>
                </a:solidFill>
              </a:rPr>
              <a:t>与备用截图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BFD48-49EB-4901-BB45-8A8F24F4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76400"/>
            <a:ext cx="1476375" cy="358140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C9829D-EF4A-4FFD-BBEC-DC6BF495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66900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65B83"/>
                </a:solidFill>
              </a:defRPr>
            </a:pPr>
            <a:r>
              <a:rPr sz="2025" b="1">
                <a:solidFill>
                  <a:srgbClr val="365B83"/>
                </a:solidFill>
              </a:rPr>
              <a:t>D5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49E009-693A-47D0-9854-DC2CACDB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384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65B83"/>
                </a:solidFill>
              </a:defRPr>
            </a:pPr>
            <a:r>
              <a:rPr sz="1650" b="1">
                <a:solidFill>
                  <a:srgbClr val="365B83"/>
                </a:solidFill>
              </a:rPr>
              <a:t>彩排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DC1E0F-1FC0-46C2-B3E9-4ADD9FBC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990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AF633F-8D59-4F59-8134-C624EB89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67075"/>
            <a:ext cx="1209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65B83"/>
                </a:solidFill>
              </a:defRPr>
            </a:pPr>
            <a:r>
              <a:rPr sz="1200" b="0">
                <a:solidFill>
                  <a:srgbClr val="365B83"/>
                </a:solidFill>
              </a:rPr>
              <a:t>完整跑 3 次</a:t>
            </a:r>
          </a:p>
          <a:p xmlns:a="http://schemas.openxmlformats.org/drawingml/2006/main">
            <a:pPr algn="ctr">
              <a:defRPr sz="1200" b="0">
                <a:solidFill>
                  <a:srgbClr val="365B83"/>
                </a:solidFill>
              </a:defRPr>
            </a:pPr>
            <a:r>
              <a:rPr sz="1200" b="0">
                <a:solidFill>
                  <a:srgbClr val="365B83"/>
                </a:solidFill>
              </a:rPr>
              <a:t>记录失败点与耗时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E1FC26-6A62-4EC0-9090-9E57F5BE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76400"/>
            <a:ext cx="1476375" cy="358140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3ECE1"/>
          </a:solidFill>
          <a:ln xmlns:a="http://schemas.openxmlformats.org/drawingml/2006/main" w="9525">
            <a:solidFill>
              <a:srgbClr val="E3E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4B2E03-C629-4F3C-B180-A04EF018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866900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382F"/>
                </a:solidFill>
              </a:defRPr>
            </a:pPr>
            <a:r>
              <a:rPr sz="2025" b="1">
                <a:solidFill>
                  <a:srgbClr val="16382F"/>
                </a:solidFill>
              </a:rPr>
              <a:t>D6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0F0BB-3F26-4B1F-BEFC-2D0AE718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384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82F"/>
                </a:solidFill>
              </a:defRPr>
            </a:pPr>
            <a:r>
              <a:rPr sz="1650" b="1">
                <a:solidFill>
                  <a:srgbClr val="16382F"/>
                </a:solidFill>
              </a:rPr>
              <a:t>封板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B0B1CC-1973-4EC4-9AB0-28822DE5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0990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A7592C-7CA2-4D4B-821B-CB3C80D1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67075"/>
            <a:ext cx="1209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82F"/>
                </a:solidFill>
              </a:defRPr>
            </a:pPr>
            <a:r>
              <a:rPr sz="1200" b="0">
                <a:solidFill>
                  <a:srgbClr val="16382F"/>
                </a:solidFill>
              </a:rPr>
              <a:t>只修 P0/P1</a:t>
            </a:r>
          </a:p>
          <a:p xmlns:a="http://schemas.openxmlformats.org/drawingml/2006/main">
            <a:pPr algn="ctr">
              <a:defRPr sz="1200" b="0">
                <a:solidFill>
                  <a:srgbClr val="16382F"/>
                </a:solidFill>
              </a:defRPr>
            </a:pPr>
            <a:r>
              <a:rPr sz="1200" b="0">
                <a:solidFill>
                  <a:srgbClr val="16382F"/>
                </a:solidFill>
              </a:rPr>
              <a:t>录制备用演示视频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6C7B6-4A8C-4D8B-AEA4-3E728F9F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676400"/>
            <a:ext cx="1476375" cy="358140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6382F"/>
          </a:solidFill>
          <a:ln xmlns:a="http://schemas.openxmlformats.org/drawingml/2006/main" w="9525">
            <a:solidFill>
              <a:srgbClr val="16382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16CBBB-4FD2-4197-9F2C-DB1FE641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866900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DF8"/>
                </a:solidFill>
              </a:defRPr>
            </a:pPr>
            <a:r>
              <a:rPr sz="2025" b="1">
                <a:solidFill>
                  <a:srgbClr val="FFFDF8"/>
                </a:solidFill>
              </a:rPr>
              <a:t>D7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1F129F-F148-44E9-B33F-EC3C7315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38400"/>
            <a:ext cx="117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DF8"/>
                </a:solidFill>
              </a:defRPr>
            </a:pPr>
            <a:r>
              <a:rPr sz="1650" b="1">
                <a:solidFill>
                  <a:srgbClr val="FFFDF8"/>
                </a:solidFill>
              </a:rPr>
              <a:t>交付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9103D6-CB1B-4EAE-B70E-27CC52CC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0990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59CC30-81E3-49A7-A5CD-C0923FA9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67075"/>
            <a:ext cx="1209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DF8"/>
                </a:solidFill>
              </a:defRPr>
            </a:pPr>
            <a:r>
              <a:rPr sz="1200" b="0">
                <a:solidFill>
                  <a:srgbClr val="FFFDF8"/>
                </a:solidFill>
              </a:rPr>
              <a:t>备份、检查密钥</a:t>
            </a:r>
          </a:p>
          <a:p xmlns:a="http://schemas.openxmlformats.org/drawingml/2006/main">
            <a:pPr algn="ctr">
              <a:defRPr sz="1200" b="0">
                <a:solidFill>
                  <a:srgbClr val="FFFDF8"/>
                </a:solidFill>
              </a:defRPr>
            </a:pPr>
            <a:r>
              <a:rPr sz="1200" b="0">
                <a:solidFill>
                  <a:srgbClr val="FFFDF8"/>
                </a:solidFill>
              </a:rPr>
              <a:t>轻量彩排，不加功能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4CA4F9-00DF-491A-9142-EA938161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676900"/>
            <a:ext cx="584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5D3"/>
          </a:solidFill>
          <a:ln xmlns:a="http://schemas.openxmlformats.org/drawingml/2006/main" w="9525">
            <a:solidFill>
              <a:srgbClr val="F1D5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C10FBD-2864-4C44-A020-45165685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695950"/>
            <a:ext cx="569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3C38"/>
                </a:solidFill>
              </a:defRPr>
            </a:pPr>
            <a:r>
              <a:rPr sz="1125" b="1">
                <a:solidFill>
                  <a:srgbClr val="8B3C38"/>
                </a:solidFill>
              </a:rPr>
              <a:t>最后 48 小时：功能冻结；任何新想法进入“赛后清单”</a:t>
            </a:r>
          </a:p>
        </p:txBody>
      </p:sp>
    </p:spTree>
    <p:extLst>
      <p:ext uri="{BB962C8B-B14F-4D97-AF65-F5344CB8AC3E}">
        <p14:creationId xmlns:p14="http://schemas.microsoft.com/office/powerpoint/2010/main" val="3727743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3F5B70-5792-403D-AD20-AE54CBC8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078"/>
                </a:solidFill>
              </a:defRPr>
            </a:pPr>
            <a:r>
              <a:rPr sz="975" b="1">
                <a:solidFill>
                  <a:srgbClr val="718078"/>
                </a:solidFill>
              </a:rPr>
              <a:t>16 /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6477F-18B2-45BF-BE94-E88E9EBE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82F"/>
                </a:solidFill>
              </a:defRPr>
            </a:pPr>
            <a:r>
              <a:rPr sz="2850" b="1">
                <a:solidFill>
                  <a:srgbClr val="16382F"/>
                </a:solidFill>
              </a:rPr>
              <a:t>队友怎样测试：不要只说“这里好像不对”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AB2D5-27AA-4144-9F3D-BBAF614B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8078"/>
                </a:solidFill>
              </a:defRPr>
            </a:pPr>
            <a:r>
              <a:rPr sz="975" b="0">
                <a:solidFill>
                  <a:srgbClr val="718078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7AD0F-B5E2-486C-BFD5-09B647F2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009E7-12F8-40FC-8D1E-613E671F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68580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E2868-A5C5-42D1-961C-A92FBE2E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82F"/>
                </a:solidFill>
              </a:defRPr>
            </a:pPr>
            <a:r>
              <a:rPr sz="1875" b="1">
                <a:solidFill>
                  <a:srgbClr val="16382F"/>
                </a:solidFill>
              </a:rPr>
              <a:t>一张合格的问题单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8F7A8-CEB4-489C-8F5C-A426DD0F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078"/>
                </a:solidFill>
              </a:defRPr>
            </a:pPr>
            <a:r>
              <a:rPr sz="1275" b="1">
                <a:solidFill>
                  <a:srgbClr val="718078"/>
                </a:solidFill>
              </a:rPr>
              <a:t>页面 / 功能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03C12-9B6D-4891-A49B-1219FE77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82F"/>
                </a:solidFill>
              </a:defRPr>
            </a:pPr>
            <a:r>
              <a:rPr sz="1275" b="0">
                <a:solidFill>
                  <a:srgbClr val="16382F"/>
                </a:solidFill>
              </a:rPr>
              <a:t>例：问园丁 → 继续讨论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E6BBC-74DF-4266-BD51-0A6AC44C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614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62E8E-B93D-4D1A-982B-B4AF5C14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078"/>
                </a:solidFill>
              </a:defRPr>
            </a:pPr>
            <a:r>
              <a:rPr sz="1275" b="1">
                <a:solidFill>
                  <a:srgbClr val="718078"/>
                </a:solidFill>
              </a:rPr>
              <a:t>操作步骤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1534B-AADE-4789-807A-1371372F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67025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82F"/>
                </a:solidFill>
              </a:defRPr>
            </a:pPr>
            <a:r>
              <a:rPr sz="1275" b="0">
                <a:solidFill>
                  <a:srgbClr val="16382F"/>
                </a:solidFill>
              </a:rPr>
              <a:t>我输入了什么、点了什么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A75A4-F459-4E02-96BA-4B803440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614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C14FD-8527-4768-8473-8DF5EAEC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078"/>
                </a:solidFill>
              </a:defRPr>
            </a:pPr>
            <a:r>
              <a:rPr sz="1275" b="1">
                <a:solidFill>
                  <a:srgbClr val="718078"/>
                </a:solidFill>
              </a:rPr>
              <a:t>预期结果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035C9-B4FE-4C64-AD56-6B48536B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3375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82F"/>
                </a:solidFill>
              </a:defRPr>
            </a:pPr>
            <a:r>
              <a:rPr sz="1275" b="0">
                <a:solidFill>
                  <a:srgbClr val="16382F"/>
                </a:solidFill>
              </a:rPr>
              <a:t>我以为系统应该怎样回应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2C177-7D87-4B11-AA34-5BE8670C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614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5DBC5-8EE6-4A6A-B3CF-DA206881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078"/>
                </a:solidFill>
              </a:defRPr>
            </a:pPr>
            <a:r>
              <a:rPr sz="1275" b="1">
                <a:solidFill>
                  <a:srgbClr val="718078"/>
                </a:solidFill>
              </a:rPr>
              <a:t>实际结果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99A7B-D6A9-4CAE-951C-581BF660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00475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82F"/>
                </a:solidFill>
              </a:defRPr>
            </a:pPr>
            <a:r>
              <a:rPr sz="1275" b="0">
                <a:solidFill>
                  <a:srgbClr val="16382F"/>
                </a:solidFill>
              </a:rPr>
              <a:t>系统实际发生了什么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3D79D-7EC9-41B9-B6E5-F3121B8A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614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E9154-B479-47C8-A9C9-E141844A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078"/>
                </a:solidFill>
              </a:defRPr>
            </a:pPr>
            <a:r>
              <a:rPr sz="1275" b="1">
                <a:solidFill>
                  <a:srgbClr val="718078"/>
                </a:solidFill>
              </a:rPr>
              <a:t>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0B71E-0B9A-45AF-A40C-CA74C43F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82F"/>
                </a:solidFill>
              </a:defRPr>
            </a:pPr>
            <a:r>
              <a:rPr sz="1275" b="0">
                <a:solidFill>
                  <a:srgbClr val="16382F"/>
                </a:solidFill>
              </a:rPr>
              <a:t>截图 / 录屏 / 原始文本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9B54A-EF47-4FC9-A118-F2E9BB50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614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F36F8-C72A-422F-8654-8F00114E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078"/>
                </a:solidFill>
              </a:defRPr>
            </a:pPr>
            <a:r>
              <a:rPr sz="1275" b="1">
                <a:solidFill>
                  <a:srgbClr val="718078"/>
                </a:solidFill>
              </a:rPr>
              <a:t>严重度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F399C-EEE2-4611-8BBF-3C7E257F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33925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82F"/>
                </a:solidFill>
              </a:defRPr>
            </a:pPr>
            <a:r>
              <a:rPr sz="1275" b="0">
                <a:solidFill>
                  <a:srgbClr val="16382F"/>
                </a:solidFill>
              </a:rPr>
              <a:t>P0 无法演示｜P1 主线错误｜P2 体验问题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5D7B4-F682-4AAE-A8F5-135456A0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19250"/>
            <a:ext cx="3867150" cy="3886200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9FF672-12D8-40E1-8F55-EFC0B613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478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5B83"/>
                </a:solidFill>
              </a:defRPr>
            </a:pPr>
            <a:r>
              <a:rPr sz="1800" b="1">
                <a:solidFill>
                  <a:srgbClr val="365B83"/>
                </a:solidFill>
              </a:rPr>
              <a:t>每天至少验收 4 件事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4389A4-F8BB-4635-A71C-BE27F95C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EC2BBC-4BDD-45B7-B8BC-588769F1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B83"/>
                </a:solidFill>
              </a:defRPr>
            </a:pPr>
            <a:r>
              <a:rPr sz="1425" b="0">
                <a:solidFill>
                  <a:srgbClr val="365B83"/>
                </a:solidFill>
              </a:rPr>
              <a:t>能否启动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4A80F-7292-4029-905D-3C2B063B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813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AC5D49-29B5-4401-9D31-5CBBCED3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8132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B83"/>
                </a:solidFill>
              </a:defRPr>
            </a:pPr>
            <a:r>
              <a:rPr sz="1425" b="0">
                <a:solidFill>
                  <a:srgbClr val="365B83"/>
                </a:solidFill>
              </a:rPr>
              <a:t>能否走完整闭环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76072-A690-4B28-BDFF-CA7EDA13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AA0B1A-3AFB-4F52-B6E9-284334C8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B83"/>
                </a:solidFill>
              </a:defRPr>
            </a:pPr>
            <a:r>
              <a:rPr sz="1425" b="0">
                <a:solidFill>
                  <a:srgbClr val="365B83"/>
                </a:solidFill>
              </a:rPr>
              <a:t>依据是否真的相关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82F02E-1501-4D89-AE96-805FFE80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147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4F66AF-7E7E-4EDD-B80F-945F9DEF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147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B83"/>
                </a:solidFill>
              </a:defRPr>
            </a:pPr>
            <a:r>
              <a:rPr sz="1425" b="0">
                <a:solidFill>
                  <a:srgbClr val="365B83"/>
                </a:solidFill>
              </a:rPr>
              <a:t>写回后是否更新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791066-FF2E-48BC-9DC9-87CC5CB3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81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0A722-EE53-4CC5-8EEB-C21DF0EA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B83"/>
                </a:solidFill>
              </a:defRPr>
            </a:pPr>
            <a:r>
              <a:rPr sz="1425" b="0">
                <a:solidFill>
                  <a:srgbClr val="365B83"/>
                </a:solidFill>
              </a:rPr>
              <a:t>失败时提示是否清楚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26861A-5EEA-4B5A-86EE-6798E0C7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482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A085"/>
                </a:solidFill>
              </a:defRPr>
            </a:pPr>
            <a:r>
              <a:rPr sz="1575" b="1">
                <a:solidFill>
                  <a:srgbClr val="79A085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ABADF7-6A3C-4209-B356-89B401A0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4822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B83"/>
                </a:solidFill>
              </a:defRPr>
            </a:pPr>
            <a:r>
              <a:rPr sz="1425" b="0">
                <a:solidFill>
                  <a:srgbClr val="365B83"/>
                </a:solidFill>
              </a:rPr>
              <a:t>同一问题能否复现</a:t>
            </a:r>
          </a:p>
        </p:txBody>
      </p:sp>
    </p:spTree>
    <p:extLst>
      <p:ext uri="{BB962C8B-B14F-4D97-AF65-F5344CB8AC3E}">
        <p14:creationId xmlns:p14="http://schemas.microsoft.com/office/powerpoint/2010/main" val="3376966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638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05CFA-1827-4DEF-A614-3BBA8107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DF8"/>
                </a:solidFill>
              </a:defRPr>
            </a:pPr>
            <a:r>
              <a:rPr sz="3000" b="1">
                <a:solidFill>
                  <a:srgbClr val="FFFDF8"/>
                </a:solidFill>
              </a:rPr>
              <a:t>今天结束前，我们只需要共同确认四件事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4609B-3C35-4D8F-8E29-0945E883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219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3ECE1"/>
          </a:solidFill>
          <a:ln xmlns:a="http://schemas.openxmlformats.org/drawingml/2006/main" w="9525">
            <a:solidFill>
              <a:srgbClr val="E3EC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05842-5277-4D9E-BB1B-7F7117A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A085"/>
                </a:solidFill>
              </a:defRPr>
            </a:pPr>
            <a:r>
              <a:rPr sz="1350" b="1">
                <a:solidFill>
                  <a:srgbClr val="79A08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64E5D-6708-42E3-A604-FDC6CE25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82F"/>
                </a:solidFill>
              </a:defRPr>
            </a:pPr>
            <a:r>
              <a:rPr sz="1800" b="1">
                <a:solidFill>
                  <a:srgbClr val="16382F"/>
                </a:solidFill>
              </a:rPr>
              <a:t>比赛主线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20545-38E0-48C7-B8E7-F94EF599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78"/>
                </a:solidFill>
              </a:defRPr>
            </a:pPr>
            <a:r>
              <a:rPr sz="1350" b="0">
                <a:solidFill>
                  <a:srgbClr val="718078"/>
                </a:solidFill>
              </a:rPr>
              <a:t>是否同意固定 5 分钟闭环？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23C6E-1294-4BE7-9234-2F01FF26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219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E70D8-4926-4850-9388-EA809721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A085"/>
                </a:solidFill>
              </a:defRPr>
            </a:pPr>
            <a:r>
              <a:rPr sz="1350" b="1">
                <a:solidFill>
                  <a:srgbClr val="79A08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9416D-4BC6-41CC-A6CB-625C0276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82F"/>
                </a:solidFill>
              </a:defRPr>
            </a:pPr>
            <a:r>
              <a:rPr sz="1800" b="1">
                <a:solidFill>
                  <a:srgbClr val="16382F"/>
                </a:solidFill>
              </a:rPr>
              <a:t>分工边界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3E3DD-4857-49E7-89DE-B7A83F57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78"/>
                </a:solidFill>
              </a:defRPr>
            </a:pPr>
            <a:r>
              <a:rPr sz="1350" b="0">
                <a:solidFill>
                  <a:srgbClr val="718078"/>
                </a:solidFill>
              </a:rPr>
              <a:t>谁写代码，谁验收与讲故事？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58DFD-B093-41C8-98FB-1AFC56F1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5219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9A550-3CB4-4DEB-8943-C929D1B5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A085"/>
                </a:solidFill>
              </a:defRPr>
            </a:pPr>
            <a:r>
              <a:rPr sz="1350" b="1">
                <a:solidFill>
                  <a:srgbClr val="79A08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4BE64-0E81-4756-8F60-D3104964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82F"/>
                </a:solidFill>
              </a:defRPr>
            </a:pPr>
            <a:r>
              <a:rPr sz="1800" b="1">
                <a:solidFill>
                  <a:srgbClr val="16382F"/>
                </a:solidFill>
              </a:rPr>
              <a:t>演示素材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5B89D-8425-44FA-989C-5A496995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78"/>
                </a:solidFill>
              </a:defRPr>
            </a:pPr>
            <a:r>
              <a:rPr sz="1350" b="0">
                <a:solidFill>
                  <a:srgbClr val="718078"/>
                </a:solidFill>
              </a:rPr>
              <a:t>选哪 3 组最能说明价值的数据？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A9901-A444-461B-91B6-88665513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5219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D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D4B41-B5E5-429A-88B1-3F3942BD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A085"/>
                </a:solidFill>
              </a:defRPr>
            </a:pPr>
            <a:r>
              <a:rPr sz="1350" b="1">
                <a:solidFill>
                  <a:srgbClr val="79A085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56D76-9B44-4BA7-9B55-976D8881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82F"/>
                </a:solidFill>
              </a:defRPr>
            </a:pPr>
            <a:r>
              <a:rPr sz="1800" b="1">
                <a:solidFill>
                  <a:srgbClr val="16382F"/>
                </a:solidFill>
              </a:rPr>
              <a:t>冻结规则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68F53-ED64-45A1-88B6-590B79BF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78"/>
                </a:solidFill>
              </a:defRPr>
            </a:pPr>
            <a:r>
              <a:rPr sz="1350" b="0">
                <a:solidFill>
                  <a:srgbClr val="718078"/>
                </a:solidFill>
              </a:rPr>
              <a:t>最后 48 小时是否停止加新功能？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69E0D-9845-4C96-9D19-4EA788F1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72175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DF8"/>
                </a:solidFill>
              </a:defRPr>
            </a:pPr>
            <a:r>
              <a:rPr sz="1875" b="1">
                <a:solidFill>
                  <a:srgbClr val="FFFDF8"/>
                </a:solidFill>
              </a:rPr>
              <a:t>先把一条路走稳，再让花园继续生长。</a:t>
            </a:r>
          </a:p>
        </p:txBody>
      </p:sp>
    </p:spTree>
    <p:extLst>
      <p:ext uri="{BB962C8B-B14F-4D97-AF65-F5344CB8AC3E}">
        <p14:creationId xmlns:p14="http://schemas.microsoft.com/office/powerpoint/2010/main" val="642052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2026-08-24T10:03:40.1740000Z</dcterms:created>
  <dcterms:modified xsi:type="dcterms:W3CDTF">2026-08-24T10:03:40.1740000Z</dcterms:modified>
</coreProperties>
</file>